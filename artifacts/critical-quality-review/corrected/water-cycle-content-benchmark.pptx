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1 minute
Teacher focus: Welcome the class; keep this slide limited to subject, grade, and date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5–10 minutes
Teacher focus: Incomplete starter content for "The Water Cycle". Regenerate this lesson to create a topic-specific student question and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2 minutes
Teacher focus: Incomplete SDG connection for "The Water Cycle". Regenerate this lesson to identify and explain a relevant Sustainable Development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3 minutes
Teacher focus: Display the teacher's form objectives verbatim — no AI edits or additions.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3 minutes
Teacher focus: Incomplete learning outcomes for "The Water Cycle". Regenerate this lesson to create measurable, objective-aligned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25–35 minutes
Teacher focus: Incomplete core teaching for "The Water Cycle". Regenerate this lesson before presenting or downloading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10–12 minutes
Teacher focus: Differentiated Tasks: "The Water Cycle" Higher Achievers — a challenging task extending beyond the objective. Middle Achievers — a standard task matching the objective. Lower Achievers — a scaffolded task with sentence starters or guided prompts. Mini Plenary: one quick question to check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4–6 minutes
Teacher focus: Slide 8 — one link only (cross-curricular). No UAE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8–10 minutes
Teacher focus: Think-Pair-Share Activity — "The Water Cycle" Students review and consolidate their learning. 1. Think (2 min): Write down the 3 most important things you learned about "The Water Cycle" today. 2. Pair (2 min): Compare your key points with a partner — what did you both include? What was different? 3. Share (2 min): 2-3 pairs share their most important insight with the class. Teacher: Ask students to connect their insights back to today's learning objectives about "The Water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set expectations only
Teacher focus: Research Task: "The Water Cycle" 1. Choose one aspect of "The Water Cycle" that interested you most from today's lesson. 2. Research it further using textbooks, reliable websites, or other sources. 3. Write a one-page summary of your findings in your own words. 4. Include one diagram, image, or real-world example that helps explain your chosen aspect. 5. Be ready to share your most interesting discovery at the start of the next lesson. Challenge: How does "The Water Cycle" connect to daily life or a career that interests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3–4 minutes
Teacher focus: Incomplete exit ticket for "The Water Cycle". Regenerate this lesson to create two or three assessment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3–4 minutes
Teacher focus: Incomplete success criteria for "The Water Cycle". Regenerate this lesson to create measurable criteria and self-evaluation prompts.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timing: 1 minute
Teacher focus: Close with a concise learning takeaway and one reflective next-step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1508760"/>
            <a:ext cx="6400800" cy="1965960"/>
          </a:xfrm>
          <a:prstGeom prst="rect">
            <a:avLst/>
          </a:prstGeom>
          <a:noFill/>
          <a:ln/>
        </p:spPr>
        <p:txBody>
          <a:bodyPr wrap="square" lIns="0" tIns="0" rIns="0" bIns="0" rtlCol="0" anchor="ctr"/>
          <a:lstStyle/>
          <a:p>
            <a:pPr algn="l" indent="0" marL="0">
              <a:lnSpc>
                <a:spcPct val="116000"/>
              </a:lnSpc>
              <a:buNone/>
            </a:pPr>
            <a:r>
              <a:rPr lang="en-US" sz="3600" b="1" dirty="0">
                <a:solidFill>
                  <a:srgbClr val="111827"/>
                </a:solidFill>
                <a:latin typeface="Calibri" pitchFamily="34" charset="0"/>
                <a:ea typeface="Calibri" pitchFamily="34" charset="-122"/>
                <a:cs typeface="Calibri" pitchFamily="34" charset="-120"/>
              </a:rPr>
              <a:t>The Water Cycle</a:t>
            </a:r>
            <a:endParaRPr lang="en-US" sz="3600" dirty="0"/>
          </a:p>
        </p:txBody>
      </p:sp>
      <p:sp>
        <p:nvSpPr>
          <p:cNvPr id="3" name="Shape 1"/>
          <p:cNvSpPr/>
          <p:nvPr/>
        </p:nvSpPr>
        <p:spPr>
          <a:xfrm>
            <a:off x="685800" y="3675888"/>
            <a:ext cx="3474720" cy="0"/>
          </a:xfrm>
          <a:prstGeom prst="line">
            <a:avLst/>
          </a:prstGeom>
          <a:noFill/>
          <a:ln w="12700">
            <a:solidFill>
              <a:srgbClr val="087866"/>
            </a:solidFill>
            <a:prstDash val="solid"/>
          </a:ln>
        </p:spPr>
      </p:sp>
      <p:sp>
        <p:nvSpPr>
          <p:cNvPr id="4" name="Text 2"/>
          <p:cNvSpPr/>
          <p:nvPr/>
        </p:nvSpPr>
        <p:spPr>
          <a:xfrm>
            <a:off x="685800" y="3886200"/>
            <a:ext cx="6400800" cy="658368"/>
          </a:xfrm>
          <a:prstGeom prst="rect">
            <a:avLst/>
          </a:prstGeom>
          <a:noFill/>
          <a:ln/>
        </p:spPr>
        <p:txBody>
          <a:bodyPr wrap="square" lIns="0" tIns="0" rIns="0" bIns="0" rtlCol="0" anchor="t"/>
          <a:lstStyle/>
          <a:p>
            <a:pPr algn="l" indent="0" marL="0">
              <a:lnSpc>
                <a:spcPct val="116000"/>
              </a:lnSpc>
              <a:buNone/>
            </a:pPr>
            <a:r>
              <a:rPr lang="en-US" sz="1800" dirty="0">
                <a:solidFill>
                  <a:srgbClr val="087866"/>
                </a:solidFill>
                <a:latin typeface="Calibri" pitchFamily="34" charset="0"/>
                <a:ea typeface="Calibri" pitchFamily="34" charset="-122"/>
                <a:cs typeface="Calibri" pitchFamily="34" charset="-120"/>
              </a:rPr>
              <a:t>Science  ·  Year 7  ·  The Water Cycle</a:t>
            </a:r>
            <a:endParaRPr lang="en-US" sz="1800" dirty="0"/>
          </a:p>
        </p:txBody>
      </p:sp>
      <p:sp>
        <p:nvSpPr>
          <p:cNvPr id="5" name="Shape 3"/>
          <p:cNvSpPr/>
          <p:nvPr/>
        </p:nvSpPr>
        <p:spPr>
          <a:xfrm>
            <a:off x="0" y="6492240"/>
            <a:ext cx="12191695" cy="365760"/>
          </a:xfrm>
          <a:prstGeom prst="rect">
            <a:avLst/>
          </a:prstGeom>
          <a:solidFill>
            <a:srgbClr val="F0FDFB"/>
          </a:solidFill>
          <a:ln w="12700">
            <a:solidFill>
              <a:srgbClr val="F0FDFB"/>
            </a:solidFill>
            <a:prstDash val="solid"/>
          </a:ln>
        </p:spPr>
      </p:sp>
      <p:sp>
        <p:nvSpPr>
          <p:cNvPr id="6" name="Shape 4"/>
          <p:cNvSpPr/>
          <p:nvPr/>
        </p:nvSpPr>
        <p:spPr>
          <a:xfrm>
            <a:off x="0" y="6492240"/>
            <a:ext cx="12191695" cy="0"/>
          </a:xfrm>
          <a:prstGeom prst="line">
            <a:avLst/>
          </a:prstGeom>
          <a:noFill/>
          <a:ln w="12700">
            <a:solidFill>
              <a:srgbClr val="A7F3E8"/>
            </a:solidFill>
            <a:prstDash val="solid"/>
          </a:ln>
        </p:spPr>
      </p:sp>
      <p:sp>
        <p:nvSpPr>
          <p:cNvPr id="7" name="Text 5"/>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8"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9" name="Text 6"/>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1 / 13</a:t>
            </a:r>
            <a:endParaRPr lang="en-US" sz="1200" dirty="0"/>
          </a:p>
        </p:txBody>
      </p:sp>
      <p:sp>
        <p:nvSpPr>
          <p:cNvPr id="10" name="Shape 7"/>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1" name="Shape 8"/>
          <p:cNvSpPr/>
          <p:nvPr/>
        </p:nvSpPr>
        <p:spPr>
          <a:xfrm>
            <a:off x="274320" y="6510528"/>
            <a:ext cx="895620" cy="73152"/>
          </a:xfrm>
          <a:prstGeom prst="roundRect">
            <a:avLst>
              <a:gd name="adj" fmla="val 50000"/>
            </a:avLst>
          </a:prstGeom>
          <a:solidFill>
            <a:srgbClr val="0A8F7A"/>
          </a:solidFill>
          <a:ln w="12700">
            <a:solidFill>
              <a:srgbClr val="0A8F7A"/>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Starter Activity</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2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1791239" cy="73152"/>
          </a:xfrm>
          <a:prstGeom prst="roundRect">
            <a:avLst>
              <a:gd name="adj" fmla="val 50000"/>
            </a:avLst>
          </a:prstGeom>
          <a:solidFill>
            <a:srgbClr val="0A8F7A"/>
          </a:solidFill>
          <a:ln w="12700">
            <a:solidFill>
              <a:srgbClr val="0A8F7A"/>
            </a:solidFill>
            <a:prstDash val="solid"/>
          </a:ln>
        </p:spPr>
      </p:sp>
      <p:sp>
        <p:nvSpPr>
          <p:cNvPr id="11" name="Shape 8"/>
          <p:cNvSpPr/>
          <p:nvPr/>
        </p:nvSpPr>
        <p:spPr>
          <a:xfrm>
            <a:off x="749808" y="1591056"/>
            <a:ext cx="377190" cy="377190"/>
          </a:xfrm>
          <a:prstGeom prst="ellipse">
            <a:avLst/>
          </a:prstGeom>
          <a:solidFill>
            <a:srgbClr val="087866"/>
          </a:solidFill>
          <a:ln w="12700">
            <a:solidFill>
              <a:srgbClr val="087866"/>
            </a:solidFill>
            <a:prstDash val="solid"/>
          </a:ln>
        </p:spPr>
      </p:sp>
      <p:sp>
        <p:nvSpPr>
          <p:cNvPr id="12" name="Text 9"/>
          <p:cNvSpPr/>
          <p:nvPr/>
        </p:nvSpPr>
        <p:spPr>
          <a:xfrm>
            <a:off x="749808" y="1591056"/>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3" name="Text 10"/>
          <p:cNvSpPr/>
          <p:nvPr/>
        </p:nvSpPr>
        <p:spPr>
          <a:xfrm>
            <a:off x="1273302" y="1572768"/>
            <a:ext cx="10174986" cy="395478"/>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Predict and justify</a:t>
            </a:r>
            <a:endParaRPr lang="en-US" sz="2200" dirty="0"/>
          </a:p>
        </p:txBody>
      </p:sp>
      <p:sp>
        <p:nvSpPr>
          <p:cNvPr id="14" name="Shape 11"/>
          <p:cNvSpPr/>
          <p:nvPr/>
        </p:nvSpPr>
        <p:spPr>
          <a:xfrm>
            <a:off x="749808" y="2443734"/>
            <a:ext cx="377190" cy="377190"/>
          </a:xfrm>
          <a:prstGeom prst="ellipse">
            <a:avLst/>
          </a:prstGeom>
          <a:solidFill>
            <a:srgbClr val="087866"/>
          </a:solidFill>
          <a:ln w="12700">
            <a:solidFill>
              <a:srgbClr val="087866"/>
            </a:solidFill>
            <a:prstDash val="solid"/>
          </a:ln>
        </p:spPr>
      </p:sp>
      <p:sp>
        <p:nvSpPr>
          <p:cNvPr id="15" name="Text 12"/>
          <p:cNvSpPr/>
          <p:nvPr/>
        </p:nvSpPr>
        <p:spPr>
          <a:xfrm>
            <a:off x="749808" y="2443734"/>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6" name="Text 13"/>
          <p:cNvSpPr/>
          <p:nvPr/>
        </p:nvSpPr>
        <p:spPr>
          <a:xfrm>
            <a:off x="1273302" y="2425446"/>
            <a:ext cx="10174986" cy="1072896"/>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Study a sealed cup containing warm water and ice above it. Predict where droplets will form and explain why using the words evaporation and condensation.</a:t>
            </a:r>
            <a:endParaRPr lang="en-US" sz="2200" dirty="0"/>
          </a:p>
        </p:txBody>
      </p:sp>
      <p:sp>
        <p:nvSpPr>
          <p:cNvPr id="17" name="Shape 14"/>
          <p:cNvSpPr/>
          <p:nvPr/>
        </p:nvSpPr>
        <p:spPr>
          <a:xfrm>
            <a:off x="749808" y="3973830"/>
            <a:ext cx="377190" cy="377190"/>
          </a:xfrm>
          <a:prstGeom prst="ellipse">
            <a:avLst/>
          </a:prstGeom>
          <a:solidFill>
            <a:srgbClr val="087866"/>
          </a:solidFill>
          <a:ln w="12700">
            <a:solidFill>
              <a:srgbClr val="087866"/>
            </a:solidFill>
            <a:prstDash val="solid"/>
          </a:ln>
        </p:spPr>
      </p:sp>
      <p:sp>
        <p:nvSpPr>
          <p:cNvPr id="18" name="Text 15"/>
          <p:cNvSpPr/>
          <p:nvPr/>
        </p:nvSpPr>
        <p:spPr>
          <a:xfrm>
            <a:off x="749808" y="3973830"/>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6"/>
          <p:cNvSpPr/>
          <p:nvPr/>
        </p:nvSpPr>
        <p:spPr>
          <a:xfrm>
            <a:off x="1273302" y="3955542"/>
            <a:ext cx="1017498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Compare your prediction with a partner, then revise one sentence after observing the cup for two minutes.</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Chapter, Topic and SDG Goal</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3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2686859" cy="73152"/>
          </a:xfrm>
          <a:prstGeom prst="roundRect">
            <a:avLst>
              <a:gd name="adj" fmla="val 50000"/>
            </a:avLst>
          </a:prstGeom>
          <a:solidFill>
            <a:srgbClr val="0A8F7A"/>
          </a:solidFill>
          <a:ln w="12700">
            <a:solidFill>
              <a:srgbClr val="0A8F7A"/>
            </a:solidFill>
            <a:prstDash val="solid"/>
          </a:ln>
        </p:spPr>
      </p:sp>
      <p:sp>
        <p:nvSpPr>
          <p:cNvPr id="11" name="Shape 8"/>
          <p:cNvSpPr/>
          <p:nvPr/>
        </p:nvSpPr>
        <p:spPr>
          <a:xfrm>
            <a:off x="713232" y="1536192"/>
            <a:ext cx="10716768" cy="1627632"/>
          </a:xfrm>
          <a:prstGeom prst="rect">
            <a:avLst/>
          </a:prstGeom>
          <a:solidFill>
            <a:srgbClr val="ECFDF8"/>
          </a:solidFill>
          <a:ln w="12700">
            <a:solidFill>
              <a:srgbClr val="ECFDF8"/>
            </a:solidFill>
            <a:prstDash val="solid"/>
          </a:ln>
        </p:spPr>
      </p:sp>
      <p:sp>
        <p:nvSpPr>
          <p:cNvPr id="12" name="Shape 9"/>
          <p:cNvSpPr/>
          <p:nvPr/>
        </p:nvSpPr>
        <p:spPr>
          <a:xfrm>
            <a:off x="713232" y="1536192"/>
            <a:ext cx="54864" cy="1627632"/>
          </a:xfrm>
          <a:prstGeom prst="rect">
            <a:avLst/>
          </a:prstGeom>
          <a:solidFill>
            <a:srgbClr val="087866"/>
          </a:solidFill>
          <a:ln w="12700">
            <a:solidFill>
              <a:srgbClr val="087866"/>
            </a:solidFill>
            <a:prstDash val="solid"/>
          </a:ln>
        </p:spPr>
      </p:sp>
      <p:sp>
        <p:nvSpPr>
          <p:cNvPr id="13" name="Text 10"/>
          <p:cNvSpPr/>
          <p:nvPr/>
        </p:nvSpPr>
        <p:spPr>
          <a:xfrm>
            <a:off x="969264" y="1682496"/>
            <a:ext cx="10204704" cy="1335024"/>
          </a:xfrm>
          <a:prstGeom prst="rect">
            <a:avLst/>
          </a:prstGeom>
          <a:noFill/>
          <a:ln/>
        </p:spPr>
        <p:txBody>
          <a:bodyPr wrap="square" lIns="0" tIns="0" rIns="0" bIns="0" rtlCol="0" anchor="ctr"/>
          <a:lstStyle/>
          <a:p>
            <a:pPr algn="l" indent="0" marL="0">
              <a:lnSpc>
                <a:spcPct val="116000"/>
              </a:lnSpc>
              <a:buNone/>
            </a:pPr>
            <a:r>
              <a:rPr lang="en-US" sz="2200" b="1" dirty="0">
                <a:solidFill>
                  <a:srgbClr val="111827"/>
                </a:solidFill>
                <a:latin typeface="Calibri" pitchFamily="34" charset="0"/>
                <a:ea typeface="Calibri" pitchFamily="34" charset="-122"/>
                <a:cs typeface="Calibri" pitchFamily="34" charset="-120"/>
              </a:rPr>
              <a:t>Chapter: Earth systems</a:t>
            </a:r>
            <a:endParaRPr lang="en-US" sz="2200" dirty="0"/>
          </a:p>
        </p:txBody>
      </p:sp>
      <p:sp>
        <p:nvSpPr>
          <p:cNvPr id="14" name="Text 11"/>
          <p:cNvSpPr/>
          <p:nvPr/>
        </p:nvSpPr>
        <p:spPr>
          <a:xfrm>
            <a:off x="713232" y="3419856"/>
            <a:ext cx="10716768" cy="310896"/>
          </a:xfrm>
          <a:prstGeom prst="rect">
            <a:avLst/>
          </a:prstGeom>
          <a:noFill/>
          <a:ln/>
        </p:spPr>
        <p:txBody>
          <a:bodyPr wrap="square" lIns="0" tIns="0" rIns="0" bIns="0" rtlCol="0" anchor="t"/>
          <a:lstStyle/>
          <a:p>
            <a:pPr algn="l" indent="0" marL="0">
              <a:lnSpc>
                <a:spcPct val="116000"/>
              </a:lnSpc>
              <a:buNone/>
            </a:pPr>
            <a:r>
              <a:rPr lang="en-US" sz="1600" dirty="0">
                <a:solidFill>
                  <a:srgbClr val="111827"/>
                </a:solidFill>
                <a:latin typeface="Calibri" pitchFamily="34" charset="0"/>
                <a:ea typeface="Calibri" pitchFamily="34" charset="-122"/>
                <a:cs typeface="Calibri" pitchFamily="34" charset="-120"/>
              </a:rPr>
              <a:t>Topic: The Water Cycle</a:t>
            </a:r>
            <a:endParaRPr lang="en-US" sz="1600" dirty="0"/>
          </a:p>
        </p:txBody>
      </p:sp>
      <p:sp>
        <p:nvSpPr>
          <p:cNvPr id="15" name="Text 12"/>
          <p:cNvSpPr/>
          <p:nvPr/>
        </p:nvSpPr>
        <p:spPr>
          <a:xfrm>
            <a:off x="713232" y="3858768"/>
            <a:ext cx="10716768" cy="520192"/>
          </a:xfrm>
          <a:prstGeom prst="rect">
            <a:avLst/>
          </a:prstGeom>
          <a:noFill/>
          <a:ln/>
        </p:spPr>
        <p:txBody>
          <a:bodyPr wrap="square" lIns="0" tIns="0" rIns="0" bIns="0" rtlCol="0" anchor="t"/>
          <a:lstStyle/>
          <a:p>
            <a:pPr algn="l" indent="0" marL="0">
              <a:lnSpc>
                <a:spcPct val="116000"/>
              </a:lnSpc>
              <a:buNone/>
            </a:pPr>
            <a:r>
              <a:rPr lang="en-US" sz="1600" dirty="0">
                <a:solidFill>
                  <a:srgbClr val="111827"/>
                </a:solidFill>
                <a:latin typeface="Calibri" pitchFamily="34" charset="0"/>
                <a:ea typeface="Calibri" pitchFamily="34" charset="-122"/>
                <a:cs typeface="Calibri" pitchFamily="34" charset="-120"/>
              </a:rPr>
              <a:t>SDG 6 — Clean Water and Sanitation: understanding how water moves and changes state helps explain why freshwater is limited, how it is renewed, and why protecting clean water stores matters.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Learning Objectives</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4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3582479" cy="73152"/>
          </a:xfrm>
          <a:prstGeom prst="roundRect">
            <a:avLst>
              <a:gd name="adj" fmla="val 50000"/>
            </a:avLst>
          </a:prstGeom>
          <a:solidFill>
            <a:srgbClr val="0A8F7A"/>
          </a:solidFill>
          <a:ln w="12700">
            <a:solidFill>
              <a:srgbClr val="0A8F7A"/>
            </a:solidFill>
            <a:prstDash val="solid"/>
          </a:ln>
        </p:spPr>
      </p:sp>
      <p:sp>
        <p:nvSpPr>
          <p:cNvPr id="11" name="Shape 8"/>
          <p:cNvSpPr/>
          <p:nvPr/>
        </p:nvSpPr>
        <p:spPr>
          <a:xfrm>
            <a:off x="941832" y="3273819"/>
            <a:ext cx="347701" cy="347701"/>
          </a:xfrm>
          <a:prstGeom prst="rect">
            <a:avLst/>
          </a:prstGeom>
          <a:solidFill>
            <a:srgbClr val="FFFFFF">
              <a:alpha val="0"/>
            </a:srgbClr>
          </a:solidFill>
          <a:ln w="12700">
            <a:solidFill>
              <a:srgbClr val="087866"/>
            </a:solidFill>
            <a:prstDash val="solid"/>
          </a:ln>
        </p:spPr>
      </p:sp>
      <p:sp>
        <p:nvSpPr>
          <p:cNvPr id="12" name="Text 9"/>
          <p:cNvSpPr/>
          <p:nvPr/>
        </p:nvSpPr>
        <p:spPr>
          <a:xfrm>
            <a:off x="1506474" y="3206496"/>
            <a:ext cx="9923526" cy="1267968"/>
          </a:xfrm>
          <a:prstGeom prst="rect">
            <a:avLst/>
          </a:prstGeom>
          <a:noFill/>
          <a:ln/>
        </p:spPr>
        <p:txBody>
          <a:bodyPr wrap="square" lIns="0" tIns="0" rIns="0" bIns="0" rtlCol="0" anchor="t"/>
          <a:lstStyle/>
          <a:p>
            <a:pPr algn="l" indent="0" marL="0">
              <a:lnSpc>
                <a:spcPct val="116000"/>
              </a:lnSpc>
              <a:buNone/>
            </a:pPr>
            <a:r>
              <a:rPr lang="en-US" sz="2600" dirty="0">
                <a:solidFill>
                  <a:srgbClr val="111827"/>
                </a:solidFill>
                <a:latin typeface="Calibri" pitchFamily="34" charset="0"/>
                <a:ea typeface="Calibri" pitchFamily="34" charset="-122"/>
                <a:cs typeface="Calibri" pitchFamily="34" charset="-120"/>
              </a:rPr>
              <a:t>Explain how evaporation and condensation transfer water through the water cycle, using particle movement as evidence.</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Learning Outcomes</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5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4478098" cy="73152"/>
          </a:xfrm>
          <a:prstGeom prst="roundRect">
            <a:avLst>
              <a:gd name="adj" fmla="val 50000"/>
            </a:avLst>
          </a:prstGeom>
          <a:solidFill>
            <a:srgbClr val="0A8F7A"/>
          </a:solidFill>
          <a:ln w="12700">
            <a:solidFill>
              <a:srgbClr val="0A8F7A"/>
            </a:solidFill>
            <a:prstDash val="solid"/>
          </a:ln>
        </p:spPr>
      </p:sp>
      <p:sp>
        <p:nvSpPr>
          <p:cNvPr id="11" name="Shape 8"/>
          <p:cNvSpPr/>
          <p:nvPr/>
        </p:nvSpPr>
        <p:spPr>
          <a:xfrm>
            <a:off x="941832" y="2136915"/>
            <a:ext cx="347701" cy="347701"/>
          </a:xfrm>
          <a:prstGeom prst="rect">
            <a:avLst/>
          </a:prstGeom>
          <a:solidFill>
            <a:srgbClr val="FFFFFF">
              <a:alpha val="0"/>
            </a:srgbClr>
          </a:solidFill>
          <a:ln w="12700">
            <a:solidFill>
              <a:srgbClr val="087866"/>
            </a:solidFill>
            <a:prstDash val="solid"/>
          </a:ln>
        </p:spPr>
      </p:sp>
      <p:sp>
        <p:nvSpPr>
          <p:cNvPr id="12" name="Text 9"/>
          <p:cNvSpPr/>
          <p:nvPr/>
        </p:nvSpPr>
        <p:spPr>
          <a:xfrm>
            <a:off x="1506474" y="2069592"/>
            <a:ext cx="9923526" cy="845312"/>
          </a:xfrm>
          <a:prstGeom prst="rect">
            <a:avLst/>
          </a:prstGeom>
          <a:noFill/>
          <a:ln/>
        </p:spPr>
        <p:txBody>
          <a:bodyPr wrap="square" lIns="0" tIns="0" rIns="0" bIns="0" rtlCol="0" anchor="t"/>
          <a:lstStyle/>
          <a:p>
            <a:pPr algn="l" indent="0" marL="0">
              <a:lnSpc>
                <a:spcPct val="116000"/>
              </a:lnSpc>
              <a:buNone/>
            </a:pPr>
            <a:r>
              <a:rPr lang="en-US" sz="2600" dirty="0">
                <a:solidFill>
                  <a:srgbClr val="111827"/>
                </a:solidFill>
                <a:latin typeface="Calibri" pitchFamily="34" charset="0"/>
                <a:ea typeface="Calibri" pitchFamily="34" charset="-122"/>
                <a:cs typeface="Calibri" pitchFamily="34" charset="-120"/>
              </a:rPr>
              <a:t>You will identify evaporation, condensation, precipitation and collection in a water-cycle model.</a:t>
            </a:r>
            <a:endParaRPr lang="en-US" sz="2600" dirty="0"/>
          </a:p>
        </p:txBody>
      </p:sp>
      <p:sp>
        <p:nvSpPr>
          <p:cNvPr id="13" name="Shape 10"/>
          <p:cNvSpPr/>
          <p:nvPr/>
        </p:nvSpPr>
        <p:spPr>
          <a:xfrm>
            <a:off x="914400" y="3166364"/>
            <a:ext cx="10515600" cy="0"/>
          </a:xfrm>
          <a:prstGeom prst="line">
            <a:avLst/>
          </a:prstGeom>
          <a:noFill/>
          <a:ln w="12700">
            <a:solidFill>
              <a:srgbClr val="CFF6ED"/>
            </a:solidFill>
            <a:prstDash val="solid"/>
          </a:ln>
        </p:spPr>
      </p:sp>
      <p:sp>
        <p:nvSpPr>
          <p:cNvPr id="14" name="Shape 11"/>
          <p:cNvSpPr/>
          <p:nvPr/>
        </p:nvSpPr>
        <p:spPr>
          <a:xfrm>
            <a:off x="941832" y="3485147"/>
            <a:ext cx="347701" cy="347701"/>
          </a:xfrm>
          <a:prstGeom prst="rect">
            <a:avLst/>
          </a:prstGeom>
          <a:solidFill>
            <a:srgbClr val="FFFFFF">
              <a:alpha val="0"/>
            </a:srgbClr>
          </a:solidFill>
          <a:ln w="12700">
            <a:solidFill>
              <a:srgbClr val="087866"/>
            </a:solidFill>
            <a:prstDash val="solid"/>
          </a:ln>
        </p:spPr>
      </p:sp>
      <p:sp>
        <p:nvSpPr>
          <p:cNvPr id="15" name="Text 12"/>
          <p:cNvSpPr/>
          <p:nvPr/>
        </p:nvSpPr>
        <p:spPr>
          <a:xfrm>
            <a:off x="1506474" y="3417824"/>
            <a:ext cx="9923526" cy="845312"/>
          </a:xfrm>
          <a:prstGeom prst="rect">
            <a:avLst/>
          </a:prstGeom>
          <a:noFill/>
          <a:ln/>
        </p:spPr>
        <p:txBody>
          <a:bodyPr wrap="square" lIns="0" tIns="0" rIns="0" bIns="0" rtlCol="0" anchor="t"/>
          <a:lstStyle/>
          <a:p>
            <a:pPr algn="l" indent="0" marL="0">
              <a:lnSpc>
                <a:spcPct val="116000"/>
              </a:lnSpc>
              <a:buNone/>
            </a:pPr>
            <a:r>
              <a:rPr lang="en-US" sz="2600" dirty="0">
                <a:solidFill>
                  <a:srgbClr val="111827"/>
                </a:solidFill>
                <a:latin typeface="Calibri" pitchFamily="34" charset="0"/>
                <a:ea typeface="Calibri" pitchFamily="34" charset="-122"/>
                <a:cs typeface="Calibri" pitchFamily="34" charset="-120"/>
              </a:rPr>
              <a:t>You will explain each change using energy and particle movement.</a:t>
            </a:r>
            <a:endParaRPr lang="en-US" sz="2600" dirty="0"/>
          </a:p>
        </p:txBody>
      </p:sp>
      <p:sp>
        <p:nvSpPr>
          <p:cNvPr id="16" name="Shape 13"/>
          <p:cNvSpPr/>
          <p:nvPr/>
        </p:nvSpPr>
        <p:spPr>
          <a:xfrm>
            <a:off x="914400" y="4514596"/>
            <a:ext cx="10515600" cy="0"/>
          </a:xfrm>
          <a:prstGeom prst="line">
            <a:avLst/>
          </a:prstGeom>
          <a:noFill/>
          <a:ln w="12700">
            <a:solidFill>
              <a:srgbClr val="CFF6ED"/>
            </a:solidFill>
            <a:prstDash val="solid"/>
          </a:ln>
        </p:spPr>
      </p:sp>
      <p:sp>
        <p:nvSpPr>
          <p:cNvPr id="17" name="Shape 14"/>
          <p:cNvSpPr/>
          <p:nvPr/>
        </p:nvSpPr>
        <p:spPr>
          <a:xfrm>
            <a:off x="941832" y="4833379"/>
            <a:ext cx="347701" cy="347701"/>
          </a:xfrm>
          <a:prstGeom prst="rect">
            <a:avLst/>
          </a:prstGeom>
          <a:solidFill>
            <a:srgbClr val="FFFFFF">
              <a:alpha val="0"/>
            </a:srgbClr>
          </a:solidFill>
          <a:ln w="12700">
            <a:solidFill>
              <a:srgbClr val="087866"/>
            </a:solidFill>
            <a:prstDash val="solid"/>
          </a:ln>
        </p:spPr>
      </p:sp>
      <p:sp>
        <p:nvSpPr>
          <p:cNvPr id="18" name="Text 15"/>
          <p:cNvSpPr/>
          <p:nvPr/>
        </p:nvSpPr>
        <p:spPr>
          <a:xfrm>
            <a:off x="1506474" y="4766056"/>
            <a:ext cx="9923526" cy="845312"/>
          </a:xfrm>
          <a:prstGeom prst="rect">
            <a:avLst/>
          </a:prstGeom>
          <a:noFill/>
          <a:ln/>
        </p:spPr>
        <p:txBody>
          <a:bodyPr wrap="square" lIns="0" tIns="0" rIns="0" bIns="0" rtlCol="0" anchor="t"/>
          <a:lstStyle/>
          <a:p>
            <a:pPr algn="l" indent="0" marL="0">
              <a:lnSpc>
                <a:spcPct val="116000"/>
              </a:lnSpc>
              <a:buNone/>
            </a:pPr>
            <a:r>
              <a:rPr lang="en-US" sz="2600" dirty="0">
                <a:solidFill>
                  <a:srgbClr val="111827"/>
                </a:solidFill>
                <a:latin typeface="Calibri" pitchFamily="34" charset="0"/>
                <a:ea typeface="Calibri" pitchFamily="34" charset="-122"/>
                <a:cs typeface="Calibri" pitchFamily="34" charset="-120"/>
              </a:rPr>
              <a:t>You will use evidence from a diagram to predict how heating changes the rate of evaporation.</a:t>
            </a:r>
            <a:endParaRPr lang="en-US" sz="2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Main Phase Core Teaching</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6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5373718" cy="73152"/>
          </a:xfrm>
          <a:prstGeom prst="roundRect">
            <a:avLst>
              <a:gd name="adj" fmla="val 50000"/>
            </a:avLst>
          </a:prstGeom>
          <a:solidFill>
            <a:srgbClr val="0A8F7A"/>
          </a:solidFill>
          <a:ln w="12700">
            <a:solidFill>
              <a:srgbClr val="0A8F7A"/>
            </a:solidFill>
            <a:prstDash val="solid"/>
          </a:ln>
        </p:spPr>
      </p:sp>
      <p:sp>
        <p:nvSpPr>
          <p:cNvPr id="11" name="Shape 8"/>
          <p:cNvSpPr/>
          <p:nvPr/>
        </p:nvSpPr>
        <p:spPr>
          <a:xfrm>
            <a:off x="713232" y="1536192"/>
            <a:ext cx="10716768" cy="1627632"/>
          </a:xfrm>
          <a:prstGeom prst="rect">
            <a:avLst/>
          </a:prstGeom>
          <a:solidFill>
            <a:srgbClr val="ECFDF8"/>
          </a:solidFill>
          <a:ln w="12700">
            <a:solidFill>
              <a:srgbClr val="ECFDF8"/>
            </a:solidFill>
            <a:prstDash val="solid"/>
          </a:ln>
        </p:spPr>
      </p:sp>
      <p:sp>
        <p:nvSpPr>
          <p:cNvPr id="12" name="Shape 9"/>
          <p:cNvSpPr/>
          <p:nvPr/>
        </p:nvSpPr>
        <p:spPr>
          <a:xfrm>
            <a:off x="713232" y="1536192"/>
            <a:ext cx="54864" cy="1627632"/>
          </a:xfrm>
          <a:prstGeom prst="rect">
            <a:avLst/>
          </a:prstGeom>
          <a:solidFill>
            <a:srgbClr val="087866"/>
          </a:solidFill>
          <a:ln w="12700">
            <a:solidFill>
              <a:srgbClr val="087866"/>
            </a:solidFill>
            <a:prstDash val="solid"/>
          </a:ln>
        </p:spPr>
      </p:sp>
      <p:sp>
        <p:nvSpPr>
          <p:cNvPr id="13" name="Text 10"/>
          <p:cNvSpPr/>
          <p:nvPr/>
        </p:nvSpPr>
        <p:spPr>
          <a:xfrm>
            <a:off x="969264" y="1682496"/>
            <a:ext cx="10204704" cy="1335024"/>
          </a:xfrm>
          <a:prstGeom prst="rect">
            <a:avLst/>
          </a:prstGeom>
          <a:noFill/>
          <a:ln/>
        </p:spPr>
        <p:txBody>
          <a:bodyPr wrap="square" lIns="0" tIns="0" rIns="0" bIns="0" rtlCol="0" anchor="ctr"/>
          <a:lstStyle/>
          <a:p>
            <a:pPr algn="l" indent="0" marL="0">
              <a:lnSpc>
                <a:spcPct val="116000"/>
              </a:lnSpc>
              <a:buNone/>
            </a:pPr>
            <a:r>
              <a:rPr lang="en-US" sz="2200" b="1" dirty="0">
                <a:solidFill>
                  <a:srgbClr val="111827"/>
                </a:solidFill>
                <a:latin typeface="Calibri" pitchFamily="34" charset="0"/>
                <a:ea typeface="Calibri" pitchFamily="34" charset="-122"/>
                <a:cs typeface="Calibri" pitchFamily="34" charset="-120"/>
              </a:rPr>
              <a:t>Evaporation: energy from the Sun gives surface-water particles enough energy to escape as water vapour.</a:t>
            </a:r>
            <a:endParaRPr lang="en-US" sz="2200" dirty="0"/>
          </a:p>
        </p:txBody>
      </p:sp>
      <p:sp>
        <p:nvSpPr>
          <p:cNvPr id="14" name="Text 11"/>
          <p:cNvSpPr/>
          <p:nvPr/>
        </p:nvSpPr>
        <p:spPr>
          <a:xfrm>
            <a:off x="713232" y="3419856"/>
            <a:ext cx="10716768" cy="520192"/>
          </a:xfrm>
          <a:prstGeom prst="rect">
            <a:avLst/>
          </a:prstGeom>
          <a:noFill/>
          <a:ln/>
        </p:spPr>
        <p:txBody>
          <a:bodyPr wrap="square" lIns="0" tIns="0" rIns="0" bIns="0" rtlCol="0" anchor="t"/>
          <a:lstStyle/>
          <a:p>
            <a:pPr algn="l" indent="0" marL="0">
              <a:lnSpc>
                <a:spcPct val="116000"/>
              </a:lnSpc>
              <a:buNone/>
            </a:pPr>
            <a:r>
              <a:rPr lang="en-US" sz="1600" dirty="0">
                <a:solidFill>
                  <a:srgbClr val="111827"/>
                </a:solidFill>
                <a:latin typeface="Calibri" pitchFamily="34" charset="0"/>
                <a:ea typeface="Calibri" pitchFamily="34" charset="-122"/>
                <a:cs typeface="Calibri" pitchFamily="34" charset="-120"/>
              </a:rPr>
              <a:t>Condensation: rising air cools; water-vapour particles lose energy, move closer together and form tiny liquid droplets in clouds.</a:t>
            </a:r>
            <a:endParaRPr lang="en-US" sz="1600" dirty="0"/>
          </a:p>
        </p:txBody>
      </p:sp>
      <p:sp>
        <p:nvSpPr>
          <p:cNvPr id="15" name="Text 12"/>
          <p:cNvSpPr/>
          <p:nvPr/>
        </p:nvSpPr>
        <p:spPr>
          <a:xfrm>
            <a:off x="713232" y="4068064"/>
            <a:ext cx="10716768" cy="520192"/>
          </a:xfrm>
          <a:prstGeom prst="rect">
            <a:avLst/>
          </a:prstGeom>
          <a:noFill/>
          <a:ln/>
        </p:spPr>
        <p:txBody>
          <a:bodyPr wrap="square" lIns="0" tIns="0" rIns="0" bIns="0" rtlCol="0" anchor="t"/>
          <a:lstStyle/>
          <a:p>
            <a:pPr algn="l" indent="0" marL="0">
              <a:lnSpc>
                <a:spcPct val="116000"/>
              </a:lnSpc>
              <a:buNone/>
            </a:pPr>
            <a:r>
              <a:rPr lang="en-US" sz="1600" dirty="0">
                <a:solidFill>
                  <a:srgbClr val="111827"/>
                </a:solidFill>
                <a:latin typeface="Calibri" pitchFamily="34" charset="0"/>
                <a:ea typeface="Calibri" pitchFamily="34" charset="-122"/>
                <a:cs typeface="Calibri" pitchFamily="34" charset="-120"/>
              </a:rPr>
              <a:t>Precipitation: droplets or ice crystals grow until gravity pulls them to Earth. Water then collects in rivers, lakes, oceans and groundwater before the cycle repeats.</a:t>
            </a:r>
            <a:endParaRPr lang="en-US" sz="1600" dirty="0"/>
          </a:p>
        </p:txBody>
      </p:sp>
      <p:sp>
        <p:nvSpPr>
          <p:cNvPr id="16" name="Text 13"/>
          <p:cNvSpPr/>
          <p:nvPr/>
        </p:nvSpPr>
        <p:spPr>
          <a:xfrm>
            <a:off x="713232" y="4716272"/>
            <a:ext cx="10716768" cy="520192"/>
          </a:xfrm>
          <a:prstGeom prst="rect">
            <a:avLst/>
          </a:prstGeom>
          <a:noFill/>
          <a:ln/>
        </p:spPr>
        <p:txBody>
          <a:bodyPr wrap="square" lIns="0" tIns="0" rIns="0" bIns="0" rtlCol="0" anchor="t"/>
          <a:lstStyle/>
          <a:p>
            <a:pPr algn="l" indent="0" marL="0">
              <a:lnSpc>
                <a:spcPct val="116000"/>
              </a:lnSpc>
              <a:buNone/>
            </a:pPr>
            <a:r>
              <a:rPr lang="en-US" sz="1600" dirty="0">
                <a:solidFill>
                  <a:srgbClr val="111827"/>
                </a:solidFill>
                <a:latin typeface="Calibri" pitchFamily="34" charset="0"/>
                <a:ea typeface="Calibri" pitchFamily="34" charset="-122"/>
                <a:cs typeface="Calibri" pitchFamily="34" charset="-120"/>
              </a:rPr>
              <a:t>Apply it: trace one water particle from the ocean to a cloud and back to land, naming the process at each change.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Differentiated Activity and Mini Plenary</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7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6269337" cy="73152"/>
          </a:xfrm>
          <a:prstGeom prst="roundRect">
            <a:avLst>
              <a:gd name="adj" fmla="val 50000"/>
            </a:avLst>
          </a:prstGeom>
          <a:solidFill>
            <a:srgbClr val="0A8F7A"/>
          </a:solidFill>
          <a:ln w="12700">
            <a:solidFill>
              <a:srgbClr val="0A8F7A"/>
            </a:solidFill>
            <a:prstDash val="solid"/>
          </a:ln>
        </p:spPr>
      </p:sp>
      <p:sp>
        <p:nvSpPr>
          <p:cNvPr id="11" name="Shape 8"/>
          <p:cNvSpPr/>
          <p:nvPr/>
        </p:nvSpPr>
        <p:spPr>
          <a:xfrm>
            <a:off x="749808" y="1591056"/>
            <a:ext cx="377190" cy="377190"/>
          </a:xfrm>
          <a:prstGeom prst="ellipse">
            <a:avLst/>
          </a:prstGeom>
          <a:solidFill>
            <a:srgbClr val="087866"/>
          </a:solidFill>
          <a:ln w="12700">
            <a:solidFill>
              <a:srgbClr val="087866"/>
            </a:solidFill>
            <a:prstDash val="solid"/>
          </a:ln>
        </p:spPr>
      </p:sp>
      <p:sp>
        <p:nvSpPr>
          <p:cNvPr id="12" name="Text 9"/>
          <p:cNvSpPr/>
          <p:nvPr/>
        </p:nvSpPr>
        <p:spPr>
          <a:xfrm>
            <a:off x="749808" y="1591056"/>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3" name="Text 10"/>
          <p:cNvSpPr/>
          <p:nvPr/>
        </p:nvSpPr>
        <p:spPr>
          <a:xfrm>
            <a:off x="1273302" y="1572768"/>
            <a:ext cx="1017498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Higher Achievers task: Predict how a 5 °C temperature rise could change evaporation and rainfall. Give two linked scientific reasons.</a:t>
            </a:r>
            <a:endParaRPr lang="en-US" sz="2200" dirty="0"/>
          </a:p>
        </p:txBody>
      </p:sp>
      <p:sp>
        <p:nvSpPr>
          <p:cNvPr id="14" name="Shape 11"/>
          <p:cNvSpPr/>
          <p:nvPr/>
        </p:nvSpPr>
        <p:spPr>
          <a:xfrm>
            <a:off x="749808" y="2763520"/>
            <a:ext cx="377190" cy="377190"/>
          </a:xfrm>
          <a:prstGeom prst="ellipse">
            <a:avLst/>
          </a:prstGeom>
          <a:solidFill>
            <a:srgbClr val="087866"/>
          </a:solidFill>
          <a:ln w="12700">
            <a:solidFill>
              <a:srgbClr val="087866"/>
            </a:solidFill>
            <a:prstDash val="solid"/>
          </a:ln>
        </p:spPr>
      </p:sp>
      <p:sp>
        <p:nvSpPr>
          <p:cNvPr id="15" name="Text 12"/>
          <p:cNvSpPr/>
          <p:nvPr/>
        </p:nvSpPr>
        <p:spPr>
          <a:xfrm>
            <a:off x="749808" y="2763520"/>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6" name="Text 13"/>
          <p:cNvSpPr/>
          <p:nvPr/>
        </p:nvSpPr>
        <p:spPr>
          <a:xfrm>
            <a:off x="1273302" y="2745232"/>
            <a:ext cx="1017498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Middle Achievers task: Label the four processes, then explain evaporation and condensation using particles.</a:t>
            </a:r>
            <a:endParaRPr lang="en-US" sz="2200" dirty="0"/>
          </a:p>
        </p:txBody>
      </p:sp>
      <p:sp>
        <p:nvSpPr>
          <p:cNvPr id="17" name="Shape 14"/>
          <p:cNvSpPr/>
          <p:nvPr/>
        </p:nvSpPr>
        <p:spPr>
          <a:xfrm>
            <a:off x="749808" y="3935984"/>
            <a:ext cx="377190" cy="377190"/>
          </a:xfrm>
          <a:prstGeom prst="ellipse">
            <a:avLst/>
          </a:prstGeom>
          <a:solidFill>
            <a:srgbClr val="087866"/>
          </a:solidFill>
          <a:ln w="12700">
            <a:solidFill>
              <a:srgbClr val="087866"/>
            </a:solidFill>
            <a:prstDash val="solid"/>
          </a:ln>
        </p:spPr>
      </p:sp>
      <p:sp>
        <p:nvSpPr>
          <p:cNvPr id="18" name="Text 15"/>
          <p:cNvSpPr/>
          <p:nvPr/>
        </p:nvSpPr>
        <p:spPr>
          <a:xfrm>
            <a:off x="749808" y="3935984"/>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9" name="Text 16"/>
          <p:cNvSpPr/>
          <p:nvPr/>
        </p:nvSpPr>
        <p:spPr>
          <a:xfrm>
            <a:off x="1273302" y="3917696"/>
            <a:ext cx="1017498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Lower Achievers task: Order the process cards. Complete: particles gain energy during evaporation and lose energy during condensation.</a:t>
            </a:r>
            <a:endParaRPr lang="en-US" sz="2200" dirty="0"/>
          </a:p>
        </p:txBody>
      </p:sp>
      <p:sp>
        <p:nvSpPr>
          <p:cNvPr id="20" name="Shape 17"/>
          <p:cNvSpPr/>
          <p:nvPr/>
        </p:nvSpPr>
        <p:spPr>
          <a:xfrm>
            <a:off x="749808" y="5108448"/>
            <a:ext cx="377190" cy="377190"/>
          </a:xfrm>
          <a:prstGeom prst="ellipse">
            <a:avLst/>
          </a:prstGeom>
          <a:solidFill>
            <a:srgbClr val="087866"/>
          </a:solidFill>
          <a:ln w="12700">
            <a:solidFill>
              <a:srgbClr val="087866"/>
            </a:solidFill>
            <a:prstDash val="solid"/>
          </a:ln>
        </p:spPr>
      </p:sp>
      <p:sp>
        <p:nvSpPr>
          <p:cNvPr id="21" name="Text 18"/>
          <p:cNvSpPr/>
          <p:nvPr/>
        </p:nvSpPr>
        <p:spPr>
          <a:xfrm>
            <a:off x="749808" y="5108448"/>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19"/>
          <p:cNvSpPr/>
          <p:nvPr/>
        </p:nvSpPr>
        <p:spPr>
          <a:xfrm>
            <a:off x="1273302" y="5090160"/>
            <a:ext cx="1017498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Mini Plenary: Why can a cloud form even though water vapour is invisible?</a:t>
            </a:r>
            <a:endParaRPr lang="en-US"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Real Life and Cross Curricular Connection</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8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7164957" cy="73152"/>
          </a:xfrm>
          <a:prstGeom prst="roundRect">
            <a:avLst>
              <a:gd name="adj" fmla="val 50000"/>
            </a:avLst>
          </a:prstGeom>
          <a:solidFill>
            <a:srgbClr val="0A8F7A"/>
          </a:solidFill>
          <a:ln w="12700">
            <a:solidFill>
              <a:srgbClr val="0A8F7A"/>
            </a:solidFill>
            <a:prstDash val="solid"/>
          </a:ln>
        </p:spPr>
      </p:sp>
      <p:sp>
        <p:nvSpPr>
          <p:cNvPr id="11" name="Shape 8"/>
          <p:cNvSpPr/>
          <p:nvPr/>
        </p:nvSpPr>
        <p:spPr>
          <a:xfrm>
            <a:off x="713232" y="1536192"/>
            <a:ext cx="10716768" cy="1627632"/>
          </a:xfrm>
          <a:prstGeom prst="rect">
            <a:avLst/>
          </a:prstGeom>
          <a:solidFill>
            <a:srgbClr val="ECFDF8"/>
          </a:solidFill>
          <a:ln w="12700">
            <a:solidFill>
              <a:srgbClr val="ECFDF8"/>
            </a:solidFill>
            <a:prstDash val="solid"/>
          </a:ln>
        </p:spPr>
      </p:sp>
      <p:sp>
        <p:nvSpPr>
          <p:cNvPr id="12" name="Shape 9"/>
          <p:cNvSpPr/>
          <p:nvPr/>
        </p:nvSpPr>
        <p:spPr>
          <a:xfrm>
            <a:off x="713232" y="1536192"/>
            <a:ext cx="54864" cy="1627632"/>
          </a:xfrm>
          <a:prstGeom prst="rect">
            <a:avLst/>
          </a:prstGeom>
          <a:solidFill>
            <a:srgbClr val="087866"/>
          </a:solidFill>
          <a:ln w="12700">
            <a:solidFill>
              <a:srgbClr val="087866"/>
            </a:solidFill>
            <a:prstDash val="solid"/>
          </a:ln>
        </p:spPr>
      </p:sp>
      <p:sp>
        <p:nvSpPr>
          <p:cNvPr id="13" name="Text 10"/>
          <p:cNvSpPr/>
          <p:nvPr/>
        </p:nvSpPr>
        <p:spPr>
          <a:xfrm>
            <a:off x="969264" y="1682496"/>
            <a:ext cx="10204704" cy="1335024"/>
          </a:xfrm>
          <a:prstGeom prst="rect">
            <a:avLst/>
          </a:prstGeom>
          <a:noFill/>
          <a:ln/>
        </p:spPr>
        <p:txBody>
          <a:bodyPr wrap="square" lIns="0" tIns="0" rIns="0" bIns="0" rtlCol="0" anchor="ctr"/>
          <a:lstStyle/>
          <a:p>
            <a:pPr algn="l" indent="0" marL="0">
              <a:lnSpc>
                <a:spcPct val="116000"/>
              </a:lnSpc>
              <a:buNone/>
            </a:pPr>
            <a:r>
              <a:rPr lang="en-US" sz="2200" b="1" dirty="0">
                <a:solidFill>
                  <a:srgbClr val="111827"/>
                </a:solidFill>
                <a:latin typeface="Calibri" pitchFamily="34" charset="0"/>
                <a:ea typeface="Calibri" pitchFamily="34" charset="-122"/>
                <a:cs typeface="Calibri" pitchFamily="34" charset="-120"/>
              </a:rPr>
              <a:t>Real-life connection</a:t>
            </a:r>
            <a:endParaRPr lang="en-US" sz="2200" dirty="0"/>
          </a:p>
        </p:txBody>
      </p:sp>
      <p:sp>
        <p:nvSpPr>
          <p:cNvPr id="14" name="Text 11"/>
          <p:cNvSpPr/>
          <p:nvPr/>
        </p:nvSpPr>
        <p:spPr>
          <a:xfrm>
            <a:off x="713232" y="3419856"/>
            <a:ext cx="10716768" cy="520192"/>
          </a:xfrm>
          <a:prstGeom prst="rect">
            <a:avLst/>
          </a:prstGeom>
          <a:noFill/>
          <a:ln/>
        </p:spPr>
        <p:txBody>
          <a:bodyPr wrap="square" lIns="0" tIns="0" rIns="0" bIns="0" rtlCol="0" anchor="t"/>
          <a:lstStyle/>
          <a:p>
            <a:pPr algn="l" indent="0" marL="0">
              <a:lnSpc>
                <a:spcPct val="116000"/>
              </a:lnSpc>
              <a:buNone/>
            </a:pPr>
            <a:r>
              <a:rPr lang="en-US" sz="1600" dirty="0">
                <a:solidFill>
                  <a:srgbClr val="111827"/>
                </a:solidFill>
                <a:latin typeface="Calibri" pitchFamily="34" charset="0"/>
                <a:ea typeface="Calibri" pitchFamily="34" charset="-122"/>
                <a:cs typeface="Calibri" pitchFamily="34" charset="-120"/>
              </a:rPr>
              <a:t>A cold bathroom mirror collects droplets because warm water vapour cools and condenses on the glass. Meteorologists use the same change of state when explaining cloud formation and rainfall.</a:t>
            </a:r>
            <a:endParaRPr lang="en-US" sz="1600" dirty="0"/>
          </a:p>
        </p:txBody>
      </p:sp>
      <p:sp>
        <p:nvSpPr>
          <p:cNvPr id="15" name="Text 12"/>
          <p:cNvSpPr/>
          <p:nvPr/>
        </p:nvSpPr>
        <p:spPr>
          <a:xfrm>
            <a:off x="713232" y="4068064"/>
            <a:ext cx="10716768" cy="310896"/>
          </a:xfrm>
          <a:prstGeom prst="rect">
            <a:avLst/>
          </a:prstGeom>
          <a:noFill/>
          <a:ln/>
        </p:spPr>
        <p:txBody>
          <a:bodyPr wrap="square" lIns="0" tIns="0" rIns="0" bIns="0" rtlCol="0" anchor="t"/>
          <a:lstStyle/>
          <a:p>
            <a:pPr algn="l" indent="0" marL="0">
              <a:lnSpc>
                <a:spcPct val="116000"/>
              </a:lnSpc>
              <a:buNone/>
            </a:pPr>
            <a:r>
              <a:rPr lang="en-US" sz="1600" dirty="0">
                <a:solidFill>
                  <a:srgbClr val="111827"/>
                </a:solidFill>
                <a:latin typeface="Calibri" pitchFamily="34" charset="0"/>
                <a:ea typeface="Calibri" pitchFamily="34" charset="-122"/>
                <a:cs typeface="Calibri" pitchFamily="34" charset="-120"/>
              </a:rPr>
              <a:t>Cross-curricular link</a:t>
            </a:r>
            <a:endParaRPr lang="en-US" sz="1600" dirty="0"/>
          </a:p>
        </p:txBody>
      </p:sp>
      <p:sp>
        <p:nvSpPr>
          <p:cNvPr id="16" name="Text 13"/>
          <p:cNvSpPr/>
          <p:nvPr/>
        </p:nvSpPr>
        <p:spPr>
          <a:xfrm>
            <a:off x="713232" y="4506976"/>
            <a:ext cx="10716768" cy="520192"/>
          </a:xfrm>
          <a:prstGeom prst="rect">
            <a:avLst/>
          </a:prstGeom>
          <a:noFill/>
          <a:ln/>
        </p:spPr>
        <p:txBody>
          <a:bodyPr wrap="square" lIns="0" tIns="0" rIns="0" bIns="0" rtlCol="0" anchor="t"/>
          <a:lstStyle/>
          <a:p>
            <a:pPr algn="l" indent="0" marL="0">
              <a:lnSpc>
                <a:spcPct val="116000"/>
              </a:lnSpc>
              <a:buNone/>
            </a:pPr>
            <a:r>
              <a:rPr lang="en-US" sz="1600" dirty="0">
                <a:solidFill>
                  <a:srgbClr val="111827"/>
                </a:solidFill>
                <a:latin typeface="Calibri" pitchFamily="34" charset="0"/>
                <a:ea typeface="Calibri" pitchFamily="34" charset="-122"/>
                <a:cs typeface="Calibri" pitchFamily="34" charset="-120"/>
              </a:rPr>
              <a:t>In Geography, compare rainfall and water availability in two climates, then explain the pattern using evaporation and condensation.</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Plenary</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9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8060577" cy="73152"/>
          </a:xfrm>
          <a:prstGeom prst="roundRect">
            <a:avLst>
              <a:gd name="adj" fmla="val 50000"/>
            </a:avLst>
          </a:prstGeom>
          <a:solidFill>
            <a:srgbClr val="0A8F7A"/>
          </a:solidFill>
          <a:ln w="12700">
            <a:solidFill>
              <a:srgbClr val="0A8F7A"/>
            </a:solidFill>
            <a:prstDash val="solid"/>
          </a:ln>
        </p:spPr>
      </p:sp>
      <p:sp>
        <p:nvSpPr>
          <p:cNvPr id="11" name="Text 8"/>
          <p:cNvSpPr/>
          <p:nvPr/>
        </p:nvSpPr>
        <p:spPr>
          <a:xfrm>
            <a:off x="877824" y="1572768"/>
            <a:ext cx="10515600" cy="384048"/>
          </a:xfrm>
          <a:prstGeom prst="rect">
            <a:avLst/>
          </a:prstGeom>
          <a:noFill/>
          <a:ln/>
        </p:spPr>
        <p:txBody>
          <a:bodyPr wrap="square" lIns="0" tIns="0" rIns="0" bIns="0" rtlCol="0" anchor="t"/>
          <a:lstStyle/>
          <a:p>
            <a:pPr algn="l" indent="0" marL="0">
              <a:lnSpc>
                <a:spcPct val="116000"/>
              </a:lnSpc>
              <a:buNone/>
            </a:pPr>
            <a:r>
              <a:rPr lang="en-US" sz="1800" b="1" dirty="0">
                <a:solidFill>
                  <a:srgbClr val="111827"/>
                </a:solidFill>
                <a:latin typeface="Calibri" pitchFamily="34" charset="0"/>
                <a:ea typeface="Calibri" pitchFamily="34" charset="-122"/>
                <a:cs typeface="Calibri" pitchFamily="34" charset="-120"/>
              </a:rPr>
              <a:t>Water-particle challenge</a:t>
            </a:r>
            <a:endParaRPr lang="en-US" sz="1800" dirty="0"/>
          </a:p>
        </p:txBody>
      </p:sp>
      <p:sp>
        <p:nvSpPr>
          <p:cNvPr id="12" name="Shape 9"/>
          <p:cNvSpPr/>
          <p:nvPr/>
        </p:nvSpPr>
        <p:spPr>
          <a:xfrm>
            <a:off x="877824" y="2176272"/>
            <a:ext cx="411480" cy="411480"/>
          </a:xfrm>
          <a:prstGeom prst="ellipse">
            <a:avLst/>
          </a:prstGeom>
          <a:solidFill>
            <a:srgbClr val="087866"/>
          </a:solidFill>
          <a:ln w="12700">
            <a:solidFill>
              <a:srgbClr val="087866"/>
            </a:solidFill>
            <a:prstDash val="solid"/>
          </a:ln>
        </p:spPr>
      </p:sp>
      <p:sp>
        <p:nvSpPr>
          <p:cNvPr id="13" name="Text 10"/>
          <p:cNvSpPr/>
          <p:nvPr/>
        </p:nvSpPr>
        <p:spPr>
          <a:xfrm>
            <a:off x="877824" y="2176272"/>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14" name="Text 11"/>
          <p:cNvSpPr/>
          <p:nvPr/>
        </p:nvSpPr>
        <p:spPr>
          <a:xfrm>
            <a:off x="1435608" y="2157984"/>
            <a:ext cx="9957816" cy="780288"/>
          </a:xfrm>
          <a:prstGeom prst="rect">
            <a:avLst/>
          </a:prstGeom>
          <a:noFill/>
          <a:ln/>
        </p:spPr>
        <p:txBody>
          <a:bodyPr wrap="square" lIns="0" tIns="0" rIns="0" bIns="0" rtlCol="0" anchor="t"/>
          <a:lstStyle/>
          <a:p>
            <a:pPr algn="l" indent="0" marL="0">
              <a:lnSpc>
                <a:spcPct val="116000"/>
              </a:lnSpc>
              <a:buNone/>
            </a:pPr>
            <a:r>
              <a:rPr lang="en-US" sz="2400" dirty="0">
                <a:solidFill>
                  <a:srgbClr val="111827"/>
                </a:solidFill>
                <a:latin typeface="Calibri" pitchFamily="34" charset="0"/>
                <a:ea typeface="Calibri" pitchFamily="34" charset="-122"/>
                <a:cs typeface="Calibri" pitchFamily="34" charset="-120"/>
              </a:rPr>
              <a:t>Draw one particle’s route: ocean → atmosphere → cloud → river.</a:t>
            </a:r>
            <a:endParaRPr lang="en-US" sz="2400" dirty="0"/>
          </a:p>
        </p:txBody>
      </p:sp>
      <p:sp>
        <p:nvSpPr>
          <p:cNvPr id="15" name="Shape 12"/>
          <p:cNvSpPr/>
          <p:nvPr/>
        </p:nvSpPr>
        <p:spPr>
          <a:xfrm>
            <a:off x="877824" y="3095752"/>
            <a:ext cx="10515600" cy="0"/>
          </a:xfrm>
          <a:prstGeom prst="line">
            <a:avLst/>
          </a:prstGeom>
          <a:noFill/>
          <a:ln w="12700">
            <a:solidFill>
              <a:srgbClr val="CFF6ED"/>
            </a:solidFill>
            <a:prstDash val="solid"/>
          </a:ln>
        </p:spPr>
      </p:sp>
      <p:sp>
        <p:nvSpPr>
          <p:cNvPr id="16" name="Shape 13"/>
          <p:cNvSpPr/>
          <p:nvPr/>
        </p:nvSpPr>
        <p:spPr>
          <a:xfrm>
            <a:off x="877824" y="3271520"/>
            <a:ext cx="411480" cy="411480"/>
          </a:xfrm>
          <a:prstGeom prst="ellipse">
            <a:avLst/>
          </a:prstGeom>
          <a:solidFill>
            <a:srgbClr val="087866"/>
          </a:solidFill>
          <a:ln w="12700">
            <a:solidFill>
              <a:srgbClr val="087866"/>
            </a:solidFill>
            <a:prstDash val="solid"/>
          </a:ln>
        </p:spPr>
      </p:sp>
      <p:sp>
        <p:nvSpPr>
          <p:cNvPr id="17" name="Text 14"/>
          <p:cNvSpPr/>
          <p:nvPr/>
        </p:nvSpPr>
        <p:spPr>
          <a:xfrm>
            <a:off x="877824" y="3271520"/>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8" name="Text 15"/>
          <p:cNvSpPr/>
          <p:nvPr/>
        </p:nvSpPr>
        <p:spPr>
          <a:xfrm>
            <a:off x="1435608" y="3253232"/>
            <a:ext cx="9957816" cy="780288"/>
          </a:xfrm>
          <a:prstGeom prst="rect">
            <a:avLst/>
          </a:prstGeom>
          <a:noFill/>
          <a:ln/>
        </p:spPr>
        <p:txBody>
          <a:bodyPr wrap="square" lIns="0" tIns="0" rIns="0" bIns="0" rtlCol="0" anchor="t"/>
          <a:lstStyle/>
          <a:p>
            <a:pPr algn="l" indent="0" marL="0">
              <a:lnSpc>
                <a:spcPct val="116000"/>
              </a:lnSpc>
              <a:buNone/>
            </a:pPr>
            <a:r>
              <a:rPr lang="en-US" sz="2400" dirty="0">
                <a:solidFill>
                  <a:srgbClr val="111827"/>
                </a:solidFill>
                <a:latin typeface="Calibri" pitchFamily="34" charset="0"/>
                <a:ea typeface="Calibri" pitchFamily="34" charset="-122"/>
                <a:cs typeface="Calibri" pitchFamily="34" charset="-120"/>
              </a:rPr>
              <a:t>Label each change and state whether the particle gains or loses energy.</a:t>
            </a:r>
            <a:endParaRPr lang="en-US" sz="2400" dirty="0"/>
          </a:p>
        </p:txBody>
      </p:sp>
      <p:sp>
        <p:nvSpPr>
          <p:cNvPr id="19" name="Shape 16"/>
          <p:cNvSpPr/>
          <p:nvPr/>
        </p:nvSpPr>
        <p:spPr>
          <a:xfrm>
            <a:off x="877824" y="4191000"/>
            <a:ext cx="10515600" cy="0"/>
          </a:xfrm>
          <a:prstGeom prst="line">
            <a:avLst/>
          </a:prstGeom>
          <a:noFill/>
          <a:ln w="12700">
            <a:solidFill>
              <a:srgbClr val="CFF6ED"/>
            </a:solidFill>
            <a:prstDash val="solid"/>
          </a:ln>
        </p:spPr>
      </p:sp>
      <p:sp>
        <p:nvSpPr>
          <p:cNvPr id="20" name="Shape 17"/>
          <p:cNvSpPr/>
          <p:nvPr/>
        </p:nvSpPr>
        <p:spPr>
          <a:xfrm>
            <a:off x="877824" y="4366768"/>
            <a:ext cx="411480" cy="411480"/>
          </a:xfrm>
          <a:prstGeom prst="ellipse">
            <a:avLst/>
          </a:prstGeom>
          <a:solidFill>
            <a:srgbClr val="087866"/>
          </a:solidFill>
          <a:ln w="12700">
            <a:solidFill>
              <a:srgbClr val="087866"/>
            </a:solidFill>
            <a:prstDash val="solid"/>
          </a:ln>
        </p:spPr>
      </p:sp>
      <p:sp>
        <p:nvSpPr>
          <p:cNvPr id="21" name="Text 18"/>
          <p:cNvSpPr/>
          <p:nvPr/>
        </p:nvSpPr>
        <p:spPr>
          <a:xfrm>
            <a:off x="877824" y="4366768"/>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22" name="Text 19"/>
          <p:cNvSpPr/>
          <p:nvPr/>
        </p:nvSpPr>
        <p:spPr>
          <a:xfrm>
            <a:off x="1435608" y="4348480"/>
            <a:ext cx="9957816" cy="429768"/>
          </a:xfrm>
          <a:prstGeom prst="rect">
            <a:avLst/>
          </a:prstGeom>
          <a:noFill/>
          <a:ln/>
        </p:spPr>
        <p:txBody>
          <a:bodyPr wrap="square" lIns="0" tIns="0" rIns="0" bIns="0" rtlCol="0" anchor="t"/>
          <a:lstStyle/>
          <a:p>
            <a:pPr algn="l" indent="0" marL="0">
              <a:lnSpc>
                <a:spcPct val="116000"/>
              </a:lnSpc>
              <a:buNone/>
            </a:pPr>
            <a:r>
              <a:rPr lang="en-US" sz="2400" dirty="0">
                <a:solidFill>
                  <a:srgbClr val="111827"/>
                </a:solidFill>
                <a:latin typeface="Calibri" pitchFamily="34" charset="0"/>
                <a:ea typeface="Calibri" pitchFamily="34" charset="-122"/>
                <a:cs typeface="Calibri" pitchFamily="34" charset="-120"/>
              </a:rPr>
              <a:t>Swap diagrams; check every arrow against the objective.</a:t>
            </a:r>
            <a:endParaRPr lang="en-US" sz="2400" dirty="0"/>
          </a:p>
        </p:txBody>
      </p:sp>
      <p:sp>
        <p:nvSpPr>
          <p:cNvPr id="23" name="Shape 20"/>
          <p:cNvSpPr/>
          <p:nvPr/>
        </p:nvSpPr>
        <p:spPr>
          <a:xfrm>
            <a:off x="877824" y="4935728"/>
            <a:ext cx="10515600" cy="0"/>
          </a:xfrm>
          <a:prstGeom prst="line">
            <a:avLst/>
          </a:prstGeom>
          <a:noFill/>
          <a:ln w="12700">
            <a:solidFill>
              <a:srgbClr val="CFF6ED"/>
            </a:solidFill>
            <a:prstDash val="solid"/>
          </a:ln>
        </p:spPr>
      </p:sp>
      <p:sp>
        <p:nvSpPr>
          <p:cNvPr id="24" name="Shape 21"/>
          <p:cNvSpPr/>
          <p:nvPr/>
        </p:nvSpPr>
        <p:spPr>
          <a:xfrm>
            <a:off x="877824" y="5111496"/>
            <a:ext cx="411480" cy="411480"/>
          </a:xfrm>
          <a:prstGeom prst="ellipse">
            <a:avLst/>
          </a:prstGeom>
          <a:solidFill>
            <a:srgbClr val="087866"/>
          </a:solidFill>
          <a:ln w="12700">
            <a:solidFill>
              <a:srgbClr val="087866"/>
            </a:solidFill>
            <a:prstDash val="solid"/>
          </a:ln>
        </p:spPr>
      </p:sp>
      <p:sp>
        <p:nvSpPr>
          <p:cNvPr id="25" name="Text 22"/>
          <p:cNvSpPr/>
          <p:nvPr/>
        </p:nvSpPr>
        <p:spPr>
          <a:xfrm>
            <a:off x="877824" y="5111496"/>
            <a:ext cx="41148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4</a:t>
            </a:r>
            <a:endParaRPr lang="en-US" sz="1700" dirty="0"/>
          </a:p>
        </p:txBody>
      </p:sp>
      <p:sp>
        <p:nvSpPr>
          <p:cNvPr id="26" name="Text 23"/>
          <p:cNvSpPr/>
          <p:nvPr/>
        </p:nvSpPr>
        <p:spPr>
          <a:xfrm>
            <a:off x="1435608" y="5093208"/>
            <a:ext cx="9957816" cy="429768"/>
          </a:xfrm>
          <a:prstGeom prst="rect">
            <a:avLst/>
          </a:prstGeom>
          <a:noFill/>
          <a:ln/>
        </p:spPr>
        <p:txBody>
          <a:bodyPr wrap="square" lIns="0" tIns="0" rIns="0" bIns="0" rtlCol="0" anchor="t"/>
          <a:lstStyle/>
          <a:p>
            <a:pPr algn="l" indent="0" marL="0">
              <a:lnSpc>
                <a:spcPct val="116000"/>
              </a:lnSpc>
              <a:buNone/>
            </a:pPr>
            <a:r>
              <a:rPr lang="en-US" sz="2400" dirty="0">
                <a:solidFill>
                  <a:srgbClr val="111827"/>
                </a:solidFill>
                <a:latin typeface="Calibri" pitchFamily="34" charset="0"/>
                <a:ea typeface="Calibri" pitchFamily="34" charset="-122"/>
                <a:cs typeface="Calibri" pitchFamily="34" charset="-120"/>
              </a:rPr>
              <a:t>Improve one explanation using particle movement.</a:t>
            </a:r>
            <a:endParaRPr lang="en-US" sz="2400" dirty="0"/>
          </a:p>
        </p:txBody>
      </p:sp>
      <p:sp>
        <p:nvSpPr>
          <p:cNvPr id="27" name="Text 24"/>
          <p:cNvSpPr/>
          <p:nvPr/>
        </p:nvSpPr>
        <p:spPr>
          <a:xfrm>
            <a:off x="877824" y="5650992"/>
            <a:ext cx="10515600" cy="365760"/>
          </a:xfrm>
          <a:prstGeom prst="rect">
            <a:avLst/>
          </a:prstGeom>
          <a:noFill/>
          <a:ln/>
        </p:spPr>
        <p:txBody>
          <a:bodyPr wrap="square" lIns="0" tIns="0" rIns="0" bIns="0" rtlCol="0" anchor="t"/>
          <a:lstStyle/>
          <a:p>
            <a:pPr algn="l" indent="0" marL="0">
              <a:lnSpc>
                <a:spcPct val="116000"/>
              </a:lnSpc>
              <a:buNone/>
            </a:pPr>
            <a:r>
              <a:rPr lang="en-US" sz="1700" b="1" dirty="0">
                <a:solidFill>
                  <a:srgbClr val="111827"/>
                </a:solidFill>
                <a:latin typeface="Calibri" pitchFamily="34" charset="0"/>
                <a:ea typeface="Calibri" pitchFamily="34" charset="-122"/>
                <a:cs typeface="Calibri" pitchFamily="34" charset="-120"/>
              </a:rPr>
              <a:t>Final check: why is this a cycle rather than a one-way path?</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Extended Task</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10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8956196" cy="73152"/>
          </a:xfrm>
          <a:prstGeom prst="roundRect">
            <a:avLst>
              <a:gd name="adj" fmla="val 50000"/>
            </a:avLst>
          </a:prstGeom>
          <a:solidFill>
            <a:srgbClr val="0A8F7A"/>
          </a:solidFill>
          <a:ln w="12700">
            <a:solidFill>
              <a:srgbClr val="0A8F7A"/>
            </a:solidFill>
            <a:prstDash val="solid"/>
          </a:ln>
        </p:spPr>
      </p:sp>
      <p:sp>
        <p:nvSpPr>
          <p:cNvPr id="11" name="Text 8"/>
          <p:cNvSpPr/>
          <p:nvPr/>
        </p:nvSpPr>
        <p:spPr>
          <a:xfrm>
            <a:off x="749808" y="1335024"/>
            <a:ext cx="10680192" cy="310896"/>
          </a:xfrm>
          <a:prstGeom prst="rect">
            <a:avLst/>
          </a:prstGeom>
          <a:noFill/>
          <a:ln/>
        </p:spPr>
        <p:txBody>
          <a:bodyPr wrap="square" lIns="0" tIns="0" rIns="0" bIns="0" rtlCol="0" anchor="t"/>
          <a:lstStyle/>
          <a:p>
            <a:pPr algn="l" indent="0" marL="0">
              <a:lnSpc>
                <a:spcPct val="116000"/>
              </a:lnSpc>
              <a:buNone/>
            </a:pPr>
            <a:r>
              <a:rPr lang="en-US" sz="1500" dirty="0">
                <a:solidFill>
                  <a:srgbClr val="111827"/>
                </a:solidFill>
                <a:latin typeface="Calibri" pitchFamily="34" charset="0"/>
                <a:ea typeface="Calibri" pitchFamily="34" charset="-122"/>
                <a:cs typeface="Calibri" pitchFamily="34" charset="-120"/>
              </a:rPr>
              <a:t>Mini water-cycle investigation</a:t>
            </a:r>
            <a:endParaRPr lang="en-US" sz="1500" dirty="0"/>
          </a:p>
        </p:txBody>
      </p:sp>
      <p:sp>
        <p:nvSpPr>
          <p:cNvPr id="12" name="Text 9"/>
          <p:cNvSpPr/>
          <p:nvPr/>
        </p:nvSpPr>
        <p:spPr>
          <a:xfrm>
            <a:off x="749808" y="1682496"/>
            <a:ext cx="10680192" cy="310896"/>
          </a:xfrm>
          <a:prstGeom prst="rect">
            <a:avLst/>
          </a:prstGeom>
          <a:noFill/>
          <a:ln/>
        </p:spPr>
        <p:txBody>
          <a:bodyPr wrap="square" lIns="0" tIns="0" rIns="0" bIns="0" rtlCol="0" anchor="t"/>
          <a:lstStyle/>
          <a:p>
            <a:pPr algn="l" indent="0" marL="0">
              <a:lnSpc>
                <a:spcPct val="116000"/>
              </a:lnSpc>
              <a:buNone/>
            </a:pPr>
            <a:r>
              <a:rPr lang="en-US" sz="1500" dirty="0">
                <a:solidFill>
                  <a:srgbClr val="111827"/>
                </a:solidFill>
                <a:latin typeface="Calibri" pitchFamily="34" charset="0"/>
                <a:ea typeface="Calibri" pitchFamily="34" charset="-122"/>
                <a:cs typeface="Calibri" pitchFamily="34" charset="-120"/>
              </a:rPr>
              <a:t>Challenge: identify one limitation and improve the method.</a:t>
            </a:r>
            <a:endParaRPr lang="en-US" sz="1500" dirty="0"/>
          </a:p>
        </p:txBody>
      </p:sp>
      <p:sp>
        <p:nvSpPr>
          <p:cNvPr id="13" name="Shape 10"/>
          <p:cNvSpPr/>
          <p:nvPr/>
        </p:nvSpPr>
        <p:spPr>
          <a:xfrm>
            <a:off x="749808" y="2212848"/>
            <a:ext cx="377190" cy="377190"/>
          </a:xfrm>
          <a:prstGeom prst="ellipse">
            <a:avLst/>
          </a:prstGeom>
          <a:solidFill>
            <a:srgbClr val="087866"/>
          </a:solidFill>
          <a:ln w="12700">
            <a:solidFill>
              <a:srgbClr val="087866"/>
            </a:solidFill>
            <a:prstDash val="solid"/>
          </a:ln>
        </p:spPr>
      </p:sp>
      <p:sp>
        <p:nvSpPr>
          <p:cNvPr id="14" name="Text 11"/>
          <p:cNvSpPr/>
          <p:nvPr/>
        </p:nvSpPr>
        <p:spPr>
          <a:xfrm>
            <a:off x="749808" y="2212848"/>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5" name="Text 12"/>
          <p:cNvSpPr/>
          <p:nvPr/>
        </p:nvSpPr>
        <p:spPr>
          <a:xfrm>
            <a:off x="1273302" y="2194560"/>
            <a:ext cx="1017498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Cover warm water in a clear container with film; place ice above one side.</a:t>
            </a:r>
            <a:endParaRPr lang="en-US" sz="2200" dirty="0"/>
          </a:p>
        </p:txBody>
      </p:sp>
      <p:sp>
        <p:nvSpPr>
          <p:cNvPr id="16" name="Shape 13"/>
          <p:cNvSpPr/>
          <p:nvPr/>
        </p:nvSpPr>
        <p:spPr>
          <a:xfrm>
            <a:off x="749808" y="3385312"/>
            <a:ext cx="377190" cy="377190"/>
          </a:xfrm>
          <a:prstGeom prst="ellipse">
            <a:avLst/>
          </a:prstGeom>
          <a:solidFill>
            <a:srgbClr val="087866"/>
          </a:solidFill>
          <a:ln w="12700">
            <a:solidFill>
              <a:srgbClr val="087866"/>
            </a:solidFill>
            <a:prstDash val="solid"/>
          </a:ln>
        </p:spPr>
      </p:sp>
      <p:sp>
        <p:nvSpPr>
          <p:cNvPr id="17" name="Text 14"/>
          <p:cNvSpPr/>
          <p:nvPr/>
        </p:nvSpPr>
        <p:spPr>
          <a:xfrm>
            <a:off x="749808" y="3385312"/>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8" name="Text 15"/>
          <p:cNvSpPr/>
          <p:nvPr/>
        </p:nvSpPr>
        <p:spPr>
          <a:xfrm>
            <a:off x="1273302" y="3367024"/>
            <a:ext cx="10174986" cy="395478"/>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Predict where droplets will appear.</a:t>
            </a:r>
            <a:endParaRPr lang="en-US" sz="2200" dirty="0"/>
          </a:p>
        </p:txBody>
      </p:sp>
      <p:sp>
        <p:nvSpPr>
          <p:cNvPr id="19" name="Shape 16"/>
          <p:cNvSpPr/>
          <p:nvPr/>
        </p:nvSpPr>
        <p:spPr>
          <a:xfrm>
            <a:off x="749808" y="4237990"/>
            <a:ext cx="377190" cy="377190"/>
          </a:xfrm>
          <a:prstGeom prst="ellipse">
            <a:avLst/>
          </a:prstGeom>
          <a:solidFill>
            <a:srgbClr val="087866"/>
          </a:solidFill>
          <a:ln w="12700">
            <a:solidFill>
              <a:srgbClr val="087866"/>
            </a:solidFill>
            <a:prstDash val="solid"/>
          </a:ln>
        </p:spPr>
      </p:sp>
      <p:sp>
        <p:nvSpPr>
          <p:cNvPr id="20" name="Text 17"/>
          <p:cNvSpPr/>
          <p:nvPr/>
        </p:nvSpPr>
        <p:spPr>
          <a:xfrm>
            <a:off x="749808" y="4237990"/>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1" name="Text 18"/>
          <p:cNvSpPr/>
          <p:nvPr/>
        </p:nvSpPr>
        <p:spPr>
          <a:xfrm>
            <a:off x="1273302" y="4219702"/>
            <a:ext cx="10174986" cy="395478"/>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Record observations every two minutes for ten minutes.</a:t>
            </a:r>
            <a:endParaRPr lang="en-US" sz="2200" dirty="0"/>
          </a:p>
        </p:txBody>
      </p:sp>
      <p:sp>
        <p:nvSpPr>
          <p:cNvPr id="22" name="Shape 19"/>
          <p:cNvSpPr/>
          <p:nvPr/>
        </p:nvSpPr>
        <p:spPr>
          <a:xfrm>
            <a:off x="749808" y="5090668"/>
            <a:ext cx="377190" cy="377190"/>
          </a:xfrm>
          <a:prstGeom prst="ellipse">
            <a:avLst/>
          </a:prstGeom>
          <a:solidFill>
            <a:srgbClr val="087866"/>
          </a:solidFill>
          <a:ln w="12700">
            <a:solidFill>
              <a:srgbClr val="087866"/>
            </a:solidFill>
            <a:prstDash val="solid"/>
          </a:ln>
        </p:spPr>
      </p:sp>
      <p:sp>
        <p:nvSpPr>
          <p:cNvPr id="23" name="Text 20"/>
          <p:cNvSpPr/>
          <p:nvPr/>
        </p:nvSpPr>
        <p:spPr>
          <a:xfrm>
            <a:off x="749808" y="5090668"/>
            <a:ext cx="377190" cy="37719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4" name="Text 21"/>
          <p:cNvSpPr/>
          <p:nvPr/>
        </p:nvSpPr>
        <p:spPr>
          <a:xfrm>
            <a:off x="1273302" y="5072380"/>
            <a:ext cx="1017498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Submit a labelled diagram and 120-word particle explanation next lesson.</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Exit Ticket</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11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9851816" cy="73152"/>
          </a:xfrm>
          <a:prstGeom prst="roundRect">
            <a:avLst>
              <a:gd name="adj" fmla="val 50000"/>
            </a:avLst>
          </a:prstGeom>
          <a:solidFill>
            <a:srgbClr val="0A8F7A"/>
          </a:solidFill>
          <a:ln w="12700">
            <a:solidFill>
              <a:srgbClr val="0A8F7A"/>
            </a:solidFill>
            <a:prstDash val="solid"/>
          </a:ln>
        </p:spPr>
      </p:sp>
      <p:sp>
        <p:nvSpPr>
          <p:cNvPr id="11" name="Shape 8"/>
          <p:cNvSpPr/>
          <p:nvPr/>
        </p:nvSpPr>
        <p:spPr>
          <a:xfrm>
            <a:off x="941832" y="2136915"/>
            <a:ext cx="347701" cy="347701"/>
          </a:xfrm>
          <a:prstGeom prst="rect">
            <a:avLst/>
          </a:prstGeom>
          <a:solidFill>
            <a:srgbClr val="FFFFFF">
              <a:alpha val="0"/>
            </a:srgbClr>
          </a:solidFill>
          <a:ln w="12700">
            <a:solidFill>
              <a:srgbClr val="087866"/>
            </a:solidFill>
            <a:prstDash val="solid"/>
          </a:ln>
        </p:spPr>
      </p:sp>
      <p:sp>
        <p:nvSpPr>
          <p:cNvPr id="12" name="Text 9"/>
          <p:cNvSpPr/>
          <p:nvPr/>
        </p:nvSpPr>
        <p:spPr>
          <a:xfrm>
            <a:off x="1506474" y="2069592"/>
            <a:ext cx="9923526" cy="845312"/>
          </a:xfrm>
          <a:prstGeom prst="rect">
            <a:avLst/>
          </a:prstGeom>
          <a:noFill/>
          <a:ln/>
        </p:spPr>
        <p:txBody>
          <a:bodyPr wrap="square" lIns="0" tIns="0" rIns="0" bIns="0" rtlCol="0" anchor="t"/>
          <a:lstStyle/>
          <a:p>
            <a:pPr algn="l" indent="0" marL="0">
              <a:lnSpc>
                <a:spcPct val="116000"/>
              </a:lnSpc>
              <a:buNone/>
            </a:pPr>
            <a:r>
              <a:rPr lang="en-US" sz="2600" dirty="0">
                <a:solidFill>
                  <a:srgbClr val="111827"/>
                </a:solidFill>
                <a:latin typeface="Calibri" pitchFamily="34" charset="0"/>
                <a:ea typeface="Calibri" pitchFamily="34" charset="-122"/>
                <a:cs typeface="Calibri" pitchFamily="34" charset="-120"/>
              </a:rPr>
              <a:t>What change of state turns liquid water into water vapour?</a:t>
            </a:r>
            <a:endParaRPr lang="en-US" sz="2600" dirty="0"/>
          </a:p>
        </p:txBody>
      </p:sp>
      <p:sp>
        <p:nvSpPr>
          <p:cNvPr id="13" name="Shape 10"/>
          <p:cNvSpPr/>
          <p:nvPr/>
        </p:nvSpPr>
        <p:spPr>
          <a:xfrm>
            <a:off x="914400" y="3166364"/>
            <a:ext cx="10515600" cy="0"/>
          </a:xfrm>
          <a:prstGeom prst="line">
            <a:avLst/>
          </a:prstGeom>
          <a:noFill/>
          <a:ln w="12700">
            <a:solidFill>
              <a:srgbClr val="CFF6ED"/>
            </a:solidFill>
            <a:prstDash val="solid"/>
          </a:ln>
        </p:spPr>
      </p:sp>
      <p:sp>
        <p:nvSpPr>
          <p:cNvPr id="14" name="Shape 11"/>
          <p:cNvSpPr/>
          <p:nvPr/>
        </p:nvSpPr>
        <p:spPr>
          <a:xfrm>
            <a:off x="941832" y="3485147"/>
            <a:ext cx="347701" cy="347701"/>
          </a:xfrm>
          <a:prstGeom prst="rect">
            <a:avLst/>
          </a:prstGeom>
          <a:solidFill>
            <a:srgbClr val="FFFFFF">
              <a:alpha val="0"/>
            </a:srgbClr>
          </a:solidFill>
          <a:ln w="12700">
            <a:solidFill>
              <a:srgbClr val="087866"/>
            </a:solidFill>
            <a:prstDash val="solid"/>
          </a:ln>
        </p:spPr>
      </p:sp>
      <p:sp>
        <p:nvSpPr>
          <p:cNvPr id="15" name="Text 12"/>
          <p:cNvSpPr/>
          <p:nvPr/>
        </p:nvSpPr>
        <p:spPr>
          <a:xfrm>
            <a:off x="1506474" y="3417824"/>
            <a:ext cx="9923526" cy="845312"/>
          </a:xfrm>
          <a:prstGeom prst="rect">
            <a:avLst/>
          </a:prstGeom>
          <a:noFill/>
          <a:ln/>
        </p:spPr>
        <p:txBody>
          <a:bodyPr wrap="square" lIns="0" tIns="0" rIns="0" bIns="0" rtlCol="0" anchor="t"/>
          <a:lstStyle/>
          <a:p>
            <a:pPr algn="l" indent="0" marL="0">
              <a:lnSpc>
                <a:spcPct val="116000"/>
              </a:lnSpc>
              <a:buNone/>
            </a:pPr>
            <a:r>
              <a:rPr lang="en-US" sz="2600" dirty="0">
                <a:solidFill>
                  <a:srgbClr val="111827"/>
                </a:solidFill>
                <a:latin typeface="Calibri" pitchFamily="34" charset="0"/>
                <a:ea typeface="Calibri" pitchFamily="34" charset="-122"/>
                <a:cs typeface="Calibri" pitchFamily="34" charset="-120"/>
              </a:rPr>
              <a:t>Explain why droplets form on the outside of a cold bottle using particle movement.</a:t>
            </a:r>
            <a:endParaRPr lang="en-US" sz="2600" dirty="0"/>
          </a:p>
        </p:txBody>
      </p:sp>
      <p:sp>
        <p:nvSpPr>
          <p:cNvPr id="16" name="Shape 13"/>
          <p:cNvSpPr/>
          <p:nvPr/>
        </p:nvSpPr>
        <p:spPr>
          <a:xfrm>
            <a:off x="914400" y="4514596"/>
            <a:ext cx="10515600" cy="0"/>
          </a:xfrm>
          <a:prstGeom prst="line">
            <a:avLst/>
          </a:prstGeom>
          <a:noFill/>
          <a:ln w="12700">
            <a:solidFill>
              <a:srgbClr val="CFF6ED"/>
            </a:solidFill>
            <a:prstDash val="solid"/>
          </a:ln>
        </p:spPr>
      </p:sp>
      <p:sp>
        <p:nvSpPr>
          <p:cNvPr id="17" name="Shape 14"/>
          <p:cNvSpPr/>
          <p:nvPr/>
        </p:nvSpPr>
        <p:spPr>
          <a:xfrm>
            <a:off x="941832" y="4833379"/>
            <a:ext cx="347701" cy="347701"/>
          </a:xfrm>
          <a:prstGeom prst="rect">
            <a:avLst/>
          </a:prstGeom>
          <a:solidFill>
            <a:srgbClr val="FFFFFF">
              <a:alpha val="0"/>
            </a:srgbClr>
          </a:solidFill>
          <a:ln w="12700">
            <a:solidFill>
              <a:srgbClr val="087866"/>
            </a:solidFill>
            <a:prstDash val="solid"/>
          </a:ln>
        </p:spPr>
      </p:sp>
      <p:sp>
        <p:nvSpPr>
          <p:cNvPr id="18" name="Text 15"/>
          <p:cNvSpPr/>
          <p:nvPr/>
        </p:nvSpPr>
        <p:spPr>
          <a:xfrm>
            <a:off x="1506474" y="4766056"/>
            <a:ext cx="9923526" cy="845312"/>
          </a:xfrm>
          <a:prstGeom prst="rect">
            <a:avLst/>
          </a:prstGeom>
          <a:noFill/>
          <a:ln/>
        </p:spPr>
        <p:txBody>
          <a:bodyPr wrap="square" lIns="0" tIns="0" rIns="0" bIns="0" rtlCol="0" anchor="t"/>
          <a:lstStyle/>
          <a:p>
            <a:pPr algn="l" indent="0" marL="0">
              <a:lnSpc>
                <a:spcPct val="116000"/>
              </a:lnSpc>
              <a:buNone/>
            </a:pPr>
            <a:r>
              <a:rPr lang="en-US" sz="2600" dirty="0">
                <a:solidFill>
                  <a:srgbClr val="111827"/>
                </a:solidFill>
                <a:latin typeface="Calibri" pitchFamily="34" charset="0"/>
                <a:ea typeface="Calibri" pitchFamily="34" charset="-122"/>
                <a:cs typeface="Calibri" pitchFamily="34" charset="-120"/>
              </a:rPr>
              <a:t>Predict one effect of stronger solar heating on the water cycle and justify your answer.</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Success Criteria and Self Evaluation</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12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10747436" cy="73152"/>
          </a:xfrm>
          <a:prstGeom prst="roundRect">
            <a:avLst>
              <a:gd name="adj" fmla="val 50000"/>
            </a:avLst>
          </a:prstGeom>
          <a:solidFill>
            <a:srgbClr val="0A8F7A"/>
          </a:solidFill>
          <a:ln w="12700">
            <a:solidFill>
              <a:srgbClr val="0A8F7A"/>
            </a:solidFill>
            <a:prstDash val="solid"/>
          </a:ln>
        </p:spPr>
      </p:sp>
      <p:sp>
        <p:nvSpPr>
          <p:cNvPr id="11" name="Shape 8"/>
          <p:cNvSpPr/>
          <p:nvPr/>
        </p:nvSpPr>
        <p:spPr>
          <a:xfrm>
            <a:off x="941832" y="1723987"/>
            <a:ext cx="294208" cy="294208"/>
          </a:xfrm>
          <a:prstGeom prst="rect">
            <a:avLst/>
          </a:prstGeom>
          <a:solidFill>
            <a:srgbClr val="FFFFFF">
              <a:alpha val="0"/>
            </a:srgbClr>
          </a:solidFill>
          <a:ln w="12700">
            <a:solidFill>
              <a:srgbClr val="087866"/>
            </a:solidFill>
            <a:prstDash val="solid"/>
          </a:ln>
        </p:spPr>
      </p:sp>
      <p:sp>
        <p:nvSpPr>
          <p:cNvPr id="12" name="Text 9"/>
          <p:cNvSpPr/>
          <p:nvPr/>
        </p:nvSpPr>
        <p:spPr>
          <a:xfrm>
            <a:off x="1437894" y="1664208"/>
            <a:ext cx="999210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I can label evaporation, condensation, precipitation and collection on an unfamiliar diagram.</a:t>
            </a:r>
            <a:endParaRPr lang="en-US" sz="2200" dirty="0"/>
          </a:p>
        </p:txBody>
      </p:sp>
      <p:sp>
        <p:nvSpPr>
          <p:cNvPr id="13" name="Shape 10"/>
          <p:cNvSpPr/>
          <p:nvPr/>
        </p:nvSpPr>
        <p:spPr>
          <a:xfrm>
            <a:off x="914400" y="2516473"/>
            <a:ext cx="10515600" cy="0"/>
          </a:xfrm>
          <a:prstGeom prst="line">
            <a:avLst/>
          </a:prstGeom>
          <a:noFill/>
          <a:ln w="12700">
            <a:solidFill>
              <a:srgbClr val="CFF6ED"/>
            </a:solidFill>
            <a:prstDash val="solid"/>
          </a:ln>
        </p:spPr>
      </p:sp>
      <p:sp>
        <p:nvSpPr>
          <p:cNvPr id="14" name="Shape 11"/>
          <p:cNvSpPr/>
          <p:nvPr/>
        </p:nvSpPr>
        <p:spPr>
          <a:xfrm>
            <a:off x="941832" y="2713253"/>
            <a:ext cx="294208" cy="294208"/>
          </a:xfrm>
          <a:prstGeom prst="rect">
            <a:avLst/>
          </a:prstGeom>
          <a:solidFill>
            <a:srgbClr val="FFFFFF">
              <a:alpha val="0"/>
            </a:srgbClr>
          </a:solidFill>
          <a:ln w="12700">
            <a:solidFill>
              <a:srgbClr val="087866"/>
            </a:solidFill>
            <a:prstDash val="solid"/>
          </a:ln>
        </p:spPr>
      </p:sp>
      <p:sp>
        <p:nvSpPr>
          <p:cNvPr id="15" name="Text 12"/>
          <p:cNvSpPr/>
          <p:nvPr/>
        </p:nvSpPr>
        <p:spPr>
          <a:xfrm>
            <a:off x="1437894" y="2653475"/>
            <a:ext cx="999210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I can explain evaporation and condensation using energy and particles.</a:t>
            </a:r>
            <a:endParaRPr lang="en-US" sz="2200" dirty="0"/>
          </a:p>
        </p:txBody>
      </p:sp>
      <p:sp>
        <p:nvSpPr>
          <p:cNvPr id="16" name="Shape 13"/>
          <p:cNvSpPr/>
          <p:nvPr/>
        </p:nvSpPr>
        <p:spPr>
          <a:xfrm>
            <a:off x="914400" y="3505740"/>
            <a:ext cx="10515600" cy="0"/>
          </a:xfrm>
          <a:prstGeom prst="line">
            <a:avLst/>
          </a:prstGeom>
          <a:noFill/>
          <a:ln w="12700">
            <a:solidFill>
              <a:srgbClr val="CFF6ED"/>
            </a:solidFill>
            <a:prstDash val="solid"/>
          </a:ln>
        </p:spPr>
      </p:sp>
      <p:sp>
        <p:nvSpPr>
          <p:cNvPr id="17" name="Shape 14"/>
          <p:cNvSpPr/>
          <p:nvPr/>
        </p:nvSpPr>
        <p:spPr>
          <a:xfrm>
            <a:off x="941832" y="3702520"/>
            <a:ext cx="294208" cy="294208"/>
          </a:xfrm>
          <a:prstGeom prst="rect">
            <a:avLst/>
          </a:prstGeom>
          <a:solidFill>
            <a:srgbClr val="FFFFFF">
              <a:alpha val="0"/>
            </a:srgbClr>
          </a:solidFill>
          <a:ln w="12700">
            <a:solidFill>
              <a:srgbClr val="087866"/>
            </a:solidFill>
            <a:prstDash val="solid"/>
          </a:ln>
        </p:spPr>
      </p:sp>
      <p:sp>
        <p:nvSpPr>
          <p:cNvPr id="18" name="Text 15"/>
          <p:cNvSpPr/>
          <p:nvPr/>
        </p:nvSpPr>
        <p:spPr>
          <a:xfrm>
            <a:off x="1437894" y="3642741"/>
            <a:ext cx="999210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I can trace water through four stages without creating or losing water.</a:t>
            </a:r>
            <a:endParaRPr lang="en-US" sz="2200" dirty="0"/>
          </a:p>
        </p:txBody>
      </p:sp>
      <p:sp>
        <p:nvSpPr>
          <p:cNvPr id="19" name="Shape 16"/>
          <p:cNvSpPr/>
          <p:nvPr/>
        </p:nvSpPr>
        <p:spPr>
          <a:xfrm>
            <a:off x="914400" y="4495006"/>
            <a:ext cx="10515600" cy="0"/>
          </a:xfrm>
          <a:prstGeom prst="line">
            <a:avLst/>
          </a:prstGeom>
          <a:noFill/>
          <a:ln w="12700">
            <a:solidFill>
              <a:srgbClr val="CFF6ED"/>
            </a:solidFill>
            <a:prstDash val="solid"/>
          </a:ln>
        </p:spPr>
      </p:sp>
      <p:sp>
        <p:nvSpPr>
          <p:cNvPr id="20" name="Shape 17"/>
          <p:cNvSpPr/>
          <p:nvPr/>
        </p:nvSpPr>
        <p:spPr>
          <a:xfrm>
            <a:off x="941832" y="4691786"/>
            <a:ext cx="294208" cy="294208"/>
          </a:xfrm>
          <a:prstGeom prst="rect">
            <a:avLst/>
          </a:prstGeom>
          <a:solidFill>
            <a:srgbClr val="FFFFFF">
              <a:alpha val="0"/>
            </a:srgbClr>
          </a:solidFill>
          <a:ln w="12700">
            <a:solidFill>
              <a:srgbClr val="087866"/>
            </a:solidFill>
            <a:prstDash val="solid"/>
          </a:ln>
        </p:spPr>
      </p:sp>
      <p:sp>
        <p:nvSpPr>
          <p:cNvPr id="21" name="Text 18"/>
          <p:cNvSpPr/>
          <p:nvPr/>
        </p:nvSpPr>
        <p:spPr>
          <a:xfrm>
            <a:off x="1437894" y="4632008"/>
            <a:ext cx="9992106" cy="395478"/>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I can use evidence to predict how temperature affects evaporation.</a:t>
            </a:r>
            <a:endParaRPr lang="en-US" sz="2200" dirty="0"/>
          </a:p>
        </p:txBody>
      </p:sp>
      <p:sp>
        <p:nvSpPr>
          <p:cNvPr id="22" name="Shape 19"/>
          <p:cNvSpPr/>
          <p:nvPr/>
        </p:nvSpPr>
        <p:spPr>
          <a:xfrm>
            <a:off x="914400" y="5164487"/>
            <a:ext cx="10515600" cy="0"/>
          </a:xfrm>
          <a:prstGeom prst="line">
            <a:avLst/>
          </a:prstGeom>
          <a:noFill/>
          <a:ln w="12700">
            <a:solidFill>
              <a:srgbClr val="CFF6ED"/>
            </a:solidFill>
            <a:prstDash val="solid"/>
          </a:ln>
        </p:spPr>
      </p:sp>
      <p:sp>
        <p:nvSpPr>
          <p:cNvPr id="23" name="Shape 20"/>
          <p:cNvSpPr/>
          <p:nvPr/>
        </p:nvSpPr>
        <p:spPr>
          <a:xfrm>
            <a:off x="941832" y="5361267"/>
            <a:ext cx="294208" cy="294208"/>
          </a:xfrm>
          <a:prstGeom prst="rect">
            <a:avLst/>
          </a:prstGeom>
          <a:solidFill>
            <a:srgbClr val="FFFFFF">
              <a:alpha val="0"/>
            </a:srgbClr>
          </a:solidFill>
          <a:ln w="12700">
            <a:solidFill>
              <a:srgbClr val="087866"/>
            </a:solidFill>
            <a:prstDash val="solid"/>
          </a:ln>
        </p:spPr>
      </p:sp>
      <p:sp>
        <p:nvSpPr>
          <p:cNvPr id="24" name="Text 21"/>
          <p:cNvSpPr/>
          <p:nvPr/>
        </p:nvSpPr>
        <p:spPr>
          <a:xfrm>
            <a:off x="1437894" y="5301488"/>
            <a:ext cx="9992106" cy="715264"/>
          </a:xfrm>
          <a:prstGeom prst="rect">
            <a:avLst/>
          </a:prstGeom>
          <a:noFill/>
          <a:ln/>
        </p:spPr>
        <p:txBody>
          <a:bodyPr wrap="square" lIns="0" tIns="0" rIns="0" bIns="0" rtlCol="0" anchor="t"/>
          <a:lstStyle/>
          <a:p>
            <a:pPr algn="l" indent="0" marL="0">
              <a:lnSpc>
                <a:spcPct val="116000"/>
              </a:lnSpc>
              <a:buNone/>
            </a:pPr>
            <a:r>
              <a:rPr lang="en-US" sz="2200" dirty="0">
                <a:solidFill>
                  <a:srgbClr val="111827"/>
                </a:solidFill>
                <a:latin typeface="Calibri" pitchFamily="34" charset="0"/>
                <a:ea typeface="Calibri" pitchFamily="34" charset="-122"/>
                <a:cs typeface="Calibri" pitchFamily="34" charset="-120"/>
              </a:rPr>
              <a:t>Self-check: cite evidence for one criterion and select one to improve.</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21792" y="347472"/>
            <a:ext cx="10948111" cy="713232"/>
          </a:xfrm>
          <a:prstGeom prst="rect">
            <a:avLst/>
          </a:prstGeom>
          <a:noFill/>
          <a:ln/>
        </p:spPr>
        <p:txBody>
          <a:bodyPr wrap="square" lIns="0" tIns="0" rIns="0" bIns="0" rtlCol="0" anchor="ctr"/>
          <a:lstStyle/>
          <a:p>
            <a:pPr algn="l" indent="0" marL="0">
              <a:lnSpc>
                <a:spcPct val="116000"/>
              </a:lnSpc>
              <a:buNone/>
            </a:pPr>
            <a:r>
              <a:rPr lang="en-US" sz="3400" b="1" dirty="0">
                <a:solidFill>
                  <a:srgbClr val="111827"/>
                </a:solidFill>
                <a:latin typeface="Calibri" pitchFamily="34" charset="0"/>
                <a:ea typeface="Calibri" pitchFamily="34" charset="-122"/>
                <a:cs typeface="Calibri" pitchFamily="34" charset="-120"/>
              </a:rPr>
              <a:t>Lesson Takeaway</a:t>
            </a:r>
            <a:endParaRPr lang="en-US" sz="3400" dirty="0"/>
          </a:p>
        </p:txBody>
      </p:sp>
      <p:sp>
        <p:nvSpPr>
          <p:cNvPr id="3" name="Shape 1"/>
          <p:cNvSpPr/>
          <p:nvPr/>
        </p:nvSpPr>
        <p:spPr>
          <a:xfrm>
            <a:off x="621792" y="1207008"/>
            <a:ext cx="10948111" cy="0"/>
          </a:xfrm>
          <a:prstGeom prst="line">
            <a:avLst/>
          </a:prstGeom>
          <a:noFill/>
          <a:ln w="12700">
            <a:solidFill>
              <a:srgbClr val="CFF6ED"/>
            </a:solidFill>
            <a:prstDash val="solid"/>
          </a:ln>
        </p:spPr>
      </p:sp>
      <p:sp>
        <p:nvSpPr>
          <p:cNvPr id="4" name="Shape 2"/>
          <p:cNvSpPr/>
          <p:nvPr/>
        </p:nvSpPr>
        <p:spPr>
          <a:xfrm>
            <a:off x="0" y="6492240"/>
            <a:ext cx="12191695" cy="365760"/>
          </a:xfrm>
          <a:prstGeom prst="rect">
            <a:avLst/>
          </a:prstGeom>
          <a:solidFill>
            <a:srgbClr val="F0FDFB"/>
          </a:solidFill>
          <a:ln w="12700">
            <a:solidFill>
              <a:srgbClr val="F0FDFB"/>
            </a:solidFill>
            <a:prstDash val="solid"/>
          </a:ln>
        </p:spPr>
      </p:sp>
      <p:sp>
        <p:nvSpPr>
          <p:cNvPr id="5" name="Shape 3"/>
          <p:cNvSpPr/>
          <p:nvPr/>
        </p:nvSpPr>
        <p:spPr>
          <a:xfrm>
            <a:off x="0" y="6492240"/>
            <a:ext cx="12191695" cy="0"/>
          </a:xfrm>
          <a:prstGeom prst="line">
            <a:avLst/>
          </a:prstGeom>
          <a:noFill/>
          <a:ln w="12700">
            <a:solidFill>
              <a:srgbClr val="A7F3E8"/>
            </a:solidFill>
            <a:prstDash val="solid"/>
          </a:ln>
        </p:spPr>
      </p:sp>
      <p:sp>
        <p:nvSpPr>
          <p:cNvPr id="6" name="Text 4"/>
          <p:cNvSpPr/>
          <p:nvPr/>
        </p:nvSpPr>
        <p:spPr>
          <a:xfrm>
            <a:off x="274320" y="6556248"/>
            <a:ext cx="4754880" cy="237744"/>
          </a:xfrm>
          <a:prstGeom prst="rect">
            <a:avLst/>
          </a:prstGeom>
          <a:noFill/>
          <a:ln/>
        </p:spPr>
        <p:txBody>
          <a:bodyPr wrap="square" rtlCol="0" anchor="ctr"/>
          <a:lstStyle/>
          <a:p>
            <a:pPr indent="0" marL="0">
              <a:buNone/>
            </a:pPr>
            <a:r>
              <a:rPr lang="en-US" sz="1200" dirty="0">
                <a:solidFill>
                  <a:srgbClr val="087866"/>
                </a:solidFill>
                <a:latin typeface="Calibri" pitchFamily="34" charset="0"/>
                <a:ea typeface="Calibri" pitchFamily="34" charset="-122"/>
                <a:cs typeface="Calibri" pitchFamily="34" charset="-120"/>
              </a:rPr>
              <a:t>Science</a:t>
            </a:r>
            <a:endParaRPr lang="en-US" sz="1200" dirty="0"/>
          </a:p>
        </p:txBody>
      </p:sp>
      <p:pic>
        <p:nvPicPr>
          <p:cNvPr id="7" name="Image 0" descr="Layah">    </p:cNvPr>
          <p:cNvPicPr>
            <a:picLocks noChangeAspect="1"/>
          </p:cNvPicPr>
          <p:nvPr/>
        </p:nvPicPr>
        <p:blipFill>
          <a:blip r:embed="rId1"/>
          <a:stretch>
            <a:fillRect/>
          </a:stretch>
        </p:blipFill>
        <p:spPr>
          <a:xfrm>
            <a:off x="5394960" y="6528816"/>
            <a:ext cx="1051560" cy="292608"/>
          </a:xfrm>
          <a:prstGeom prst="rect">
            <a:avLst/>
          </a:prstGeom>
        </p:spPr>
      </p:pic>
      <p:sp>
        <p:nvSpPr>
          <p:cNvPr id="8" name="Text 5"/>
          <p:cNvSpPr/>
          <p:nvPr/>
        </p:nvSpPr>
        <p:spPr>
          <a:xfrm>
            <a:off x="10225735" y="6556248"/>
            <a:ext cx="1691640" cy="237744"/>
          </a:xfrm>
          <a:prstGeom prst="rect">
            <a:avLst/>
          </a:prstGeom>
          <a:noFill/>
          <a:ln/>
        </p:spPr>
        <p:txBody>
          <a:bodyPr wrap="square" rtlCol="0" anchor="ctr"/>
          <a:lstStyle/>
          <a:p>
            <a:pPr algn="r" indent="0" marL="0">
              <a:buNone/>
            </a:pPr>
            <a:r>
              <a:rPr lang="en-US" sz="1200" dirty="0">
                <a:solidFill>
                  <a:srgbClr val="087866"/>
                </a:solidFill>
                <a:latin typeface="Calibri" pitchFamily="34" charset="0"/>
                <a:ea typeface="Calibri" pitchFamily="34" charset="-122"/>
                <a:cs typeface="Calibri" pitchFamily="34" charset="-120"/>
              </a:rPr>
              <a:t>13 / 13</a:t>
            </a:r>
            <a:endParaRPr lang="en-US" sz="1200" dirty="0"/>
          </a:p>
        </p:txBody>
      </p:sp>
      <p:sp>
        <p:nvSpPr>
          <p:cNvPr id="9" name="Shape 6"/>
          <p:cNvSpPr/>
          <p:nvPr/>
        </p:nvSpPr>
        <p:spPr>
          <a:xfrm>
            <a:off x="274320" y="6510528"/>
            <a:ext cx="11643055" cy="73152"/>
          </a:xfrm>
          <a:prstGeom prst="roundRect">
            <a:avLst>
              <a:gd name="adj" fmla="val 50000"/>
            </a:avLst>
          </a:prstGeom>
          <a:solidFill>
            <a:srgbClr val="CCFAF3"/>
          </a:solidFill>
          <a:ln w="12700">
            <a:solidFill>
              <a:srgbClr val="CCFAF3"/>
            </a:solidFill>
            <a:prstDash val="solid"/>
          </a:ln>
        </p:spPr>
      </p:sp>
      <p:sp>
        <p:nvSpPr>
          <p:cNvPr id="10" name="Shape 7"/>
          <p:cNvSpPr/>
          <p:nvPr/>
        </p:nvSpPr>
        <p:spPr>
          <a:xfrm>
            <a:off x="274320" y="6510528"/>
            <a:ext cx="11643055" cy="73152"/>
          </a:xfrm>
          <a:prstGeom prst="roundRect">
            <a:avLst>
              <a:gd name="adj" fmla="val 50000"/>
            </a:avLst>
          </a:prstGeom>
          <a:solidFill>
            <a:srgbClr val="0A8F7A"/>
          </a:solidFill>
          <a:ln w="12700">
            <a:solidFill>
              <a:srgbClr val="0A8F7A"/>
            </a:solidFill>
            <a:prstDash val="solid"/>
          </a:ln>
        </p:spPr>
      </p:sp>
      <p:sp>
        <p:nvSpPr>
          <p:cNvPr id="11" name="Shape 8"/>
          <p:cNvSpPr/>
          <p:nvPr/>
        </p:nvSpPr>
        <p:spPr>
          <a:xfrm>
            <a:off x="877824" y="1682496"/>
            <a:ext cx="457200" cy="457200"/>
          </a:xfrm>
          <a:prstGeom prst="ellipse">
            <a:avLst/>
          </a:prstGeom>
          <a:solidFill>
            <a:srgbClr val="087866"/>
          </a:solidFill>
          <a:ln w="12700">
            <a:solidFill>
              <a:srgbClr val="087866"/>
            </a:solidFill>
            <a:prstDash val="solid"/>
          </a:ln>
        </p:spPr>
      </p:sp>
      <p:sp>
        <p:nvSpPr>
          <p:cNvPr id="12" name="Text 9"/>
          <p:cNvSpPr/>
          <p:nvPr/>
        </p:nvSpPr>
        <p:spPr>
          <a:xfrm>
            <a:off x="877824" y="1682496"/>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a:t>
            </a:r>
            <a:endParaRPr lang="en-US" sz="1900" dirty="0"/>
          </a:p>
        </p:txBody>
      </p:sp>
      <p:sp>
        <p:nvSpPr>
          <p:cNvPr id="13" name="Text 10"/>
          <p:cNvSpPr/>
          <p:nvPr/>
        </p:nvSpPr>
        <p:spPr>
          <a:xfrm>
            <a:off x="1481328" y="1664208"/>
            <a:ext cx="9912096" cy="475488"/>
          </a:xfrm>
          <a:prstGeom prst="rect">
            <a:avLst/>
          </a:prstGeom>
          <a:noFill/>
          <a:ln/>
        </p:spPr>
        <p:txBody>
          <a:bodyPr wrap="square" lIns="0" tIns="0" rIns="0" bIns="0" rtlCol="0" anchor="t"/>
          <a:lstStyle/>
          <a:p>
            <a:pPr algn="l" indent="0" marL="0">
              <a:lnSpc>
                <a:spcPct val="116000"/>
              </a:lnSpc>
              <a:buNone/>
            </a:pPr>
            <a:r>
              <a:rPr lang="en-US" sz="2800" dirty="0">
                <a:solidFill>
                  <a:srgbClr val="111827"/>
                </a:solidFill>
                <a:latin typeface="Calibri" pitchFamily="34" charset="0"/>
                <a:ea typeface="Calibri" pitchFamily="34" charset="-122"/>
                <a:cs typeface="Calibri" pitchFamily="34" charset="-120"/>
              </a:rPr>
              <a:t>Key takeaway</a:t>
            </a:r>
            <a:endParaRPr lang="en-US" sz="2800" dirty="0"/>
          </a:p>
        </p:txBody>
      </p:sp>
      <p:sp>
        <p:nvSpPr>
          <p:cNvPr id="14" name="Shape 11"/>
          <p:cNvSpPr/>
          <p:nvPr/>
        </p:nvSpPr>
        <p:spPr>
          <a:xfrm>
            <a:off x="877824" y="2426208"/>
            <a:ext cx="10515600" cy="0"/>
          </a:xfrm>
          <a:prstGeom prst="line">
            <a:avLst/>
          </a:prstGeom>
          <a:noFill/>
          <a:ln w="12700">
            <a:solidFill>
              <a:srgbClr val="CFF6ED"/>
            </a:solidFill>
            <a:prstDash val="solid"/>
          </a:ln>
        </p:spPr>
      </p:sp>
      <p:sp>
        <p:nvSpPr>
          <p:cNvPr id="15" name="Shape 12"/>
          <p:cNvSpPr/>
          <p:nvPr/>
        </p:nvSpPr>
        <p:spPr>
          <a:xfrm>
            <a:off x="877824" y="2731008"/>
            <a:ext cx="457200" cy="457200"/>
          </a:xfrm>
          <a:prstGeom prst="ellipse">
            <a:avLst/>
          </a:prstGeom>
          <a:solidFill>
            <a:srgbClr val="087866"/>
          </a:solidFill>
          <a:ln w="12700">
            <a:solidFill>
              <a:srgbClr val="087866"/>
            </a:solidFill>
            <a:prstDash val="solid"/>
          </a:ln>
        </p:spPr>
      </p:sp>
      <p:sp>
        <p:nvSpPr>
          <p:cNvPr id="16" name="Text 13"/>
          <p:cNvSpPr/>
          <p:nvPr/>
        </p:nvSpPr>
        <p:spPr>
          <a:xfrm>
            <a:off x="877824" y="2731008"/>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a:t>
            </a:r>
            <a:endParaRPr lang="en-US" sz="1900" dirty="0"/>
          </a:p>
        </p:txBody>
      </p:sp>
      <p:sp>
        <p:nvSpPr>
          <p:cNvPr id="17" name="Text 14"/>
          <p:cNvSpPr/>
          <p:nvPr/>
        </p:nvSpPr>
        <p:spPr>
          <a:xfrm>
            <a:off x="1481328" y="2712720"/>
            <a:ext cx="9912096" cy="1820672"/>
          </a:xfrm>
          <a:prstGeom prst="rect">
            <a:avLst/>
          </a:prstGeom>
          <a:noFill/>
          <a:ln/>
        </p:spPr>
        <p:txBody>
          <a:bodyPr wrap="square" lIns="0" tIns="0" rIns="0" bIns="0" rtlCol="0" anchor="t"/>
          <a:lstStyle/>
          <a:p>
            <a:pPr algn="l" indent="0" marL="0">
              <a:lnSpc>
                <a:spcPct val="116000"/>
              </a:lnSpc>
              <a:buNone/>
            </a:pPr>
            <a:r>
              <a:rPr lang="en-US" sz="2800" dirty="0">
                <a:solidFill>
                  <a:srgbClr val="111827"/>
                </a:solidFill>
                <a:latin typeface="Calibri" pitchFamily="34" charset="0"/>
                <a:ea typeface="Calibri" pitchFamily="34" charset="-122"/>
                <a:cs typeface="Calibri" pitchFamily="34" charset="-120"/>
              </a:rPr>
              <a:t>Water continually moves between stores because energy drives evaporation, cooling causes condensation, gravity produces precipitation, and water collects before cycling again.</a:t>
            </a:r>
            <a:endParaRPr lang="en-US" sz="2800" dirty="0"/>
          </a:p>
        </p:txBody>
      </p:sp>
      <p:sp>
        <p:nvSpPr>
          <p:cNvPr id="18" name="Shape 15"/>
          <p:cNvSpPr/>
          <p:nvPr/>
        </p:nvSpPr>
        <p:spPr>
          <a:xfrm>
            <a:off x="877824" y="4819904"/>
            <a:ext cx="10515600" cy="0"/>
          </a:xfrm>
          <a:prstGeom prst="line">
            <a:avLst/>
          </a:prstGeom>
          <a:noFill/>
          <a:ln w="12700">
            <a:solidFill>
              <a:srgbClr val="CFF6ED"/>
            </a:solidFill>
            <a:prstDash val="solid"/>
          </a:ln>
        </p:spPr>
      </p:sp>
      <p:sp>
        <p:nvSpPr>
          <p:cNvPr id="19" name="Shape 16"/>
          <p:cNvSpPr/>
          <p:nvPr/>
        </p:nvSpPr>
        <p:spPr>
          <a:xfrm>
            <a:off x="877824" y="5124704"/>
            <a:ext cx="457200" cy="457200"/>
          </a:xfrm>
          <a:prstGeom prst="ellipse">
            <a:avLst/>
          </a:prstGeom>
          <a:solidFill>
            <a:srgbClr val="087866"/>
          </a:solidFill>
          <a:ln w="12700">
            <a:solidFill>
              <a:srgbClr val="087866"/>
            </a:solidFill>
            <a:prstDash val="solid"/>
          </a:ln>
        </p:spPr>
      </p:sp>
      <p:sp>
        <p:nvSpPr>
          <p:cNvPr id="20" name="Text 17"/>
          <p:cNvSpPr/>
          <p:nvPr/>
        </p:nvSpPr>
        <p:spPr>
          <a:xfrm>
            <a:off x="877824" y="5124704"/>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3</a:t>
            </a:r>
            <a:endParaRPr lang="en-US" sz="1900" dirty="0"/>
          </a:p>
        </p:txBody>
      </p:sp>
      <p:sp>
        <p:nvSpPr>
          <p:cNvPr id="21" name="Text 18"/>
          <p:cNvSpPr/>
          <p:nvPr/>
        </p:nvSpPr>
        <p:spPr>
          <a:xfrm>
            <a:off x="1481328" y="5106416"/>
            <a:ext cx="9912096" cy="910336"/>
          </a:xfrm>
          <a:prstGeom prst="rect">
            <a:avLst/>
          </a:prstGeom>
          <a:noFill/>
          <a:ln/>
        </p:spPr>
        <p:txBody>
          <a:bodyPr wrap="square" lIns="0" tIns="0" rIns="0" bIns="0" rtlCol="0" anchor="t"/>
          <a:lstStyle/>
          <a:p>
            <a:pPr algn="l" indent="0" marL="0">
              <a:lnSpc>
                <a:spcPct val="116000"/>
              </a:lnSpc>
              <a:buNone/>
            </a:pPr>
            <a:r>
              <a:rPr lang="en-US" sz="2800" dirty="0">
                <a:solidFill>
                  <a:srgbClr val="111827"/>
                </a:solidFill>
                <a:latin typeface="Calibri" pitchFamily="34" charset="0"/>
                <a:ea typeface="Calibri" pitchFamily="34" charset="-122"/>
                <a:cs typeface="Calibri" pitchFamily="34" charset="-120"/>
              </a:rPr>
              <a:t>Before you leave, state one piece of evidence that shows you met today’s objective.</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Layah.ai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Slides — The Water Cycle</dc:title>
  <dc:subject>Science — The Water Cycle</dc:subject>
  <dc:creator>Layah.ai</dc:creator>
  <cp:lastModifiedBy>Layah.ai</cp:lastModifiedBy>
  <cp:revision>1</cp:revision>
  <dcterms:created xsi:type="dcterms:W3CDTF">2026-10-21T10:14:53Z</dcterms:created>
  <dcterms:modified xsi:type="dcterms:W3CDTF">2026-10-21T10:14:53Z</dcterms:modified>
</cp:coreProperties>
</file>