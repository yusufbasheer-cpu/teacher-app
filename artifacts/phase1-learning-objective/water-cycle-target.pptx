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Tuesday, 20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BEE9E8"/>
          </a:solidFill>
          <a:ln w="12700">
            <a:solidFill>
              <a:srgbClr val="333333">
                <a:alpha val="0"/>
              </a:srgbClr>
            </a:solidFill>
            <a:prstDash val="solid"/>
          </a:ln>
        </p:spPr>
      </p:sp>
      <p:sp>
        <p:nvSpPr>
          <p:cNvPr id="3" name="Shape 1"/>
          <p:cNvSpPr/>
          <p:nvPr/>
        </p:nvSpPr>
        <p:spPr>
          <a:xfrm>
            <a:off x="749808" y="658368"/>
            <a:ext cx="6601968" cy="5532120"/>
          </a:xfrm>
          <a:prstGeom prst="roundRect">
            <a:avLst>
              <a:gd name="adj" fmla="val 1322"/>
            </a:avLst>
          </a:prstGeom>
          <a:solidFill>
            <a:srgbClr val="F7F5EF"/>
          </a:solidFill>
          <a:ln w="12700">
            <a:solidFill>
              <a:srgbClr val="DDE8E5">
                <a:alpha val="70000"/>
              </a:srgbClr>
            </a:solidFill>
            <a:prstDash val="solid"/>
          </a:ln>
        </p:spPr>
      </p:sp>
      <p:sp>
        <p:nvSpPr>
          <p:cNvPr id="4" name="Shape 2"/>
          <p:cNvSpPr/>
          <p:nvPr/>
        </p:nvSpPr>
        <p:spPr>
          <a:xfrm>
            <a:off x="749808" y="658368"/>
            <a:ext cx="109728" cy="5532120"/>
          </a:xfrm>
          <a:prstGeom prst="rect">
            <a:avLst/>
          </a:prstGeom>
          <a:solidFill>
            <a:srgbClr val="0F8B8D"/>
          </a:solidFill>
          <a:ln w="12700">
            <a:solidFill>
              <a:srgbClr val="333333">
                <a:alpha val="0"/>
              </a:srgbClr>
            </a:solidFill>
            <a:prstDash val="solid"/>
          </a:ln>
        </p:spPr>
      </p:sp>
      <p:sp>
        <p:nvSpPr>
          <p:cNvPr id="5" name="Text 3"/>
          <p:cNvSpPr/>
          <p:nvPr/>
        </p:nvSpPr>
        <p:spPr>
          <a:xfrm>
            <a:off x="1048486" y="1405890"/>
            <a:ext cx="5486263" cy="377190"/>
          </a:xfrm>
          <a:prstGeom prst="rect">
            <a:avLst/>
          </a:prstGeom>
          <a:noFill/>
          <a:ln/>
        </p:spPr>
        <p:txBody>
          <a:bodyPr wrap="square" lIns="0" tIns="0" rIns="0" bIns="0" rtlCol="0" anchor="ctr">
            <a:normAutofit/>
          </a:bodyPr>
          <a:lstStyle/>
          <a:p>
            <a:pPr indent="0" marL="0">
              <a:buNone/>
            </a:pPr>
            <a:r>
              <a:rPr lang="en-US" sz="1300" b="1" spc="200" kern="0" dirty="0">
                <a:solidFill>
                  <a:srgbClr val="0F8B8D"/>
                </a:solidFill>
                <a:latin typeface="Poppins" pitchFamily="34" charset="0"/>
                <a:ea typeface="Poppins" pitchFamily="34" charset="-122"/>
                <a:cs typeface="Poppins" pitchFamily="34" charset="-120"/>
              </a:rPr>
              <a:t>LEARNING OBJECTIVES</a:t>
            </a:r>
            <a:endParaRPr lang="en-US" sz="1300" dirty="0"/>
          </a:p>
        </p:txBody>
      </p:sp>
      <p:sp>
        <p:nvSpPr>
          <p:cNvPr id="6" name="Text 4"/>
          <p:cNvSpPr/>
          <p:nvPr/>
        </p:nvSpPr>
        <p:spPr>
          <a:xfrm>
            <a:off x="1048486" y="2002536"/>
            <a:ext cx="5632563" cy="3154680"/>
          </a:xfrm>
          <a:prstGeom prst="rect">
            <a:avLst/>
          </a:prstGeom>
          <a:noFill/>
          <a:ln/>
        </p:spPr>
        <p:txBody>
          <a:bodyPr wrap="square" lIns="0" tIns="0" rIns="0" bIns="0" rtlCol="0" anchor="ctr">
            <a:normAutofit/>
          </a:bodyPr>
          <a:lstStyle/>
          <a:p>
            <a:pPr indent="0" marL="0">
              <a:buNone/>
            </a:pPr>
            <a:r>
              <a:rPr lang="en-US" sz="3100" b="1" dirty="0">
                <a:solidFill>
                  <a:srgbClr val="102A43"/>
                </a:solidFill>
                <a:latin typeface="Poppins" pitchFamily="34" charset="0"/>
                <a:ea typeface="Poppins" pitchFamily="34" charset="-122"/>
                <a:cs typeface="Poppins" pitchFamily="34" charset="-120"/>
              </a:rPr>
              <a:t>Explain how evaporation and condensation transfer water through the water cycle, using particle movement as evidence.</a:t>
            </a:r>
            <a:endParaRPr lang="en-US" sz="3100" dirty="0"/>
          </a:p>
        </p:txBody>
      </p:sp>
      <p:sp>
        <p:nvSpPr>
          <p:cNvPr id="7" name="Text 5"/>
          <p:cNvSpPr/>
          <p:nvPr/>
        </p:nvSpPr>
        <p:spPr>
          <a:xfrm>
            <a:off x="7973568" y="676656"/>
            <a:ext cx="3337560" cy="420624"/>
          </a:xfrm>
          <a:prstGeom prst="rect">
            <a:avLst/>
          </a:prstGeom>
          <a:noFill/>
          <a:ln/>
        </p:spPr>
        <p:txBody>
          <a:bodyPr wrap="square" lIns="0" tIns="0" rIns="0" bIns="0" rtlCol="0" anchor="ctr">
            <a:normAutofit/>
          </a:bodyPr>
          <a:lstStyle/>
          <a:p>
            <a:pPr algn="ctr" indent="0" marL="0">
              <a:buNone/>
            </a:pPr>
            <a:r>
              <a:rPr lang="en-US" sz="1200" b="1" spc="240" kern="0" dirty="0">
                <a:solidFill>
                  <a:srgbClr val="BEE9E8"/>
                </a:solidFill>
                <a:latin typeface="Poppins" pitchFamily="34" charset="0"/>
                <a:ea typeface="Poppins" pitchFamily="34" charset="-122"/>
                <a:cs typeface="Poppins" pitchFamily="34" charset="-120"/>
              </a:rPr>
              <a:t>OUR TARGET</a:t>
            </a:r>
            <a:endParaRPr lang="en-US" sz="1200" dirty="0"/>
          </a:p>
        </p:txBody>
      </p:sp>
      <p:sp>
        <p:nvSpPr>
          <p:cNvPr id="8" name="Shape 6"/>
          <p:cNvSpPr/>
          <p:nvPr/>
        </p:nvSpPr>
        <p:spPr>
          <a:xfrm>
            <a:off x="8019288" y="1961388"/>
            <a:ext cx="3246120" cy="3246120"/>
          </a:xfrm>
          <a:prstGeom prst="ellipse">
            <a:avLst/>
          </a:prstGeom>
          <a:solidFill>
            <a:srgbClr val="BEE9E8">
              <a:alpha val="0"/>
            </a:srgbClr>
          </a:solidFill>
          <a:ln w="12700">
            <a:solidFill>
              <a:srgbClr val="BEE9E8"/>
            </a:solidFill>
            <a:prstDash val="solid"/>
          </a:ln>
        </p:spPr>
      </p:sp>
      <p:sp>
        <p:nvSpPr>
          <p:cNvPr id="9" name="Shape 7"/>
          <p:cNvSpPr/>
          <p:nvPr/>
        </p:nvSpPr>
        <p:spPr>
          <a:xfrm>
            <a:off x="8407908" y="2350008"/>
            <a:ext cx="2468880" cy="2468880"/>
          </a:xfrm>
          <a:prstGeom prst="ellipse">
            <a:avLst/>
          </a:prstGeom>
          <a:solidFill>
            <a:srgbClr val="102A43">
              <a:alpha val="0"/>
            </a:srgbClr>
          </a:solidFill>
          <a:ln w="12700">
            <a:solidFill>
              <a:srgbClr val="0F8B8D"/>
            </a:solidFill>
            <a:prstDash val="solid"/>
          </a:ln>
        </p:spPr>
      </p:sp>
      <p:sp>
        <p:nvSpPr>
          <p:cNvPr id="10" name="Shape 8"/>
          <p:cNvSpPr/>
          <p:nvPr/>
        </p:nvSpPr>
        <p:spPr>
          <a:xfrm>
            <a:off x="8801100" y="2743200"/>
            <a:ext cx="1682496" cy="1682496"/>
          </a:xfrm>
          <a:prstGeom prst="ellipse">
            <a:avLst/>
          </a:prstGeom>
          <a:solidFill>
            <a:srgbClr val="0F8B8D"/>
          </a:solidFill>
          <a:ln w="12700">
            <a:solidFill>
              <a:srgbClr val="BEE9E8"/>
            </a:solidFill>
            <a:prstDash val="solid"/>
          </a:ln>
        </p:spPr>
      </p:sp>
      <p:sp>
        <p:nvSpPr>
          <p:cNvPr id="11" name="Shape 9"/>
          <p:cNvSpPr/>
          <p:nvPr/>
        </p:nvSpPr>
        <p:spPr>
          <a:xfrm>
            <a:off x="9212580" y="3154680"/>
            <a:ext cx="859536" cy="859536"/>
          </a:xfrm>
          <a:prstGeom prst="ellipse">
            <a:avLst/>
          </a:prstGeom>
          <a:solidFill>
            <a:srgbClr val="F7F5EF"/>
          </a:solidFill>
          <a:ln w="12700">
            <a:solidFill>
              <a:srgbClr val="0F8B8D"/>
            </a:solidFill>
            <a:prstDash val="solid"/>
          </a:ln>
        </p:spPr>
      </p:sp>
      <p:sp>
        <p:nvSpPr>
          <p:cNvPr id="12" name="Shape 10"/>
          <p:cNvSpPr/>
          <p:nvPr/>
        </p:nvSpPr>
        <p:spPr>
          <a:xfrm>
            <a:off x="9656064" y="1417320"/>
            <a:ext cx="0" cy="4343400"/>
          </a:xfrm>
          <a:prstGeom prst="line">
            <a:avLst/>
          </a:prstGeom>
          <a:noFill/>
          <a:ln w="12700">
            <a:solidFill>
              <a:srgbClr val="BEE9E8">
                <a:alpha val="52000"/>
              </a:srgbClr>
            </a:solidFill>
            <a:prstDash val="solid"/>
          </a:ln>
        </p:spPr>
      </p:sp>
      <p:sp>
        <p:nvSpPr>
          <p:cNvPr id="13" name="Shape 11"/>
          <p:cNvSpPr/>
          <p:nvPr/>
        </p:nvSpPr>
        <p:spPr>
          <a:xfrm>
            <a:off x="7479792" y="3584448"/>
            <a:ext cx="4343400" cy="0"/>
          </a:xfrm>
          <a:prstGeom prst="line">
            <a:avLst/>
          </a:prstGeom>
          <a:noFill/>
          <a:ln w="12700">
            <a:solidFill>
              <a:srgbClr val="BEE9E8">
                <a:alpha val="52000"/>
              </a:srgbClr>
            </a:solidFill>
            <a:prstDash val="solid"/>
          </a:ln>
        </p:spPr>
      </p:sp>
      <p:sp>
        <p:nvSpPr>
          <p:cNvPr id="14" name="Text 12"/>
          <p:cNvSpPr/>
          <p:nvPr/>
        </p:nvSpPr>
        <p:spPr>
          <a:xfrm>
            <a:off x="8887968" y="3319272"/>
            <a:ext cx="1536192" cy="530352"/>
          </a:xfrm>
          <a:prstGeom prst="rect">
            <a:avLst/>
          </a:prstGeom>
          <a:noFill/>
          <a:ln/>
        </p:spPr>
        <p:txBody>
          <a:bodyPr wrap="square" lIns="0" tIns="0" rIns="0" bIns="0" rtlCol="0" anchor="ctr">
            <a:normAutofit/>
          </a:bodyPr>
          <a:lstStyle/>
          <a:p>
            <a:pPr algn="ctr" indent="0" marL="0">
              <a:buNone/>
            </a:pPr>
            <a:r>
              <a:rPr lang="en-US" sz="1300" b="1" dirty="0">
                <a:solidFill>
                  <a:srgbClr val="102A43"/>
                </a:solidFill>
                <a:latin typeface="Poppins" pitchFamily="34" charset="0"/>
                <a:ea typeface="Poppins" pitchFamily="34" charset="-122"/>
                <a:cs typeface="Poppins" pitchFamily="34" charset="-120"/>
              </a:rPr>
              <a:t>FOCUS</a:t>
            </a:r>
            <a:endParaRPr lang="en-US" sz="1300" dirty="0"/>
          </a:p>
        </p:txBody>
      </p:sp>
      <p:sp>
        <p:nvSpPr>
          <p:cNvPr id="15" name="Text 13"/>
          <p:cNvSpPr/>
          <p:nvPr/>
        </p:nvSpPr>
        <p:spPr>
          <a:xfrm>
            <a:off x="7708392" y="6053328"/>
            <a:ext cx="3895344" cy="310896"/>
          </a:xfrm>
          <a:prstGeom prst="rect">
            <a:avLst/>
          </a:prstGeom>
          <a:noFill/>
          <a:ln/>
        </p:spPr>
        <p:txBody>
          <a:bodyPr wrap="square" lIns="0" tIns="0" rIns="0" bIns="0" rtlCol="0" anchor="ctr">
            <a:normAutofit/>
          </a:bodyPr>
          <a:lstStyle/>
          <a:p>
            <a:pPr algn="ctr" indent="0" marL="0">
              <a:buNone/>
            </a:pPr>
            <a:r>
              <a:rPr lang="en-US" sz="1050" dirty="0">
                <a:solidFill>
                  <a:srgbClr val="BEE9E8"/>
                </a:solidFill>
                <a:latin typeface="Arial" pitchFamily="34" charset="0"/>
                <a:ea typeface="Arial" pitchFamily="34" charset="-122"/>
                <a:cs typeface="Arial" pitchFamily="34" charset="-120"/>
              </a:rPr>
              <a:t>Clear purpose. Confident progress.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2026-10-20T17:03:01Z</dcterms:created>
  <dcterms:modified xsi:type="dcterms:W3CDTF">2026-10-20T17:03:01Z</dcterms:modified>
</cp:coreProperties>
</file>