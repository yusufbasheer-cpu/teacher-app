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1 minute
Teacher focus: Welcome the class; keep this slide limited to subject, grade, and date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5–10 minutes
Teacher focus: Incomplete starter content for "Linear Equations". Regenerate this lesson to create a topic-specific student question and activity.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2 minutes
Teacher focus: Incomplete SDG connection for "Linear Equations". Regenerate this lesson to identify and explain a relevant Sustainable Development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3 minutes
Teacher focus: Display the teacher's form objectives verbatim — no AI edits or additions.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3 minutes
Teacher focus: Incomplete learning outcomes for "Linear Equations". Regenerate this lesson to create measurable, objective-aligned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25–35 minutes
Teacher focus: Incomplete core teaching for "Linear Equations". Regenerate this lesson before presenting or downloading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10–12 minutes
Teacher focus: Differentiated Tasks: "Linear Equations" Higher Achievers — a challenging task extending beyond the objective. Middle Achievers — a standard task matching the objective. Lower Achievers — a scaffolded task with sentence starters or guided prompts. Mini Plenary: one quick question to check understanding.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4–6 minutes
Teacher focus: Slide 8 — one link only (cross-curricular). No UAE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8–10 minutes
Teacher focus: Think-Pair-Share Activity — "Linear Equations" Students review and consolidate their learning. 1. Think (2 min): Write down the 3 most important things you learned about "Linear Equations" today. 2. Pair (2 min): Compare your key points with a partner — what did you both include? What was different? 3. Share (2 min): 2-3 pairs share their most important insight with the class. Teacher: Ask students to connect their insights back to today's learning objectives about "Linear Equations".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set expectations only
Teacher focus: Research Task: "Linear Equations" 1. Choose one aspect of "Linear Equations" that interested you most from today's lesson. 2. Research it further using textbooks, reliable websites, or other sources. 3. Write a one-page summary of your findings in your own words. 4. Include one diagram, image, or real-world example that helps explain your chosen aspect. 5. Be ready to share your most interesting discovery at the start of the next lesson. Challenge: How does "Linear Equations" connect to daily life or a career that interests you?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3–4 minutes
Teacher focus: Incomplete exit ticket for "Linear Equations". Regenerate this lesson to create two or three assessment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3–4 minutes
Teacher focus: Incomplete success criteria for "Linear Equations". Regenerate this lesson to create measurable criteria and self-evaluation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1 minute
Teacher focus: Close with a concise learning takeaway and one reflective next-step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03720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29984" y="0"/>
            <a:ext cx="182880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76288" y="1225296"/>
            <a:ext cx="4992624" cy="3968496"/>
          </a:xfrm>
          <a:prstGeom prst="roundRect">
            <a:avLst>
              <a:gd name="adj" fmla="val 2765"/>
            </a:avLst>
          </a:prstGeom>
          <a:solidFill>
            <a:srgbClr val="F2FEFB"/>
          </a:solidFill>
          <a:ln w="12700">
            <a:solidFill>
              <a:srgbClr val="CFF6ED"/>
            </a:solidFill>
            <a:prstDash val="solid"/>
          </a:ln>
          <a:effectLst>
            <a:outerShdw sx="100000" sy="100000" kx="0" ky="0" algn="bl" rotWithShape="0" blurRad="101600" dist="38100" dir="5400000">
              <a:srgbClr val="00846E">
                <a:alpha val="20000"/>
              </a:srgbClr>
            </a:outerShdw>
          </a:effectLst>
        </p:spPr>
      </p:sp>
      <p:pic>
        <p:nvPicPr>
          <p:cNvPr id="5" name="Image 0" descr="Linear Equations lesson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28" y="1605443"/>
            <a:ext cx="4809744" cy="3208202"/>
          </a:xfrm>
          <a:prstGeom prst="rect">
            <a:avLst/>
          </a:prstGeom>
          <a:effectLst>
            <a:outerShdw sx="100000" sy="100000" kx="0" ky="0" algn="bl" rotWithShape="0" blurRad="60960" dist="25400" dir="5400000">
              <a:srgbClr val="00846E">
                <a:alpha val="14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731520" y="71323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80" kern="0" dirty="0">
                <a:solidFill>
                  <a:srgbClr val="BEE9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MATHEMATICS  /  YEAR 8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" y="1325880"/>
            <a:ext cx="5440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7F5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Linear Equations</a:t>
            </a:r>
            <a:endParaRPr lang="en-US" sz="3900" dirty="0"/>
          </a:p>
        </p:txBody>
      </p:sp>
      <p:sp>
        <p:nvSpPr>
          <p:cNvPr id="8" name="Shape 5"/>
          <p:cNvSpPr/>
          <p:nvPr/>
        </p:nvSpPr>
        <p:spPr>
          <a:xfrm>
            <a:off x="731520" y="4599432"/>
            <a:ext cx="2148840" cy="0"/>
          </a:xfrm>
          <a:prstGeom prst="line">
            <a:avLst/>
          </a:prstGeom>
          <a:noFill/>
          <a:ln w="12700">
            <a:solidFill>
              <a:srgbClr val="0F8B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8280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FFFFFF">
                    <a:alpha val="88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LESSON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EE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7548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90" kern="0" dirty="0">
                <a:solidFill>
                  <a:srgbClr val="BEE9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STARTER ACTIVITY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13232" y="950976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0F8B8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OBSERVE  /  THINK  /  EXPLAIN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12280" y="1335024"/>
            <a:ext cx="4736592" cy="3822192"/>
          </a:xfrm>
          <a:prstGeom prst="roundRect">
            <a:avLst>
              <a:gd name="adj" fmla="val 2871"/>
            </a:avLst>
          </a:prstGeom>
          <a:solidFill>
            <a:srgbClr val="F2FEFB"/>
          </a:solidFill>
          <a:ln w="12700">
            <a:solidFill>
              <a:srgbClr val="CFF6ED"/>
            </a:solidFill>
            <a:prstDash val="solid"/>
          </a:ln>
          <a:effectLst>
            <a:outerShdw sx="100000" sy="100000" kx="0" ky="0" algn="bl" rotWithShape="0" blurRad="101600" dist="38100" dir="5400000">
              <a:srgbClr val="00846E">
                <a:alpha val="20000"/>
              </a:srgbClr>
            </a:outerShdw>
          </a:effectLst>
        </p:spPr>
      </p:sp>
      <p:pic>
        <p:nvPicPr>
          <p:cNvPr id="6" name="Image 0" descr="Starter activity prompt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727409"/>
            <a:ext cx="4553712" cy="3037423"/>
          </a:xfrm>
          <a:prstGeom prst="rect">
            <a:avLst/>
          </a:prstGeom>
          <a:effectLst>
            <a:outerShdw sx="100000" sy="100000" kx="0" ky="0" algn="bl" rotWithShape="0" blurRad="60960" dist="25400" dir="5400000">
              <a:srgbClr val="00846E">
                <a:alpha val="14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713232" y="1572768"/>
            <a:ext cx="5413248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230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Picture prompt</a:t>
            </a:r>
            <a:endParaRPr lang="en-US" sz="2300" dirty="0"/>
          </a:p>
          <a:p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endParaRPr lang="en-US" sz="2300" dirty="0"/>
          </a:p>
          <a:p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230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the equations on the board. Which operation should be undone first in 3x + 5 = 20? Record your choice and reason, then compare it with a partner.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731520" y="6053328"/>
            <a:ext cx="5349240" cy="0"/>
          </a:xfrm>
          <a:prstGeom prst="line">
            <a:avLst/>
          </a:prstGeom>
          <a:noFill/>
          <a:ln w="12700">
            <a:solidFill>
              <a:srgbClr val="0F8B8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12" name="Image 1" descr="Laya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4320" y="6510528"/>
            <a:ext cx="1791239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Chapter, Topic and SDG Goal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2686859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1536192"/>
            <a:ext cx="10716768" cy="1627632"/>
          </a:xfrm>
          <a:prstGeom prst="rect">
            <a:avLst/>
          </a:prstGeom>
          <a:solidFill>
            <a:srgbClr val="ECFDF8"/>
          </a:solidFill>
          <a:ln w="12700">
            <a:solidFill>
              <a:srgbClr val="ECFD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" y="1536192"/>
            <a:ext cx="54864" cy="1627632"/>
          </a:xfrm>
          <a:prstGeom prst="rect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1682496"/>
            <a:ext cx="102047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Chapter: Subject foundations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13232" y="3419856"/>
            <a:ext cx="10716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Linear Equations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13232" y="3858768"/>
            <a:ext cx="10716768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4 - Quality Education: learning to reason with evidence supports informed decisions and further study.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3582479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41832" y="3485147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06474" y="3417824"/>
            <a:ext cx="9923526" cy="845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one-step and two-step linear equations and verify each solution by substitution.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4478098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41832" y="2708796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06474" y="2641473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identify the key knowledge in Linear Equations.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914400" y="3356991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41832" y="3675774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506474" y="3608451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explain a relationship using evidence.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914400" y="4323969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41832" y="4642752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506474" y="4575429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apply the method to an unfamiliar example.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Phase Core Teaching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5373718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1536192"/>
            <a:ext cx="10716768" cy="1627632"/>
          </a:xfrm>
          <a:prstGeom prst="rect">
            <a:avLst/>
          </a:prstGeom>
          <a:solidFill>
            <a:srgbClr val="ECFDF8"/>
          </a:solidFill>
          <a:ln w="12700">
            <a:solidFill>
              <a:srgbClr val="ECFD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" y="1536192"/>
            <a:ext cx="54864" cy="1627632"/>
          </a:xfrm>
          <a:prstGeom prst="rect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1682496"/>
            <a:ext cx="102047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equation stays balanced when the same operation is applied to both sides. For 3x + 5 = 20, subtract 5 from both sides, then divide both sides by 3. Substitution confirms that x = 5 because 3(5) + 5 = 20.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Activity and Mini Plenary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6269337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" y="1591056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1591056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73302" y="1572768"/>
            <a:ext cx="10174986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Achievers task: Evaluate an unfamiliar Linear Equations example and justify your conclusion.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49808" y="2763520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" y="276352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73302" y="2745232"/>
            <a:ext cx="10174986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Achievers task: Apply the taught method and show evidence for each step.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749808" y="3935984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935984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73302" y="3917696"/>
            <a:ext cx="10174986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Achievers task: Complete the scaffolded example using the supplied prompts.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749808" y="5108448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9808" y="5108448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73302" y="5090160"/>
            <a:ext cx="1017498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Plenary: Explain the most important idea to a partner.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Life and Cross Curricular Connection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7164957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1536192"/>
            <a:ext cx="10716768" cy="1627632"/>
          </a:xfrm>
          <a:prstGeom prst="rect">
            <a:avLst/>
          </a:prstGeom>
          <a:solidFill>
            <a:srgbClr val="ECFDF8"/>
          </a:solidFill>
          <a:ln w="12700">
            <a:solidFill>
              <a:srgbClr val="ECFD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" y="1536192"/>
            <a:ext cx="54864" cy="1627632"/>
          </a:xfrm>
          <a:prstGeom prst="rect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1682496"/>
            <a:ext cx="102047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Cross-curricular connection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13232" y="3419856"/>
            <a:ext cx="10716768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precise written reasoning to explain Linear Equations. Identify the evidence, connect it to your conclusion, and check that another reader can follow the reasoning.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8060577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15727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check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77824" y="2352040"/>
            <a:ext cx="457200" cy="45720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824" y="235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481328" y="2333752"/>
            <a:ext cx="9912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claim about Linear Equations.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77824" y="3220720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77824" y="3650488"/>
            <a:ext cx="457200" cy="45720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7824" y="3650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1481328" y="3632200"/>
            <a:ext cx="9912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evidence from today's example.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877824" y="4519168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77824" y="4948936"/>
            <a:ext cx="457200" cy="45720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7824" y="4948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1481328" y="4930648"/>
            <a:ext cx="9912096" cy="910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responses and identify one missing reasoning step.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Task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8956196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1335024"/>
            <a:ext cx="10680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investigation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49808" y="1865376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" y="1865376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273302" y="1847088"/>
            <a:ext cx="1017498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unfamiliar Linear Equations example.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749808" y="2718054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" y="2718054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273302" y="2699766"/>
            <a:ext cx="1017498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today's method and record every step.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749808" y="3570732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" y="3570732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73302" y="3552444"/>
            <a:ext cx="1017498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result in 120 words.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749808" y="4423410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9808" y="442341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273302" y="4405122"/>
            <a:ext cx="1017498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completed response to the next lesson.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9851816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41832" y="2518169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06474" y="2450846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x + 7 = 19.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914400" y="3166364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41832" y="3485147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506474" y="3417824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4x - 3 = 17 and show each inverse operation.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914400" y="4133342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41832" y="4452125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506474" y="4384802"/>
            <a:ext cx="9923526" cy="845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x = 6 solve 2x + 5 = 19? Prove your answer by substitution.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and Self Evaluation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10747436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41832" y="2225307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06474" y="2157984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identify the key information in Linear Equations.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914400" y="2873502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41832" y="3192285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506474" y="3124962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method using evidence.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914400" y="3840480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41832" y="4159263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506474" y="4091940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apply the method to an unfamiliar example.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914400" y="4807458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41832" y="5126241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506474" y="5058918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justify and check my conclusion.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Takeaway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1887728"/>
            <a:ext cx="457200" cy="45720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" y="1887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481328" y="1869440"/>
            <a:ext cx="9912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877824" y="2756408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77824" y="3186176"/>
            <a:ext cx="457200" cy="45720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7824" y="3186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1481328" y="3167888"/>
            <a:ext cx="9912096" cy="910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one-step and two-step linear equations and verify each solution by substitution.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877824" y="4489704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77824" y="4919472"/>
            <a:ext cx="457200" cy="45720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7824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1481328" y="4901184"/>
            <a:ext cx="9912096" cy="910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leave, cite one piece of evidence that demonstrates your progress.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Layah.ai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 — Linear Equations</dc:title>
  <dc:subject>Mathematics — Linear Equations</dc:subject>
  <dc:creator>Layah.ai</dc:creator>
  <cp:lastModifiedBy>Layah.ai</cp:lastModifiedBy>
  <cp:revision>1</cp:revision>
  <dcterms:created xsi:type="dcterms:W3CDTF">2026-10-21T10:40:55Z</dcterms:created>
  <dcterms:modified xsi:type="dcterms:W3CDTF">2026-10-21T10:40:55Z</dcterms:modified>
</cp:coreProperties>
</file>