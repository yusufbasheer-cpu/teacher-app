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Welcome the class; keep this slide limited to subject, grade, and date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5–10 minutes
Teacher focus: Warm-Up: "The Water Cycle" Take a moment to think about what you already know. Share one idea, question, or guess about today's topic with 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 minutes
Teacher focus: Chapter Overview Topic: "The Water Cycle" SDG Connection: this topic links to the UN Sustainable Development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Display the teacher's form objectives verbatim — no AI edits or additions.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By the end of this lesson, students will be able to demonstrate a clear, measurable understanding of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25–35 minutes
Teacher focus: Core Teaching: "The Water Cycle" Key concepts, terms, and explanations for today's lesson, followed by guided practice activities to apply what students have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10–12 minutes
Teacher focus: Differentiated Tasks: "The Water Cycle" Higher Achievers — a challenging task extending beyond the objective. Middle Achievers — a standard task matching the objective. Lower Achievers — a scaffolded task with sentence starters or guided prompts. Mini Plenary: one quick question to check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4–6 minutes
Teacher focus: Slide 8 — one link only (cross-curricular). No UAE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8–10 minutes
Teacher focus: Think-Pair-Share Activity — "The Water Cycle" Students review and consolidate their learning. 1. Think (2 min): Write down the 3 most important things you learned about "The Water Cycle" today. 2. Pair (2 min): Compare your key points with a partner — what did you both include? What was different? 3. Share (2 min): 2-3 pairs share their most important insight with the class. Teacher: Ask students to connect their insights back to today's learning objectives about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continues the original slide. See the teacher notes on its first page.
(Continuation slide — same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set expectations only
Teacher focus: Research Task: "The Water Cycle" 1. Choose one aspect of "The Water Cycle" that interested you most from today's lesson. 2. Research it further using textbooks, reliable websites, or other sources. 3. Write a one-page summary of your findings in your own words. 4. Include one diagram, image, or real-world example that helps explain your chosen aspect. 5. Be ready to share your most interesting discovery at the start of the next lesson. Challenge: How does "The Water Cycle" connect to daily life or a career that interests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continues the original slide. See the teacher notes on its first page.
(Continuation slide — same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Quick Check: "The Water Cycle" A short question to check your understanding before you leave today's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Success Criteria Reflect on what you have learned about "The Water Cycle" today and rate your own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Close with a concise learning takeaway and one reflective next-step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1508760"/>
            <a:ext cx="6400800" cy="1965960"/>
          </a:xfrm>
          <a:prstGeom prst="rect">
            <a:avLst/>
          </a:prstGeom>
          <a:noFill/>
          <a:ln/>
        </p:spPr>
        <p:txBody>
          <a:bodyPr wrap="square" lIns="0" tIns="0" rIns="0" bIns="0" rtlCol="0" anchor="ctr"/>
          <a:lstStyle/>
          <a:p>
            <a:pPr algn="l" indent="0" marL="0">
              <a:lnSpc>
                <a:spcPct val="116000"/>
              </a:lnSpc>
              <a:buNone/>
            </a:pPr>
            <a:r>
              <a:rPr lang="en-US" sz="3600" b="1" dirty="0">
                <a:solidFill>
                  <a:srgbClr val="111827"/>
                </a:solidFill>
                <a:latin typeface="Calibri" pitchFamily="34" charset="0"/>
                <a:ea typeface="Calibri" pitchFamily="34" charset="-122"/>
                <a:cs typeface="Calibri" pitchFamily="34" charset="-120"/>
              </a:rPr>
              <a:t>The Water Cycle</a:t>
            </a:r>
            <a:endParaRPr lang="en-US" sz="3600" dirty="0"/>
          </a:p>
        </p:txBody>
      </p:sp>
      <p:sp>
        <p:nvSpPr>
          <p:cNvPr id="3" name="Shape 1"/>
          <p:cNvSpPr/>
          <p:nvPr/>
        </p:nvSpPr>
        <p:spPr>
          <a:xfrm>
            <a:off x="685800" y="3675888"/>
            <a:ext cx="3474720" cy="0"/>
          </a:xfrm>
          <a:prstGeom prst="line">
            <a:avLst/>
          </a:prstGeom>
          <a:noFill/>
          <a:ln w="12700">
            <a:solidFill>
              <a:srgbClr val="087866"/>
            </a:solidFill>
            <a:prstDash val="solid"/>
          </a:ln>
        </p:spPr>
      </p:sp>
      <p:sp>
        <p:nvSpPr>
          <p:cNvPr id="4" name="Text 2"/>
          <p:cNvSpPr/>
          <p:nvPr/>
        </p:nvSpPr>
        <p:spPr>
          <a:xfrm>
            <a:off x="685800" y="3886200"/>
            <a:ext cx="6400800" cy="658368"/>
          </a:xfrm>
          <a:prstGeom prst="rect">
            <a:avLst/>
          </a:prstGeom>
          <a:noFill/>
          <a:ln/>
        </p:spPr>
        <p:txBody>
          <a:bodyPr wrap="square" lIns="0" tIns="0" rIns="0" bIns="0" rtlCol="0" anchor="t"/>
          <a:lstStyle/>
          <a:p>
            <a:pPr algn="l" indent="0" marL="0">
              <a:lnSpc>
                <a:spcPct val="116000"/>
              </a:lnSpc>
              <a:buNone/>
            </a:pPr>
            <a:r>
              <a:rPr lang="en-US" sz="1800" dirty="0">
                <a:solidFill>
                  <a:srgbClr val="087866"/>
                </a:solidFill>
                <a:latin typeface="Calibri" pitchFamily="34" charset="0"/>
                <a:ea typeface="Calibri" pitchFamily="34" charset="-122"/>
                <a:cs typeface="Calibri" pitchFamily="34" charset="-120"/>
              </a:rPr>
              <a:t>Science  ·  Year 7  ·  The Water Cycle</a:t>
            </a:r>
            <a:endParaRPr lang="en-US" sz="1800" dirty="0"/>
          </a:p>
        </p:txBody>
      </p:sp>
      <p:sp>
        <p:nvSpPr>
          <p:cNvPr id="5" name="Text 3"/>
          <p:cNvSpPr/>
          <p:nvPr/>
        </p:nvSpPr>
        <p:spPr>
          <a:xfrm>
            <a:off x="685800" y="4709160"/>
            <a:ext cx="6400800"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Tuesday, 20 October 2026</a:t>
            </a:r>
            <a:endParaRPr lang="en-US" sz="1500" dirty="0"/>
          </a:p>
        </p:txBody>
      </p:sp>
      <p:sp>
        <p:nvSpPr>
          <p:cNvPr id="6" name="Shape 4"/>
          <p:cNvSpPr/>
          <p:nvPr/>
        </p:nvSpPr>
        <p:spPr>
          <a:xfrm>
            <a:off x="0" y="6492240"/>
            <a:ext cx="12191695" cy="365760"/>
          </a:xfrm>
          <a:prstGeom prst="rect">
            <a:avLst/>
          </a:prstGeom>
          <a:solidFill>
            <a:srgbClr val="F0FDFB"/>
          </a:solidFill>
          <a:ln w="12700">
            <a:solidFill>
              <a:srgbClr val="F0FDFB"/>
            </a:solidFill>
            <a:prstDash val="solid"/>
          </a:ln>
        </p:spPr>
      </p:sp>
      <p:sp>
        <p:nvSpPr>
          <p:cNvPr id="7" name="Shape 5"/>
          <p:cNvSpPr/>
          <p:nvPr/>
        </p:nvSpPr>
        <p:spPr>
          <a:xfrm>
            <a:off x="0" y="6492240"/>
            <a:ext cx="12191695" cy="0"/>
          </a:xfrm>
          <a:prstGeom prst="line">
            <a:avLst/>
          </a:prstGeom>
          <a:noFill/>
          <a:ln w="12700">
            <a:solidFill>
              <a:srgbClr val="A7F3E8"/>
            </a:solidFill>
            <a:prstDash val="solid"/>
          </a:ln>
        </p:spPr>
      </p:sp>
      <p:sp>
        <p:nvSpPr>
          <p:cNvPr id="8" name="Text 6"/>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9"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10" name="Text 7"/>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 / 15</a:t>
            </a:r>
            <a:endParaRPr lang="en-US" sz="1200" dirty="0"/>
          </a:p>
        </p:txBody>
      </p:sp>
      <p:sp>
        <p:nvSpPr>
          <p:cNvPr id="11" name="Shape 8"/>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2" name="Shape 9"/>
          <p:cNvSpPr/>
          <p:nvPr/>
        </p:nvSpPr>
        <p:spPr>
          <a:xfrm>
            <a:off x="274320" y="6510528"/>
            <a:ext cx="776204" cy="73152"/>
          </a:xfrm>
          <a:prstGeom prst="roundRect">
            <a:avLst>
              <a:gd name="adj" fmla="val 50000"/>
            </a:avLst>
          </a:prstGeom>
          <a:solidFill>
            <a:srgbClr val="0A8F7A"/>
          </a:solidFill>
          <a:ln w="12700">
            <a:solidFill>
              <a:srgbClr val="0A8F7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Starter Activity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2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55240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Warm-Up: "The Water Cycle"</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Take a moment to think about what you already know.</a:t>
            </a:r>
            <a:endParaRPr lang="en-US" sz="2200" dirty="0"/>
          </a:p>
        </p:txBody>
      </p:sp>
      <p:sp>
        <p:nvSpPr>
          <p:cNvPr id="17" name="Shape 14"/>
          <p:cNvSpPr/>
          <p:nvPr/>
        </p:nvSpPr>
        <p:spPr>
          <a:xfrm>
            <a:off x="749808" y="3296412"/>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29641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278124"/>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Share one idea, question, or guess about today's topic with a partner.</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Chapter, Topic and SDG Goal</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3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2328611"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Chapter Overview</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Topic: "The Water Cycle"</a:t>
            </a:r>
            <a:endParaRPr lang="en-US" sz="1600" dirty="0"/>
          </a:p>
        </p:txBody>
      </p:sp>
      <p:sp>
        <p:nvSpPr>
          <p:cNvPr id="15" name="Text 12"/>
          <p:cNvSpPr/>
          <p:nvPr/>
        </p:nvSpPr>
        <p:spPr>
          <a:xfrm>
            <a:off x="713232" y="3858768"/>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SDG Connection: this topic links to the UN Sustainable Development Goals.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310896" cy="6858000"/>
          </a:xfrm>
          <a:prstGeom prst="rect">
            <a:avLst/>
          </a:prstGeom>
          <a:solidFill>
            <a:srgbClr val="0F8B8D"/>
          </a:solidFill>
          <a:ln w="12700">
            <a:solidFill>
              <a:srgbClr val="333333">
                <a:alpha val="0"/>
              </a:srgbClr>
            </a:solidFill>
            <a:prstDash val="solid"/>
          </a:ln>
        </p:spPr>
      </p:sp>
      <p:sp>
        <p:nvSpPr>
          <p:cNvPr id="3" name="Shape 1"/>
          <p:cNvSpPr/>
          <p:nvPr/>
        </p:nvSpPr>
        <p:spPr>
          <a:xfrm>
            <a:off x="9802368" y="0"/>
            <a:ext cx="2389327" cy="6858000"/>
          </a:xfrm>
          <a:prstGeom prst="rect">
            <a:avLst/>
          </a:prstGeom>
          <a:solidFill>
            <a:srgbClr val="102A43"/>
          </a:solidFill>
          <a:ln w="12700">
            <a:solidFill>
              <a:srgbClr val="333333">
                <a:alpha val="0"/>
              </a:srgbClr>
            </a:solidFill>
            <a:prstDash val="solid"/>
          </a:ln>
        </p:spPr>
      </p:sp>
      <p:sp>
        <p:nvSpPr>
          <p:cNvPr id="4" name="Shape 2"/>
          <p:cNvSpPr/>
          <p:nvPr/>
        </p:nvSpPr>
        <p:spPr>
          <a:xfrm>
            <a:off x="841248" y="1709928"/>
            <a:ext cx="749808" cy="0"/>
          </a:xfrm>
          <a:prstGeom prst="line">
            <a:avLst/>
          </a:prstGeom>
          <a:noFill/>
          <a:ln w="12700">
            <a:solidFill>
              <a:srgbClr val="0F8B8D"/>
            </a:solidFill>
            <a:prstDash val="solid"/>
          </a:ln>
        </p:spPr>
      </p:sp>
      <p:sp>
        <p:nvSpPr>
          <p:cNvPr id="5" name="Text 3"/>
          <p:cNvSpPr/>
          <p:nvPr/>
        </p:nvSpPr>
        <p:spPr>
          <a:xfrm>
            <a:off x="841227" y="1419606"/>
            <a:ext cx="8168436" cy="377190"/>
          </a:xfrm>
          <a:prstGeom prst="rect">
            <a:avLst/>
          </a:prstGeom>
          <a:noFill/>
          <a:ln/>
        </p:spPr>
        <p:txBody>
          <a:bodyPr wrap="square" lIns="0" tIns="0" rIns="0" bIns="0" rtlCol="0" anchor="ctr">
            <a:normAutofit/>
          </a:bodyPr>
          <a:lstStyle/>
          <a:p>
            <a:pPr indent="0" marL="0">
              <a:buNone/>
            </a:pPr>
            <a:r>
              <a:rPr lang="en-US" sz="1400" b="1" spc="220" kern="0" dirty="0">
                <a:solidFill>
                  <a:srgbClr val="0F8B8D"/>
                </a:solidFill>
                <a:latin typeface="Poppins" pitchFamily="34" charset="0"/>
                <a:ea typeface="Poppins" pitchFamily="34" charset="-122"/>
                <a:cs typeface="Poppins" pitchFamily="34" charset="-120"/>
              </a:rPr>
              <a:t>LEARNING OBJECTIVES</a:t>
            </a:r>
            <a:endParaRPr lang="en-US" sz="1400" dirty="0"/>
          </a:p>
        </p:txBody>
      </p:sp>
      <p:sp>
        <p:nvSpPr>
          <p:cNvPr id="6" name="Text 4"/>
          <p:cNvSpPr/>
          <p:nvPr/>
        </p:nvSpPr>
        <p:spPr>
          <a:xfrm>
            <a:off x="841227" y="1954530"/>
            <a:ext cx="8363503" cy="3223260"/>
          </a:xfrm>
          <a:prstGeom prst="rect">
            <a:avLst/>
          </a:prstGeom>
          <a:noFill/>
          <a:ln/>
        </p:spPr>
        <p:txBody>
          <a:bodyPr wrap="square" lIns="0" tIns="0" rIns="0" bIns="0" rtlCol="0" anchor="ctr">
            <a:normAutofit/>
          </a:bodyPr>
          <a:lstStyle/>
          <a:p>
            <a:pPr indent="0" marL="0">
              <a:buNone/>
            </a:pPr>
            <a:r>
              <a:rPr lang="en-US" sz="3400" b="1" dirty="0">
                <a:solidFill>
                  <a:srgbClr val="102A43"/>
                </a:solidFill>
                <a:latin typeface="Poppins" pitchFamily="34" charset="0"/>
                <a:ea typeface="Poppins" pitchFamily="34" charset="-122"/>
                <a:cs typeface="Poppins" pitchFamily="34" charset="-120"/>
              </a:rPr>
              <a:t>Explain how evaporation and condensation transfer water through the water cycle, using particle movement as evidence.</a:t>
            </a:r>
            <a:endParaRPr lang="en-US" sz="3400" dirty="0"/>
          </a:p>
        </p:txBody>
      </p:sp>
      <p:sp>
        <p:nvSpPr>
          <p:cNvPr id="7" name="Text 5"/>
          <p:cNvSpPr/>
          <p:nvPr/>
        </p:nvSpPr>
        <p:spPr>
          <a:xfrm>
            <a:off x="10378440" y="658368"/>
            <a:ext cx="960120" cy="502920"/>
          </a:xfrm>
          <a:prstGeom prst="rect">
            <a:avLst/>
          </a:prstGeom>
          <a:noFill/>
          <a:ln/>
        </p:spPr>
        <p:txBody>
          <a:bodyPr wrap="square" lIns="0" tIns="0" rIns="0" bIns="0" rtlCol="0" anchor="ctr">
            <a:normAutofit/>
          </a:bodyPr>
          <a:lstStyle/>
          <a:p>
            <a:pPr algn="ctr" indent="0" marL="0">
              <a:buNone/>
            </a:pPr>
            <a:r>
              <a:rPr lang="en-US" sz="1600" b="1" dirty="0">
                <a:solidFill>
                  <a:srgbClr val="BEE9E8"/>
                </a:solidFill>
                <a:latin typeface="Poppins" pitchFamily="34" charset="0"/>
                <a:ea typeface="Poppins" pitchFamily="34" charset="-122"/>
                <a:cs typeface="Poppins" pitchFamily="34" charset="-120"/>
              </a:rPr>
              <a:t>01</a:t>
            </a:r>
            <a:endParaRPr lang="en-US" sz="1600" dirty="0"/>
          </a:p>
        </p:txBody>
      </p:sp>
      <p:sp>
        <p:nvSpPr>
          <p:cNvPr id="8" name="Shape 6"/>
          <p:cNvSpPr/>
          <p:nvPr/>
        </p:nvSpPr>
        <p:spPr>
          <a:xfrm>
            <a:off x="10332720" y="1234440"/>
            <a:ext cx="1051560" cy="0"/>
          </a:xfrm>
          <a:prstGeom prst="line">
            <a:avLst/>
          </a:prstGeom>
          <a:noFill/>
          <a:ln w="12700">
            <a:solidFill>
              <a:srgbClr val="0F8B8D"/>
            </a:solidFill>
            <a:prstDash val="solid"/>
          </a:ln>
        </p:spPr>
      </p:sp>
      <p:sp>
        <p:nvSpPr>
          <p:cNvPr id="9" name="Text 7"/>
          <p:cNvSpPr/>
          <p:nvPr/>
        </p:nvSpPr>
        <p:spPr>
          <a:xfrm>
            <a:off x="10259568" y="4901184"/>
            <a:ext cx="1207008" cy="82296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Poppins" pitchFamily="34" charset="0"/>
                <a:ea typeface="Poppins" pitchFamily="34" charset="-122"/>
                <a:cs typeface="Poppins" pitchFamily="34" charset="-120"/>
              </a:rPr>
              <a:t>TODAY</a:t>
            </a:r>
            <a:endParaRPr lang="en-US" sz="1200" dirty="0"/>
          </a:p>
          <a:p>
            <a:pPr algn="ctr" indent="0" marL="0">
              <a:buNone/>
            </a:pPr>
            <a:r>
              <a:rPr lang="en-US" sz="1200" b="1" dirty="0">
                <a:solidFill>
                  <a:srgbClr val="FFFFFF"/>
                </a:solidFill>
                <a:latin typeface="Poppins" pitchFamily="34" charset="0"/>
                <a:ea typeface="Poppins" pitchFamily="34" charset="-122"/>
                <a:cs typeface="Poppins" pitchFamily="34" charset="-120"/>
              </a:rPr>
              <a:t>WE WILL</a:t>
            </a:r>
            <a:endParaRPr lang="en-US" sz="1200" dirty="0"/>
          </a:p>
        </p:txBody>
      </p:sp>
      <p:sp>
        <p:nvSpPr>
          <p:cNvPr id="10" name="Shape 8"/>
          <p:cNvSpPr/>
          <p:nvPr/>
        </p:nvSpPr>
        <p:spPr>
          <a:xfrm>
            <a:off x="10643616" y="5907024"/>
            <a:ext cx="438912" cy="438912"/>
          </a:xfrm>
          <a:prstGeom prst="ellipse">
            <a:avLst/>
          </a:prstGeom>
          <a:solidFill>
            <a:srgbClr val="102A43">
              <a:alpha val="0"/>
            </a:srgbClr>
          </a:solidFill>
          <a:ln w="12700">
            <a:solidFill>
              <a:srgbClr val="BEE9E8"/>
            </a:solidFill>
            <a:prstDash val="solid"/>
          </a:ln>
        </p:spPr>
      </p:sp>
      <p:sp>
        <p:nvSpPr>
          <p:cNvPr id="11" name="Shape 9"/>
          <p:cNvSpPr/>
          <p:nvPr/>
        </p:nvSpPr>
        <p:spPr>
          <a:xfrm>
            <a:off x="10771632" y="6035040"/>
            <a:ext cx="182880" cy="182880"/>
          </a:xfrm>
          <a:prstGeom prst="ellipse">
            <a:avLst/>
          </a:prstGeom>
          <a:solidFill>
            <a:srgbClr val="0F8B8D"/>
          </a:solidFill>
          <a:ln w="12700">
            <a:solidFill>
              <a:srgbClr val="333333">
                <a:alpha val="0"/>
              </a:srgbClr>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Outcomes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5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388101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273819"/>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3206496"/>
            <a:ext cx="9923526" cy="126796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By the end of this lesson, students will be able to demonstrate a clear, measurable understanding of "The Water Cycle".</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Main Phase Core Teaching</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6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4657222"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Core Teaching: "The Water Cycle"</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Key concepts, terms, and explanations for today's lesson, followed by guided practice activities to apply what students have learned.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Differentiated Activity and Mini 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7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5433426" cy="73152"/>
          </a:xfrm>
          <a:prstGeom prst="roundRect">
            <a:avLst>
              <a:gd name="adj" fmla="val 50000"/>
            </a:avLst>
          </a:prstGeom>
          <a:solidFill>
            <a:srgbClr val="0A8F7A"/>
          </a:solidFill>
          <a:ln w="12700">
            <a:solidFill>
              <a:srgbClr val="0A8F7A"/>
            </a:solidFill>
            <a:prstDash val="solid"/>
          </a:ln>
        </p:spPr>
      </p:sp>
      <p:sp>
        <p:nvSpPr>
          <p:cNvPr id="11" name="Text 8"/>
          <p:cNvSpPr/>
          <p:nvPr/>
        </p:nvSpPr>
        <p:spPr>
          <a:xfrm>
            <a:off x="749808" y="133502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Higher Achievers task</a:t>
            </a:r>
            <a:endParaRPr lang="en-US" sz="1500" dirty="0"/>
          </a:p>
        </p:txBody>
      </p:sp>
      <p:sp>
        <p:nvSpPr>
          <p:cNvPr id="12" name="Text 9"/>
          <p:cNvSpPr/>
          <p:nvPr/>
        </p:nvSpPr>
        <p:spPr>
          <a:xfrm>
            <a:off x="749808" y="1664208"/>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Analyse, evaluate, or design an extension challenge applying "The Water Cycle" with greater depth.</a:t>
            </a:r>
            <a:endParaRPr lang="en-US" sz="1500" dirty="0"/>
          </a:p>
        </p:txBody>
      </p:sp>
      <p:sp>
        <p:nvSpPr>
          <p:cNvPr id="13" name="Text 10"/>
          <p:cNvSpPr/>
          <p:nvPr/>
        </p:nvSpPr>
        <p:spPr>
          <a:xfrm>
            <a:off x="749808" y="1993392"/>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Middle Achievers task</a:t>
            </a:r>
            <a:endParaRPr lang="en-US" sz="1500" dirty="0"/>
          </a:p>
        </p:txBody>
      </p:sp>
      <p:sp>
        <p:nvSpPr>
          <p:cNvPr id="14" name="Text 11"/>
          <p:cNvSpPr/>
          <p:nvPr/>
        </p:nvSpPr>
        <p:spPr>
          <a:xfrm>
            <a:off x="749808" y="2322576"/>
            <a:ext cx="10680192" cy="487680"/>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Complete the standard activity for "The Water Cycle" with clear steps and expected evidence of understanding.</a:t>
            </a:r>
            <a:endParaRPr lang="en-US" sz="1500" dirty="0"/>
          </a:p>
        </p:txBody>
      </p:sp>
      <p:sp>
        <p:nvSpPr>
          <p:cNvPr id="15" name="Text 12"/>
          <p:cNvSpPr/>
          <p:nvPr/>
        </p:nvSpPr>
        <p:spPr>
          <a:xfrm>
            <a:off x="749808" y="282854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Lower Achievers task</a:t>
            </a:r>
            <a:endParaRPr lang="en-US" sz="1500" dirty="0"/>
          </a:p>
        </p:txBody>
      </p:sp>
      <p:sp>
        <p:nvSpPr>
          <p:cNvPr id="16" name="Text 13"/>
          <p:cNvSpPr/>
          <p:nvPr/>
        </p:nvSpPr>
        <p:spPr>
          <a:xfrm>
            <a:off x="749808" y="3157728"/>
            <a:ext cx="10680192" cy="487680"/>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Work through a scaffolded version of "The Water Cycle" with sentence starters, worked examples, or guided prompts.</a:t>
            </a:r>
            <a:endParaRPr lang="en-US" sz="1500" dirty="0"/>
          </a:p>
        </p:txBody>
      </p:sp>
      <p:sp>
        <p:nvSpPr>
          <p:cNvPr id="17" name="Text 14"/>
          <p:cNvSpPr/>
          <p:nvPr/>
        </p:nvSpPr>
        <p:spPr>
          <a:xfrm>
            <a:off x="749808" y="3663696"/>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Mini Plenary</a:t>
            </a:r>
            <a:endParaRPr lang="en-US" sz="1500" dirty="0"/>
          </a:p>
        </p:txBody>
      </p:sp>
      <p:sp>
        <p:nvSpPr>
          <p:cNvPr id="18" name="Text 15"/>
          <p:cNvSpPr/>
          <p:nvPr/>
        </p:nvSpPr>
        <p:spPr>
          <a:xfrm>
            <a:off x="749808" y="3992880"/>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Quick check: In one sentence, explain the most important thing you learned about "The Water Cycle" today.</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Real Life and Cross Curricular Connection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8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209629"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Real-Life and Cross-Curricular Connection: "The Water Cycle" (Science, Year 7)</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Real-Life Application: The concepts in "The Water Cycle" appear in everyday problem-solving, communication, and decision-making that students will encounter beyond the classroom.</a:t>
            </a:r>
            <a:endParaRPr lang="en-US" sz="1600" dirty="0"/>
          </a:p>
        </p:txBody>
      </p:sp>
      <p:sp>
        <p:nvSpPr>
          <p:cNvPr id="15" name="Text 12"/>
          <p:cNvSpPr/>
          <p:nvPr/>
        </p:nvSpPr>
        <p:spPr>
          <a:xfrm>
            <a:off x="713232" y="4068064"/>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Cross-Curricular Link: "The Water Cycle" connects to other subjects — students can apply this knowledge across Science, Mathematics, and Language Arts, strengthening understanding in multiple areas.</a:t>
            </a:r>
            <a:endParaRPr lang="en-US" sz="1600" dirty="0"/>
          </a:p>
        </p:txBody>
      </p:sp>
      <p:sp>
        <p:nvSpPr>
          <p:cNvPr id="16" name="Text 13"/>
          <p:cNvSpPr/>
          <p:nvPr/>
        </p:nvSpPr>
        <p:spPr>
          <a:xfrm>
            <a:off x="713232" y="4716272"/>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Career Connection: Professionals in STEM, education, healthcare, and creative industries use understanding of "The Water Cycle" as a core part of their daily work.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9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985833"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377190" cy="377190"/>
          </a:xfrm>
          <a:prstGeom prst="ellipse">
            <a:avLst/>
          </a:prstGeom>
          <a:solidFill>
            <a:srgbClr val="087866"/>
          </a:solidFill>
          <a:ln w="12700">
            <a:solidFill>
              <a:srgbClr val="087866"/>
            </a:solidFill>
            <a:prstDash val="solid"/>
          </a:ln>
        </p:spPr>
      </p:sp>
      <p:sp>
        <p:nvSpPr>
          <p:cNvPr id="12" name="Text 9"/>
          <p:cNvSpPr/>
          <p:nvPr/>
        </p:nvSpPr>
        <p:spPr>
          <a:xfrm>
            <a:off x="877824" y="168249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401318" y="1664208"/>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Think-Pair-Share Activity — "The Water Cycle"</a:t>
            </a:r>
            <a:endParaRPr lang="en-US" sz="2200" dirty="0"/>
          </a:p>
        </p:txBody>
      </p:sp>
      <p:sp>
        <p:nvSpPr>
          <p:cNvPr id="14" name="Shape 11"/>
          <p:cNvSpPr/>
          <p:nvPr/>
        </p:nvSpPr>
        <p:spPr>
          <a:xfrm>
            <a:off x="877824" y="2193696"/>
            <a:ext cx="10515600" cy="0"/>
          </a:xfrm>
          <a:prstGeom prst="line">
            <a:avLst/>
          </a:prstGeom>
          <a:noFill/>
          <a:ln w="12700">
            <a:solidFill>
              <a:srgbClr val="CFF6ED"/>
            </a:solidFill>
            <a:prstDash val="solid"/>
          </a:ln>
        </p:spPr>
      </p:sp>
      <p:sp>
        <p:nvSpPr>
          <p:cNvPr id="15" name="Shape 12"/>
          <p:cNvSpPr/>
          <p:nvPr/>
        </p:nvSpPr>
        <p:spPr>
          <a:xfrm>
            <a:off x="877824" y="2345995"/>
            <a:ext cx="377190" cy="377190"/>
          </a:xfrm>
          <a:prstGeom prst="ellipse">
            <a:avLst/>
          </a:prstGeom>
          <a:solidFill>
            <a:srgbClr val="087866"/>
          </a:solidFill>
          <a:ln w="12700">
            <a:solidFill>
              <a:srgbClr val="087866"/>
            </a:solidFill>
            <a:prstDash val="solid"/>
          </a:ln>
        </p:spPr>
      </p:sp>
      <p:sp>
        <p:nvSpPr>
          <p:cNvPr id="16" name="Text 13"/>
          <p:cNvSpPr/>
          <p:nvPr/>
        </p:nvSpPr>
        <p:spPr>
          <a:xfrm>
            <a:off x="877824" y="2345995"/>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4"/>
          <p:cNvSpPr/>
          <p:nvPr/>
        </p:nvSpPr>
        <p:spPr>
          <a:xfrm>
            <a:off x="1401318" y="2327707"/>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Students review and consolidate their learning.</a:t>
            </a:r>
            <a:endParaRPr lang="en-US" sz="2200" dirty="0"/>
          </a:p>
        </p:txBody>
      </p:sp>
      <p:sp>
        <p:nvSpPr>
          <p:cNvPr id="18" name="Shape 15"/>
          <p:cNvSpPr/>
          <p:nvPr/>
        </p:nvSpPr>
        <p:spPr>
          <a:xfrm>
            <a:off x="877824" y="2857195"/>
            <a:ext cx="10515600" cy="0"/>
          </a:xfrm>
          <a:prstGeom prst="line">
            <a:avLst/>
          </a:prstGeom>
          <a:noFill/>
          <a:ln w="12700">
            <a:solidFill>
              <a:srgbClr val="CFF6ED"/>
            </a:solidFill>
            <a:prstDash val="solid"/>
          </a:ln>
        </p:spPr>
      </p:sp>
      <p:sp>
        <p:nvSpPr>
          <p:cNvPr id="19" name="Shape 16"/>
          <p:cNvSpPr/>
          <p:nvPr/>
        </p:nvSpPr>
        <p:spPr>
          <a:xfrm>
            <a:off x="877824" y="3009494"/>
            <a:ext cx="377190" cy="377190"/>
          </a:xfrm>
          <a:prstGeom prst="ellipse">
            <a:avLst/>
          </a:prstGeom>
          <a:solidFill>
            <a:srgbClr val="087866"/>
          </a:solidFill>
          <a:ln w="12700">
            <a:solidFill>
              <a:srgbClr val="087866"/>
            </a:solidFill>
            <a:prstDash val="solid"/>
          </a:ln>
        </p:spPr>
      </p:sp>
      <p:sp>
        <p:nvSpPr>
          <p:cNvPr id="20" name="Text 17"/>
          <p:cNvSpPr/>
          <p:nvPr/>
        </p:nvSpPr>
        <p:spPr>
          <a:xfrm>
            <a:off x="877824" y="300949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1401318" y="2991206"/>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1.</a:t>
            </a:r>
            <a:endParaRPr lang="en-US" sz="2200" dirty="0"/>
          </a:p>
        </p:txBody>
      </p:sp>
      <p:sp>
        <p:nvSpPr>
          <p:cNvPr id="22" name="Shape 19"/>
          <p:cNvSpPr/>
          <p:nvPr/>
        </p:nvSpPr>
        <p:spPr>
          <a:xfrm>
            <a:off x="877824" y="3520694"/>
            <a:ext cx="10515600" cy="0"/>
          </a:xfrm>
          <a:prstGeom prst="line">
            <a:avLst/>
          </a:prstGeom>
          <a:noFill/>
          <a:ln w="12700">
            <a:solidFill>
              <a:srgbClr val="CFF6ED"/>
            </a:solidFill>
            <a:prstDash val="solid"/>
          </a:ln>
        </p:spPr>
      </p:sp>
      <p:sp>
        <p:nvSpPr>
          <p:cNvPr id="23" name="Shape 20"/>
          <p:cNvSpPr/>
          <p:nvPr/>
        </p:nvSpPr>
        <p:spPr>
          <a:xfrm>
            <a:off x="877824" y="3672992"/>
            <a:ext cx="377190" cy="377190"/>
          </a:xfrm>
          <a:prstGeom prst="ellipse">
            <a:avLst/>
          </a:prstGeom>
          <a:solidFill>
            <a:srgbClr val="087866"/>
          </a:solidFill>
          <a:ln w="12700">
            <a:solidFill>
              <a:srgbClr val="087866"/>
            </a:solidFill>
            <a:prstDash val="solid"/>
          </a:ln>
        </p:spPr>
      </p:sp>
      <p:sp>
        <p:nvSpPr>
          <p:cNvPr id="24" name="Text 21"/>
          <p:cNvSpPr/>
          <p:nvPr/>
        </p:nvSpPr>
        <p:spPr>
          <a:xfrm>
            <a:off x="877824" y="367299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2"/>
          <p:cNvSpPr/>
          <p:nvPr/>
        </p:nvSpPr>
        <p:spPr>
          <a:xfrm>
            <a:off x="1401318" y="3654704"/>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Think (2 min): Write down the 3 most important things you learned about "The Water Cycle" today.</a:t>
            </a:r>
            <a:endParaRPr lang="en-US" sz="2200" dirty="0"/>
          </a:p>
        </p:txBody>
      </p:sp>
      <p:sp>
        <p:nvSpPr>
          <p:cNvPr id="26" name="Shape 23"/>
          <p:cNvSpPr/>
          <p:nvPr/>
        </p:nvSpPr>
        <p:spPr>
          <a:xfrm>
            <a:off x="877824" y="4503979"/>
            <a:ext cx="10515600" cy="0"/>
          </a:xfrm>
          <a:prstGeom prst="line">
            <a:avLst/>
          </a:prstGeom>
          <a:noFill/>
          <a:ln w="12700">
            <a:solidFill>
              <a:srgbClr val="CFF6ED"/>
            </a:solidFill>
            <a:prstDash val="solid"/>
          </a:ln>
        </p:spPr>
      </p:sp>
      <p:sp>
        <p:nvSpPr>
          <p:cNvPr id="27" name="Shape 24"/>
          <p:cNvSpPr/>
          <p:nvPr/>
        </p:nvSpPr>
        <p:spPr>
          <a:xfrm>
            <a:off x="877824" y="4656277"/>
            <a:ext cx="377190" cy="377190"/>
          </a:xfrm>
          <a:prstGeom prst="ellipse">
            <a:avLst/>
          </a:prstGeom>
          <a:solidFill>
            <a:srgbClr val="087866"/>
          </a:solidFill>
          <a:ln w="12700">
            <a:solidFill>
              <a:srgbClr val="087866"/>
            </a:solidFill>
            <a:prstDash val="solid"/>
          </a:ln>
        </p:spPr>
      </p:sp>
      <p:sp>
        <p:nvSpPr>
          <p:cNvPr id="28" name="Text 25"/>
          <p:cNvSpPr/>
          <p:nvPr/>
        </p:nvSpPr>
        <p:spPr>
          <a:xfrm>
            <a:off x="877824" y="4656277"/>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9" name="Text 26"/>
          <p:cNvSpPr/>
          <p:nvPr/>
        </p:nvSpPr>
        <p:spPr>
          <a:xfrm>
            <a:off x="1401318" y="4637989"/>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2.</a:t>
            </a:r>
            <a:endParaRPr lang="en-US" sz="2200" dirty="0"/>
          </a:p>
        </p:txBody>
      </p:sp>
      <p:sp>
        <p:nvSpPr>
          <p:cNvPr id="30" name="Shape 27"/>
          <p:cNvSpPr/>
          <p:nvPr/>
        </p:nvSpPr>
        <p:spPr>
          <a:xfrm>
            <a:off x="877824" y="5167478"/>
            <a:ext cx="10515600" cy="0"/>
          </a:xfrm>
          <a:prstGeom prst="line">
            <a:avLst/>
          </a:prstGeom>
          <a:noFill/>
          <a:ln w="12700">
            <a:solidFill>
              <a:srgbClr val="CFF6ED"/>
            </a:solidFill>
            <a:prstDash val="solid"/>
          </a:ln>
        </p:spPr>
      </p:sp>
      <p:sp>
        <p:nvSpPr>
          <p:cNvPr id="31" name="Shape 28"/>
          <p:cNvSpPr/>
          <p:nvPr/>
        </p:nvSpPr>
        <p:spPr>
          <a:xfrm>
            <a:off x="877824" y="5319776"/>
            <a:ext cx="377190" cy="377190"/>
          </a:xfrm>
          <a:prstGeom prst="ellipse">
            <a:avLst/>
          </a:prstGeom>
          <a:solidFill>
            <a:srgbClr val="087866"/>
          </a:solidFill>
          <a:ln w="12700">
            <a:solidFill>
              <a:srgbClr val="087866"/>
            </a:solidFill>
            <a:prstDash val="solid"/>
          </a:ln>
        </p:spPr>
      </p:sp>
      <p:sp>
        <p:nvSpPr>
          <p:cNvPr id="32" name="Text 29"/>
          <p:cNvSpPr/>
          <p:nvPr/>
        </p:nvSpPr>
        <p:spPr>
          <a:xfrm>
            <a:off x="877824" y="531977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3" name="Text 30"/>
          <p:cNvSpPr/>
          <p:nvPr/>
        </p:nvSpPr>
        <p:spPr>
          <a:xfrm>
            <a:off x="1401318" y="5301488"/>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Pair (2 min): Compare your key points with a partner — what did you both include?</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 — Continued</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10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776203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457200" cy="457200"/>
          </a:xfrm>
          <a:prstGeom prst="ellipse">
            <a:avLst/>
          </a:prstGeom>
          <a:solidFill>
            <a:srgbClr val="087866"/>
          </a:solidFill>
          <a:ln w="12700">
            <a:solidFill>
              <a:srgbClr val="087866"/>
            </a:solidFill>
            <a:prstDash val="solid"/>
          </a:ln>
        </p:spPr>
      </p:sp>
      <p:sp>
        <p:nvSpPr>
          <p:cNvPr id="12" name="Text 9"/>
          <p:cNvSpPr/>
          <p:nvPr/>
        </p:nvSpPr>
        <p:spPr>
          <a:xfrm>
            <a:off x="877824" y="168249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13" name="Text 10"/>
          <p:cNvSpPr/>
          <p:nvPr/>
        </p:nvSpPr>
        <p:spPr>
          <a:xfrm>
            <a:off x="1481328" y="1664208"/>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What was different?</a:t>
            </a:r>
            <a:endParaRPr lang="en-US" sz="2800" dirty="0"/>
          </a:p>
        </p:txBody>
      </p:sp>
      <p:sp>
        <p:nvSpPr>
          <p:cNvPr id="14" name="Shape 11"/>
          <p:cNvSpPr/>
          <p:nvPr/>
        </p:nvSpPr>
        <p:spPr>
          <a:xfrm>
            <a:off x="877824" y="2327317"/>
            <a:ext cx="10515600" cy="0"/>
          </a:xfrm>
          <a:prstGeom prst="line">
            <a:avLst/>
          </a:prstGeom>
          <a:noFill/>
          <a:ln w="12700">
            <a:solidFill>
              <a:srgbClr val="CFF6ED"/>
            </a:solidFill>
            <a:prstDash val="solid"/>
          </a:ln>
        </p:spPr>
      </p:sp>
      <p:sp>
        <p:nvSpPr>
          <p:cNvPr id="15" name="Shape 12"/>
          <p:cNvSpPr/>
          <p:nvPr/>
        </p:nvSpPr>
        <p:spPr>
          <a:xfrm>
            <a:off x="877824" y="2533227"/>
            <a:ext cx="457200" cy="457200"/>
          </a:xfrm>
          <a:prstGeom prst="ellipse">
            <a:avLst/>
          </a:prstGeom>
          <a:solidFill>
            <a:srgbClr val="087866"/>
          </a:solidFill>
          <a:ln w="12700">
            <a:solidFill>
              <a:srgbClr val="087866"/>
            </a:solidFill>
            <a:prstDash val="solid"/>
          </a:ln>
        </p:spPr>
      </p:sp>
      <p:sp>
        <p:nvSpPr>
          <p:cNvPr id="16" name="Text 13"/>
          <p:cNvSpPr/>
          <p:nvPr/>
        </p:nvSpPr>
        <p:spPr>
          <a:xfrm>
            <a:off x="877824" y="2533227"/>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7" name="Text 14"/>
          <p:cNvSpPr/>
          <p:nvPr/>
        </p:nvSpPr>
        <p:spPr>
          <a:xfrm>
            <a:off x="1481328" y="2514939"/>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3.</a:t>
            </a:r>
            <a:endParaRPr lang="en-US" sz="2800" dirty="0"/>
          </a:p>
        </p:txBody>
      </p:sp>
      <p:sp>
        <p:nvSpPr>
          <p:cNvPr id="18" name="Shape 15"/>
          <p:cNvSpPr/>
          <p:nvPr/>
        </p:nvSpPr>
        <p:spPr>
          <a:xfrm>
            <a:off x="877824" y="3178048"/>
            <a:ext cx="10515600" cy="0"/>
          </a:xfrm>
          <a:prstGeom prst="line">
            <a:avLst/>
          </a:prstGeom>
          <a:noFill/>
          <a:ln w="12700">
            <a:solidFill>
              <a:srgbClr val="CFF6ED"/>
            </a:solidFill>
            <a:prstDash val="solid"/>
          </a:ln>
        </p:spPr>
      </p:sp>
      <p:sp>
        <p:nvSpPr>
          <p:cNvPr id="19" name="Shape 16"/>
          <p:cNvSpPr/>
          <p:nvPr/>
        </p:nvSpPr>
        <p:spPr>
          <a:xfrm>
            <a:off x="877824" y="3383957"/>
            <a:ext cx="457200" cy="457200"/>
          </a:xfrm>
          <a:prstGeom prst="ellipse">
            <a:avLst/>
          </a:prstGeom>
          <a:solidFill>
            <a:srgbClr val="087866"/>
          </a:solidFill>
          <a:ln w="12700">
            <a:solidFill>
              <a:srgbClr val="087866"/>
            </a:solidFill>
            <a:prstDash val="solid"/>
          </a:ln>
        </p:spPr>
      </p:sp>
      <p:sp>
        <p:nvSpPr>
          <p:cNvPr id="20" name="Text 17"/>
          <p:cNvSpPr/>
          <p:nvPr/>
        </p:nvSpPr>
        <p:spPr>
          <a:xfrm>
            <a:off x="877824" y="3383957"/>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1" name="Text 18"/>
          <p:cNvSpPr/>
          <p:nvPr/>
        </p:nvSpPr>
        <p:spPr>
          <a:xfrm>
            <a:off x="1481328" y="3365669"/>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Share (2 min): 2-3 pairs share their most important insight with the class.</a:t>
            </a:r>
            <a:endParaRPr lang="en-US" sz="2800" dirty="0"/>
          </a:p>
        </p:txBody>
      </p:sp>
      <p:sp>
        <p:nvSpPr>
          <p:cNvPr id="22" name="Shape 19"/>
          <p:cNvSpPr/>
          <p:nvPr/>
        </p:nvSpPr>
        <p:spPr>
          <a:xfrm>
            <a:off x="877824" y="4463627"/>
            <a:ext cx="10515600" cy="0"/>
          </a:xfrm>
          <a:prstGeom prst="line">
            <a:avLst/>
          </a:prstGeom>
          <a:noFill/>
          <a:ln w="12700">
            <a:solidFill>
              <a:srgbClr val="CFF6ED"/>
            </a:solidFill>
            <a:prstDash val="solid"/>
          </a:ln>
        </p:spPr>
      </p:sp>
      <p:sp>
        <p:nvSpPr>
          <p:cNvPr id="23" name="Shape 20"/>
          <p:cNvSpPr/>
          <p:nvPr/>
        </p:nvSpPr>
        <p:spPr>
          <a:xfrm>
            <a:off x="877824" y="4669536"/>
            <a:ext cx="457200" cy="457200"/>
          </a:xfrm>
          <a:prstGeom prst="ellipse">
            <a:avLst/>
          </a:prstGeom>
          <a:solidFill>
            <a:srgbClr val="087866"/>
          </a:solidFill>
          <a:ln w="12700">
            <a:solidFill>
              <a:srgbClr val="087866"/>
            </a:solidFill>
            <a:prstDash val="solid"/>
          </a:ln>
        </p:spPr>
      </p:sp>
      <p:sp>
        <p:nvSpPr>
          <p:cNvPr id="24" name="Text 21"/>
          <p:cNvSpPr/>
          <p:nvPr/>
        </p:nvSpPr>
        <p:spPr>
          <a:xfrm>
            <a:off x="877824" y="466953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4</a:t>
            </a:r>
            <a:endParaRPr lang="en-US" sz="1900" dirty="0"/>
          </a:p>
        </p:txBody>
      </p:sp>
      <p:sp>
        <p:nvSpPr>
          <p:cNvPr id="25" name="Text 22"/>
          <p:cNvSpPr/>
          <p:nvPr/>
        </p:nvSpPr>
        <p:spPr>
          <a:xfrm>
            <a:off x="1481328" y="4651248"/>
            <a:ext cx="9912096" cy="1365504"/>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Teacher: Ask students to connect their insights back to today's learning objectives about "The Water Cycle".</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11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8538240"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292608" cy="292608"/>
          </a:xfrm>
          <a:prstGeom prst="ellipse">
            <a:avLst/>
          </a:prstGeom>
          <a:solidFill>
            <a:srgbClr val="087866"/>
          </a:solidFill>
          <a:ln w="12700">
            <a:solidFill>
              <a:srgbClr val="087866"/>
            </a:solidFill>
            <a:prstDash val="solid"/>
          </a:ln>
        </p:spPr>
      </p:sp>
      <p:sp>
        <p:nvSpPr>
          <p:cNvPr id="12" name="Text 9"/>
          <p:cNvSpPr/>
          <p:nvPr/>
        </p:nvSpPr>
        <p:spPr>
          <a:xfrm>
            <a:off x="749808" y="15910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0"/>
          <p:cNvSpPr/>
          <p:nvPr/>
        </p:nvSpPr>
        <p:spPr>
          <a:xfrm>
            <a:off x="1188720" y="1572768"/>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Research Task: "The Water Cycle"</a:t>
            </a:r>
            <a:endParaRPr lang="en-US" sz="1600" dirty="0"/>
          </a:p>
        </p:txBody>
      </p:sp>
      <p:sp>
        <p:nvSpPr>
          <p:cNvPr id="14" name="Shape 11"/>
          <p:cNvSpPr/>
          <p:nvPr/>
        </p:nvSpPr>
        <p:spPr>
          <a:xfrm>
            <a:off x="749808" y="2107692"/>
            <a:ext cx="292608" cy="292608"/>
          </a:xfrm>
          <a:prstGeom prst="ellipse">
            <a:avLst/>
          </a:prstGeom>
          <a:solidFill>
            <a:srgbClr val="087866"/>
          </a:solidFill>
          <a:ln w="12700">
            <a:solidFill>
              <a:srgbClr val="087866"/>
            </a:solidFill>
            <a:prstDash val="solid"/>
          </a:ln>
        </p:spPr>
      </p:sp>
      <p:sp>
        <p:nvSpPr>
          <p:cNvPr id="15" name="Text 12"/>
          <p:cNvSpPr/>
          <p:nvPr/>
        </p:nvSpPr>
        <p:spPr>
          <a:xfrm>
            <a:off x="749808" y="210769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p:nvPr/>
        </p:nvSpPr>
        <p:spPr>
          <a:xfrm>
            <a:off x="1188720" y="2089404"/>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1.</a:t>
            </a:r>
            <a:endParaRPr lang="en-US" sz="1600" dirty="0"/>
          </a:p>
        </p:txBody>
      </p:sp>
      <p:sp>
        <p:nvSpPr>
          <p:cNvPr id="17" name="Shape 14"/>
          <p:cNvSpPr/>
          <p:nvPr/>
        </p:nvSpPr>
        <p:spPr>
          <a:xfrm>
            <a:off x="749808" y="2624328"/>
            <a:ext cx="292608" cy="292608"/>
          </a:xfrm>
          <a:prstGeom prst="ellipse">
            <a:avLst/>
          </a:prstGeom>
          <a:solidFill>
            <a:srgbClr val="087866"/>
          </a:solidFill>
          <a:ln w="12700">
            <a:solidFill>
              <a:srgbClr val="087866"/>
            </a:solidFill>
            <a:prstDash val="solid"/>
          </a:ln>
        </p:spPr>
      </p:sp>
      <p:sp>
        <p:nvSpPr>
          <p:cNvPr id="18" name="Text 15"/>
          <p:cNvSpPr/>
          <p:nvPr/>
        </p:nvSpPr>
        <p:spPr>
          <a:xfrm>
            <a:off x="749808" y="262432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6"/>
          <p:cNvSpPr/>
          <p:nvPr/>
        </p:nvSpPr>
        <p:spPr>
          <a:xfrm>
            <a:off x="1188720" y="2606040"/>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Choose one aspect of "The Water Cycle" that interested you most from today's lesson.</a:t>
            </a:r>
            <a:endParaRPr lang="en-US" sz="1600" dirty="0"/>
          </a:p>
        </p:txBody>
      </p:sp>
      <p:sp>
        <p:nvSpPr>
          <p:cNvPr id="20" name="Shape 17"/>
          <p:cNvSpPr/>
          <p:nvPr/>
        </p:nvSpPr>
        <p:spPr>
          <a:xfrm>
            <a:off x="749808" y="3140964"/>
            <a:ext cx="292608" cy="292608"/>
          </a:xfrm>
          <a:prstGeom prst="ellipse">
            <a:avLst/>
          </a:prstGeom>
          <a:solidFill>
            <a:srgbClr val="087866"/>
          </a:solidFill>
          <a:ln w="12700">
            <a:solidFill>
              <a:srgbClr val="087866"/>
            </a:solidFill>
            <a:prstDash val="solid"/>
          </a:ln>
        </p:spPr>
      </p:sp>
      <p:sp>
        <p:nvSpPr>
          <p:cNvPr id="21" name="Text 18"/>
          <p:cNvSpPr/>
          <p:nvPr/>
        </p:nvSpPr>
        <p:spPr>
          <a:xfrm>
            <a:off x="749808" y="314096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19"/>
          <p:cNvSpPr/>
          <p:nvPr/>
        </p:nvSpPr>
        <p:spPr>
          <a:xfrm>
            <a:off x="1188720" y="3122676"/>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2.</a:t>
            </a:r>
            <a:endParaRPr lang="en-US" sz="1600" dirty="0"/>
          </a:p>
        </p:txBody>
      </p:sp>
      <p:sp>
        <p:nvSpPr>
          <p:cNvPr id="23" name="Shape 20"/>
          <p:cNvSpPr/>
          <p:nvPr/>
        </p:nvSpPr>
        <p:spPr>
          <a:xfrm>
            <a:off x="749808" y="3657600"/>
            <a:ext cx="292608" cy="292608"/>
          </a:xfrm>
          <a:prstGeom prst="ellipse">
            <a:avLst/>
          </a:prstGeom>
          <a:solidFill>
            <a:srgbClr val="087866"/>
          </a:solidFill>
          <a:ln w="12700">
            <a:solidFill>
              <a:srgbClr val="087866"/>
            </a:solidFill>
            <a:prstDash val="solid"/>
          </a:ln>
        </p:spPr>
      </p:sp>
      <p:sp>
        <p:nvSpPr>
          <p:cNvPr id="24" name="Text 21"/>
          <p:cNvSpPr/>
          <p:nvPr/>
        </p:nvSpPr>
        <p:spPr>
          <a:xfrm>
            <a:off x="749808" y="36576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p:nvPr/>
        </p:nvSpPr>
        <p:spPr>
          <a:xfrm>
            <a:off x="1188720" y="3639312"/>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Research it further using textbooks, reliable websites, or other sources.</a:t>
            </a:r>
            <a:endParaRPr lang="en-US" sz="1600" dirty="0"/>
          </a:p>
        </p:txBody>
      </p:sp>
      <p:sp>
        <p:nvSpPr>
          <p:cNvPr id="26" name="Shape 23"/>
          <p:cNvSpPr/>
          <p:nvPr/>
        </p:nvSpPr>
        <p:spPr>
          <a:xfrm>
            <a:off x="749808" y="4174236"/>
            <a:ext cx="292608" cy="292608"/>
          </a:xfrm>
          <a:prstGeom prst="ellipse">
            <a:avLst/>
          </a:prstGeom>
          <a:solidFill>
            <a:srgbClr val="087866"/>
          </a:solidFill>
          <a:ln w="12700">
            <a:solidFill>
              <a:srgbClr val="087866"/>
            </a:solidFill>
            <a:prstDash val="solid"/>
          </a:ln>
        </p:spPr>
      </p:sp>
      <p:sp>
        <p:nvSpPr>
          <p:cNvPr id="27" name="Text 24"/>
          <p:cNvSpPr/>
          <p:nvPr/>
        </p:nvSpPr>
        <p:spPr>
          <a:xfrm>
            <a:off x="749808" y="417423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5"/>
          <p:cNvSpPr/>
          <p:nvPr/>
        </p:nvSpPr>
        <p:spPr>
          <a:xfrm>
            <a:off x="1188720" y="4155948"/>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3.</a:t>
            </a:r>
            <a:endParaRPr lang="en-US" sz="1600" dirty="0"/>
          </a:p>
        </p:txBody>
      </p:sp>
      <p:sp>
        <p:nvSpPr>
          <p:cNvPr id="29" name="Shape 26"/>
          <p:cNvSpPr/>
          <p:nvPr/>
        </p:nvSpPr>
        <p:spPr>
          <a:xfrm>
            <a:off x="749808" y="4690872"/>
            <a:ext cx="292608" cy="292608"/>
          </a:xfrm>
          <a:prstGeom prst="ellipse">
            <a:avLst/>
          </a:prstGeom>
          <a:solidFill>
            <a:srgbClr val="087866"/>
          </a:solidFill>
          <a:ln w="12700">
            <a:solidFill>
              <a:srgbClr val="087866"/>
            </a:solidFill>
            <a:prstDash val="solid"/>
          </a:ln>
        </p:spPr>
      </p:sp>
      <p:sp>
        <p:nvSpPr>
          <p:cNvPr id="30" name="Text 27"/>
          <p:cNvSpPr/>
          <p:nvPr/>
        </p:nvSpPr>
        <p:spPr>
          <a:xfrm>
            <a:off x="749808" y="469087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1" name="Text 28"/>
          <p:cNvSpPr/>
          <p:nvPr/>
        </p:nvSpPr>
        <p:spPr>
          <a:xfrm>
            <a:off x="1188720" y="4672584"/>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Write a one-page summary of your findings in your own words.</a:t>
            </a:r>
            <a:endParaRPr lang="en-US" sz="1600" dirty="0"/>
          </a:p>
        </p:txBody>
      </p:sp>
      <p:sp>
        <p:nvSpPr>
          <p:cNvPr id="32" name="Shape 29"/>
          <p:cNvSpPr/>
          <p:nvPr/>
        </p:nvSpPr>
        <p:spPr>
          <a:xfrm>
            <a:off x="749808" y="5207508"/>
            <a:ext cx="292608" cy="292608"/>
          </a:xfrm>
          <a:prstGeom prst="ellipse">
            <a:avLst/>
          </a:prstGeom>
          <a:solidFill>
            <a:srgbClr val="087866"/>
          </a:solidFill>
          <a:ln w="12700">
            <a:solidFill>
              <a:srgbClr val="087866"/>
            </a:solidFill>
            <a:prstDash val="solid"/>
          </a:ln>
        </p:spPr>
      </p:sp>
      <p:sp>
        <p:nvSpPr>
          <p:cNvPr id="33" name="Text 30"/>
          <p:cNvSpPr/>
          <p:nvPr/>
        </p:nvSpPr>
        <p:spPr>
          <a:xfrm>
            <a:off x="749808" y="520750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4" name="Text 31"/>
          <p:cNvSpPr/>
          <p:nvPr/>
        </p:nvSpPr>
        <p:spPr>
          <a:xfrm>
            <a:off x="1188720" y="5189220"/>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4.</a:t>
            </a:r>
            <a:endParaRPr lang="en-US" sz="1600" dirty="0"/>
          </a:p>
        </p:txBody>
      </p:sp>
      <p:sp>
        <p:nvSpPr>
          <p:cNvPr id="35" name="Shape 32"/>
          <p:cNvSpPr/>
          <p:nvPr/>
        </p:nvSpPr>
        <p:spPr>
          <a:xfrm>
            <a:off x="749808" y="5724144"/>
            <a:ext cx="292608" cy="292608"/>
          </a:xfrm>
          <a:prstGeom prst="ellipse">
            <a:avLst/>
          </a:prstGeom>
          <a:solidFill>
            <a:srgbClr val="087866"/>
          </a:solidFill>
          <a:ln w="12700">
            <a:solidFill>
              <a:srgbClr val="087866"/>
            </a:solidFill>
            <a:prstDash val="solid"/>
          </a:ln>
        </p:spPr>
      </p:sp>
      <p:sp>
        <p:nvSpPr>
          <p:cNvPr id="36" name="Text 33"/>
          <p:cNvSpPr/>
          <p:nvPr/>
        </p:nvSpPr>
        <p:spPr>
          <a:xfrm>
            <a:off x="749808" y="572414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37" name="Text 34"/>
          <p:cNvSpPr/>
          <p:nvPr/>
        </p:nvSpPr>
        <p:spPr>
          <a:xfrm>
            <a:off x="1188720" y="5705856"/>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Include one diagram, image, or real-world example that helps explain your chosen aspect.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 — Continued</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12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9314444"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5.</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Be ready to share your most interesting discovery at the start of the next lesson.</a:t>
            </a:r>
            <a:endParaRPr lang="en-US" sz="2200" dirty="0"/>
          </a:p>
        </p:txBody>
      </p:sp>
      <p:sp>
        <p:nvSpPr>
          <p:cNvPr id="17" name="Shape 14"/>
          <p:cNvSpPr/>
          <p:nvPr/>
        </p:nvSpPr>
        <p:spPr>
          <a:xfrm>
            <a:off x="749808" y="3616198"/>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616198"/>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597910"/>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Challenge: How does "The Water Cycle" connect to daily life or a career that interests you?</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Exit Ticket</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13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09064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709928"/>
            <a:ext cx="4617720" cy="2514600"/>
          </a:xfrm>
          <a:prstGeom prst="rect">
            <a:avLst/>
          </a:prstGeom>
          <a:solidFill>
            <a:srgbClr val="ECFDF8"/>
          </a:solidFill>
          <a:ln w="12700">
            <a:solidFill>
              <a:srgbClr val="ECFDF8"/>
            </a:solidFill>
            <a:prstDash val="solid"/>
          </a:ln>
        </p:spPr>
      </p:sp>
      <p:sp>
        <p:nvSpPr>
          <p:cNvPr id="12" name="Shape 9"/>
          <p:cNvSpPr/>
          <p:nvPr/>
        </p:nvSpPr>
        <p:spPr>
          <a:xfrm>
            <a:off x="749808" y="1709928"/>
            <a:ext cx="54864" cy="2514600"/>
          </a:xfrm>
          <a:prstGeom prst="rect">
            <a:avLst/>
          </a:prstGeom>
          <a:solidFill>
            <a:srgbClr val="087866"/>
          </a:solidFill>
          <a:ln w="12700">
            <a:solidFill>
              <a:srgbClr val="087866"/>
            </a:solidFill>
            <a:prstDash val="solid"/>
          </a:ln>
        </p:spPr>
      </p:sp>
      <p:sp>
        <p:nvSpPr>
          <p:cNvPr id="13" name="Text 10"/>
          <p:cNvSpPr/>
          <p:nvPr/>
        </p:nvSpPr>
        <p:spPr>
          <a:xfrm>
            <a:off x="1005840" y="1856232"/>
            <a:ext cx="4105656" cy="2221992"/>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Quick Check: "The Water Cycle"</a:t>
            </a:r>
            <a:endParaRPr lang="en-US" sz="2200" dirty="0"/>
          </a:p>
        </p:txBody>
      </p:sp>
      <p:sp>
        <p:nvSpPr>
          <p:cNvPr id="14" name="Shape 11"/>
          <p:cNvSpPr/>
          <p:nvPr/>
        </p:nvSpPr>
        <p:spPr>
          <a:xfrm>
            <a:off x="5779008" y="1591056"/>
            <a:ext cx="308610" cy="308610"/>
          </a:xfrm>
          <a:prstGeom prst="ellipse">
            <a:avLst/>
          </a:prstGeom>
          <a:solidFill>
            <a:srgbClr val="087866"/>
          </a:solidFill>
          <a:ln w="12700">
            <a:solidFill>
              <a:srgbClr val="087866"/>
            </a:solidFill>
            <a:prstDash val="solid"/>
          </a:ln>
        </p:spPr>
      </p:sp>
      <p:sp>
        <p:nvSpPr>
          <p:cNvPr id="15" name="Text 12"/>
          <p:cNvSpPr/>
          <p:nvPr/>
        </p:nvSpPr>
        <p:spPr>
          <a:xfrm>
            <a:off x="5779008" y="1591056"/>
            <a:ext cx="308610" cy="30861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3"/>
          <p:cNvSpPr/>
          <p:nvPr/>
        </p:nvSpPr>
        <p:spPr>
          <a:xfrm>
            <a:off x="6233922" y="1572768"/>
            <a:ext cx="5177790" cy="585216"/>
          </a:xfrm>
          <a:prstGeom prst="rect">
            <a:avLst/>
          </a:prstGeom>
          <a:noFill/>
          <a:ln/>
        </p:spPr>
        <p:txBody>
          <a:bodyPr wrap="square" lIns="0" tIns="0" rIns="0" bIns="0" rtlCol="0" anchor="t"/>
          <a:lstStyle/>
          <a:p>
            <a:pPr algn="l" indent="0" marL="0">
              <a:lnSpc>
                <a:spcPct val="116000"/>
              </a:lnSpc>
              <a:buNone/>
            </a:pPr>
            <a:r>
              <a:rPr lang="en-US" sz="1800" dirty="0">
                <a:solidFill>
                  <a:srgbClr val="111827"/>
                </a:solidFill>
                <a:latin typeface="Calibri" pitchFamily="34" charset="0"/>
                <a:ea typeface="Calibri" pitchFamily="34" charset="-122"/>
                <a:cs typeface="Calibri" pitchFamily="34" charset="-120"/>
              </a:rPr>
              <a:t>A short question to check your understanding before you leave today's lesson.</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Success Criteria and Self Evaluation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14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866852"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001658"/>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2934335"/>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Success Criteria</a:t>
            </a:r>
            <a:endParaRPr lang="en-US" sz="2600" dirty="0"/>
          </a:p>
        </p:txBody>
      </p:sp>
      <p:sp>
        <p:nvSpPr>
          <p:cNvPr id="13" name="Shape 10"/>
          <p:cNvSpPr/>
          <p:nvPr/>
        </p:nvSpPr>
        <p:spPr>
          <a:xfrm>
            <a:off x="914400" y="3649853"/>
            <a:ext cx="10515600" cy="0"/>
          </a:xfrm>
          <a:prstGeom prst="line">
            <a:avLst/>
          </a:prstGeom>
          <a:noFill/>
          <a:ln w="12700">
            <a:solidFill>
              <a:srgbClr val="CFF6ED"/>
            </a:solidFill>
            <a:prstDash val="solid"/>
          </a:ln>
        </p:spPr>
      </p:sp>
      <p:sp>
        <p:nvSpPr>
          <p:cNvPr id="14" name="Shape 11"/>
          <p:cNvSpPr/>
          <p:nvPr/>
        </p:nvSpPr>
        <p:spPr>
          <a:xfrm>
            <a:off x="941832" y="3968636"/>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901313"/>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Reflect on what you have learned about "The Water Cycle" today and rate your own confidence.</a:t>
            </a:r>
            <a:endParaRPr lang="en-US" sz="2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Lesson Takeaway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15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1643055"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Remember:</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1. Name the key idea from the lesson.</a:t>
            </a:r>
            <a:endParaRPr lang="en-US" sz="1600" dirty="0"/>
          </a:p>
        </p:txBody>
      </p:sp>
      <p:sp>
        <p:nvSpPr>
          <p:cNvPr id="15" name="Text 12"/>
          <p:cNvSpPr/>
          <p:nvPr/>
        </p:nvSpPr>
        <p:spPr>
          <a:xfrm>
            <a:off x="713232" y="3858768"/>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2. Support your answer with an example or check.</a:t>
            </a:r>
            <a:endParaRPr lang="en-US" sz="1600" dirty="0"/>
          </a:p>
        </p:txBody>
      </p:sp>
      <p:sp>
        <p:nvSpPr>
          <p:cNvPr id="16" name="Text 13"/>
          <p:cNvSpPr/>
          <p:nvPr/>
        </p:nvSpPr>
        <p:spPr>
          <a:xfrm>
            <a:off x="713232" y="4297680"/>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3. Ask one question that would deepen your understanding.</a:t>
            </a:r>
            <a:endParaRPr lang="en-US" sz="1600" dirty="0"/>
          </a:p>
        </p:txBody>
      </p:sp>
      <p:sp>
        <p:nvSpPr>
          <p:cNvPr id="17" name="Text 14"/>
          <p:cNvSpPr/>
          <p:nvPr/>
        </p:nvSpPr>
        <p:spPr>
          <a:xfrm>
            <a:off x="713232" y="4736592"/>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Reflect: What is your next step for improvement?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Layah.ai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Slides — The Water Cycle</dc:title>
  <dc:subject>Science — The Water Cycle</dc:subject>
  <dc:creator>Layah.ai</dc:creator>
  <cp:lastModifiedBy>Layah.ai</cp:lastModifiedBy>
  <cp:revision>1</cp:revision>
  <dcterms:created xsi:type="dcterms:W3CDTF">2026-10-20T17:03:01Z</dcterms:created>
  <dcterms:modified xsi:type="dcterms:W3CDTF">2026-10-20T17:03:01Z</dcterms:modified>
</cp:coreProperties>
</file>