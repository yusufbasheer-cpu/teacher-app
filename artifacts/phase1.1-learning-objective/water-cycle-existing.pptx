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Warm-Up: "The Water Cycle" Take a moment to think about what you already know. Share one idea, question, or guess about today's topic with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Chapter Overview Topic: "The Water Cycle" SDG Connection: this topic links to the UN Sustainable Development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By the end of this lesson, students will be able to demonstrate a clear, measurable understanding of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Core Teaching: "The Water Cycle" Key concepts, terms, and explanations for today's lesson, followed by guided practice activities to apply what students have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Water Cycle"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Water Cycle" Students review and consolidate their learning. 1. Think (2 min): Write down the 3 most important things you learned about "The Water Cycle" today. 2. Pair (2 min): Compare your key points with a partner — what did you both include? What was different? 3. Share (2 min): 2-3 pairs share their most important insight with the class. Teacher: Ask students to connect their insights back to today's learning objectives about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Water Cycle" 1. Choose one aspect of "The Water Cycle"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Water Cycle"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Quick Check: "The Water Cycle" A short question to check your understanding before you leave today's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Success Criteria Reflect on what you have learned about "The Water Cycle" today and rate your own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1508760"/>
            <a:ext cx="6400800" cy="1965960"/>
          </a:xfrm>
          <a:prstGeom prst="rect">
            <a:avLst/>
          </a:prstGeom>
          <a:noFill/>
          <a:ln/>
        </p:spPr>
        <p:txBody>
          <a:bodyPr wrap="square" lIns="0" tIns="0" rIns="0" bIns="0" rtlCol="0" anchor="ctr"/>
          <a:lstStyle/>
          <a:p>
            <a:pPr algn="l" indent="0" marL="0">
              <a:lnSpc>
                <a:spcPct val="116000"/>
              </a:lnSpc>
              <a:buNone/>
            </a:pPr>
            <a:r>
              <a:rPr lang="en-US" sz="3600" b="1" dirty="0">
                <a:solidFill>
                  <a:srgbClr val="111827"/>
                </a:solidFill>
                <a:latin typeface="Calibri" pitchFamily="34" charset="0"/>
                <a:ea typeface="Calibri" pitchFamily="34" charset="-122"/>
                <a:cs typeface="Calibri" pitchFamily="34" charset="-120"/>
              </a:rPr>
              <a:t>The Water Cycle</a:t>
            </a:r>
            <a:endParaRPr lang="en-US" sz="3600" dirty="0"/>
          </a:p>
        </p:txBody>
      </p:sp>
      <p:sp>
        <p:nvSpPr>
          <p:cNvPr id="3" name="Shape 1"/>
          <p:cNvSpPr/>
          <p:nvPr/>
        </p:nvSpPr>
        <p:spPr>
          <a:xfrm>
            <a:off x="685800" y="3675888"/>
            <a:ext cx="3474720" cy="0"/>
          </a:xfrm>
          <a:prstGeom prst="line">
            <a:avLst/>
          </a:prstGeom>
          <a:noFill/>
          <a:ln w="12700">
            <a:solidFill>
              <a:srgbClr val="087866"/>
            </a:solidFill>
            <a:prstDash val="solid"/>
          </a:ln>
        </p:spPr>
      </p:sp>
      <p:sp>
        <p:nvSpPr>
          <p:cNvPr id="4" name="Text 2"/>
          <p:cNvSpPr/>
          <p:nvPr/>
        </p:nvSpPr>
        <p:spPr>
          <a:xfrm>
            <a:off x="685800" y="3886200"/>
            <a:ext cx="6400800" cy="658368"/>
          </a:xfrm>
          <a:prstGeom prst="rect">
            <a:avLst/>
          </a:prstGeom>
          <a:noFill/>
          <a:ln/>
        </p:spPr>
        <p:txBody>
          <a:bodyPr wrap="square" lIns="0" tIns="0" rIns="0" bIns="0" rtlCol="0" anchor="t"/>
          <a:lstStyle/>
          <a:p>
            <a:pPr algn="l" indent="0" marL="0">
              <a:lnSpc>
                <a:spcPct val="116000"/>
              </a:lnSpc>
              <a:buNone/>
            </a:pPr>
            <a:r>
              <a:rPr lang="en-US" sz="1800" dirty="0">
                <a:solidFill>
                  <a:srgbClr val="087866"/>
                </a:solidFill>
                <a:latin typeface="Calibri" pitchFamily="34" charset="0"/>
                <a:ea typeface="Calibri" pitchFamily="34" charset="-122"/>
                <a:cs typeface="Calibri" pitchFamily="34" charset="-120"/>
              </a:rPr>
              <a:t>Science  ·  Year 7  ·  The Water Cycle</a:t>
            </a:r>
            <a:endParaRPr lang="en-US" sz="1800" dirty="0"/>
          </a:p>
        </p:txBody>
      </p:sp>
      <p:sp>
        <p:nvSpPr>
          <p:cNvPr id="5" name="Text 3"/>
          <p:cNvSpPr/>
          <p:nvPr/>
        </p:nvSpPr>
        <p:spPr>
          <a:xfrm>
            <a:off x="685800" y="4709160"/>
            <a:ext cx="6400800"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Wednesday, 21 October 2026</a:t>
            </a:r>
            <a:endParaRPr lang="en-US" sz="1500" dirty="0"/>
          </a:p>
        </p:txBody>
      </p:sp>
      <p:sp>
        <p:nvSpPr>
          <p:cNvPr id="6" name="Shape 4"/>
          <p:cNvSpPr/>
          <p:nvPr/>
        </p:nvSpPr>
        <p:spPr>
          <a:xfrm>
            <a:off x="0" y="6492240"/>
            <a:ext cx="12191695" cy="365760"/>
          </a:xfrm>
          <a:prstGeom prst="rect">
            <a:avLst/>
          </a:prstGeom>
          <a:solidFill>
            <a:srgbClr val="F0FDFB"/>
          </a:solidFill>
          <a:ln w="12700">
            <a:solidFill>
              <a:srgbClr val="F0FDFB"/>
            </a:solidFill>
            <a:prstDash val="solid"/>
          </a:ln>
        </p:spPr>
      </p:sp>
      <p:sp>
        <p:nvSpPr>
          <p:cNvPr id="7" name="Shape 5"/>
          <p:cNvSpPr/>
          <p:nvPr/>
        </p:nvSpPr>
        <p:spPr>
          <a:xfrm>
            <a:off x="0" y="6492240"/>
            <a:ext cx="12191695" cy="0"/>
          </a:xfrm>
          <a:prstGeom prst="line">
            <a:avLst/>
          </a:prstGeom>
          <a:noFill/>
          <a:ln w="12700">
            <a:solidFill>
              <a:srgbClr val="A7F3E8"/>
            </a:solidFill>
            <a:prstDash val="solid"/>
          </a:ln>
        </p:spPr>
      </p:sp>
      <p:sp>
        <p:nvSpPr>
          <p:cNvPr id="8" name="Text 6"/>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9"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10" name="Text 7"/>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 / 15</a:t>
            </a:r>
            <a:endParaRPr lang="en-US" sz="1200" dirty="0"/>
          </a:p>
        </p:txBody>
      </p:sp>
      <p:sp>
        <p:nvSpPr>
          <p:cNvPr id="11" name="Shape 8"/>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2" name="Shape 9"/>
          <p:cNvSpPr/>
          <p:nvPr/>
        </p:nvSpPr>
        <p:spPr>
          <a:xfrm>
            <a:off x="274320" y="6510528"/>
            <a:ext cx="776204"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Starter Activity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55240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Warm-Up: "The Water Cycle"</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Take a moment to think about what you already know.</a:t>
            </a:r>
            <a:endParaRPr lang="en-US" sz="2200" dirty="0"/>
          </a:p>
        </p:txBody>
      </p:sp>
      <p:sp>
        <p:nvSpPr>
          <p:cNvPr id="17" name="Shape 14"/>
          <p:cNvSpPr/>
          <p:nvPr/>
        </p:nvSpPr>
        <p:spPr>
          <a:xfrm>
            <a:off x="749808" y="3296412"/>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29641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278124"/>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Share one idea, question, or guess about today's topic with a partner.</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328611"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Overview</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Water Cycle"</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Connection: this topic links to the UN Sustainable Development Goals.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Objectives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4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10481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Explain how evaporation and condensation transfer water through the water cycle, using particle movement as evidence.</a:t>
            </a: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88101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By the end of this lesson, students will be able to demonstrate a clear, measurable understanding of "The Water Cycle".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65722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Core Teaching: "The Water Cycle"</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Key concepts, terms, and explanations for today's lesson, followed by guided practice activities to apply what students have learned.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433426"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749808" y="133502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Higher Achievers task</a:t>
            </a:r>
            <a:endParaRPr lang="en-US" sz="1500" dirty="0"/>
          </a:p>
        </p:txBody>
      </p:sp>
      <p:sp>
        <p:nvSpPr>
          <p:cNvPr id="12" name="Text 9"/>
          <p:cNvSpPr/>
          <p:nvPr/>
        </p:nvSpPr>
        <p:spPr>
          <a:xfrm>
            <a:off x="749808" y="1664208"/>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Analyse, evaluate, or design an extension challenge applying "The Water Cycle" with greater depth.</a:t>
            </a:r>
            <a:endParaRPr lang="en-US" sz="1500" dirty="0"/>
          </a:p>
        </p:txBody>
      </p:sp>
      <p:sp>
        <p:nvSpPr>
          <p:cNvPr id="13" name="Text 10"/>
          <p:cNvSpPr/>
          <p:nvPr/>
        </p:nvSpPr>
        <p:spPr>
          <a:xfrm>
            <a:off x="749808" y="1993392"/>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Middle Achievers task</a:t>
            </a:r>
            <a:endParaRPr lang="en-US" sz="1500" dirty="0"/>
          </a:p>
        </p:txBody>
      </p:sp>
      <p:sp>
        <p:nvSpPr>
          <p:cNvPr id="14" name="Text 11"/>
          <p:cNvSpPr/>
          <p:nvPr/>
        </p:nvSpPr>
        <p:spPr>
          <a:xfrm>
            <a:off x="749808" y="2322576"/>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Complete the standard activity for "The Water Cycle" with clear steps and expected evidence of understanding.</a:t>
            </a:r>
            <a:endParaRPr lang="en-US" sz="1500" dirty="0"/>
          </a:p>
        </p:txBody>
      </p:sp>
      <p:sp>
        <p:nvSpPr>
          <p:cNvPr id="15" name="Text 12"/>
          <p:cNvSpPr/>
          <p:nvPr/>
        </p:nvSpPr>
        <p:spPr>
          <a:xfrm>
            <a:off x="749808" y="282854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Lower Achievers task</a:t>
            </a:r>
            <a:endParaRPr lang="en-US" sz="1500" dirty="0"/>
          </a:p>
        </p:txBody>
      </p:sp>
      <p:sp>
        <p:nvSpPr>
          <p:cNvPr id="16" name="Text 13"/>
          <p:cNvSpPr/>
          <p:nvPr/>
        </p:nvSpPr>
        <p:spPr>
          <a:xfrm>
            <a:off x="749808" y="3157728"/>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Work through a scaffolded version of "The Water Cycle" with sentence starters, worked examples, or guided prompts.</a:t>
            </a:r>
            <a:endParaRPr lang="en-US" sz="1500" dirty="0"/>
          </a:p>
        </p:txBody>
      </p:sp>
      <p:sp>
        <p:nvSpPr>
          <p:cNvPr id="17" name="Text 14"/>
          <p:cNvSpPr/>
          <p:nvPr/>
        </p:nvSpPr>
        <p:spPr>
          <a:xfrm>
            <a:off x="749808" y="3663696"/>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Mini Plenary</a:t>
            </a:r>
            <a:endParaRPr lang="en-US" sz="1500" dirty="0"/>
          </a:p>
        </p:txBody>
      </p:sp>
      <p:sp>
        <p:nvSpPr>
          <p:cNvPr id="18" name="Text 15"/>
          <p:cNvSpPr/>
          <p:nvPr/>
        </p:nvSpPr>
        <p:spPr>
          <a:xfrm>
            <a:off x="749808" y="3992880"/>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Quick check: In one sentence, explain the most important thing you learned about "The Water Cycle" today.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20962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Real-Life and Cross-Curricular Connection: "The Water Cycle" (Science, Year 7)</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Real-Life Application: The concepts in "The Water Cycle" appear in everyday problem-solving, communication, and decision-making that students will encounter beyond the classroom.</a:t>
            </a:r>
            <a:endParaRPr lang="en-US" sz="1600" dirty="0"/>
          </a:p>
        </p:txBody>
      </p:sp>
      <p:sp>
        <p:nvSpPr>
          <p:cNvPr id="15" name="Text 12"/>
          <p:cNvSpPr/>
          <p:nvPr/>
        </p:nvSpPr>
        <p:spPr>
          <a:xfrm>
            <a:off x="713232" y="4068064"/>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Cross-Curricular Link: "The Water Cycle" connects to other subjects — students can apply this knowledge across Science, Mathematics, and Language Arts, strengthening understanding in multiple areas.</a:t>
            </a:r>
            <a:endParaRPr lang="en-US" sz="1600" dirty="0"/>
          </a:p>
        </p:txBody>
      </p:sp>
      <p:sp>
        <p:nvSpPr>
          <p:cNvPr id="16" name="Text 13"/>
          <p:cNvSpPr/>
          <p:nvPr/>
        </p:nvSpPr>
        <p:spPr>
          <a:xfrm>
            <a:off x="713232" y="4716272"/>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Career Connection: Professionals in STEM, education, healthcare, and creative industries use understanding of "The Water Cycle" as a core part of their daily work.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985833"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377190" cy="377190"/>
          </a:xfrm>
          <a:prstGeom prst="ellipse">
            <a:avLst/>
          </a:prstGeom>
          <a:solidFill>
            <a:srgbClr val="087866"/>
          </a:solidFill>
          <a:ln w="12700">
            <a:solidFill>
              <a:srgbClr val="087866"/>
            </a:solidFill>
            <a:prstDash val="solid"/>
          </a:ln>
        </p:spPr>
      </p:sp>
      <p:sp>
        <p:nvSpPr>
          <p:cNvPr id="12" name="Text 9"/>
          <p:cNvSpPr/>
          <p:nvPr/>
        </p:nvSpPr>
        <p:spPr>
          <a:xfrm>
            <a:off x="877824" y="168249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401318" y="1664208"/>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Think-Pair-Share Activity — "The Water Cycle"</a:t>
            </a:r>
            <a:endParaRPr lang="en-US" sz="2200" dirty="0"/>
          </a:p>
        </p:txBody>
      </p:sp>
      <p:sp>
        <p:nvSpPr>
          <p:cNvPr id="14" name="Shape 11"/>
          <p:cNvSpPr/>
          <p:nvPr/>
        </p:nvSpPr>
        <p:spPr>
          <a:xfrm>
            <a:off x="877824" y="2193696"/>
            <a:ext cx="10515600" cy="0"/>
          </a:xfrm>
          <a:prstGeom prst="line">
            <a:avLst/>
          </a:prstGeom>
          <a:noFill/>
          <a:ln w="12700">
            <a:solidFill>
              <a:srgbClr val="CFF6ED"/>
            </a:solidFill>
            <a:prstDash val="solid"/>
          </a:ln>
        </p:spPr>
      </p:sp>
      <p:sp>
        <p:nvSpPr>
          <p:cNvPr id="15" name="Shape 12"/>
          <p:cNvSpPr/>
          <p:nvPr/>
        </p:nvSpPr>
        <p:spPr>
          <a:xfrm>
            <a:off x="877824" y="2345995"/>
            <a:ext cx="377190" cy="377190"/>
          </a:xfrm>
          <a:prstGeom prst="ellipse">
            <a:avLst/>
          </a:prstGeom>
          <a:solidFill>
            <a:srgbClr val="087866"/>
          </a:solidFill>
          <a:ln w="12700">
            <a:solidFill>
              <a:srgbClr val="087866"/>
            </a:solidFill>
            <a:prstDash val="solid"/>
          </a:ln>
        </p:spPr>
      </p:sp>
      <p:sp>
        <p:nvSpPr>
          <p:cNvPr id="16" name="Text 13"/>
          <p:cNvSpPr/>
          <p:nvPr/>
        </p:nvSpPr>
        <p:spPr>
          <a:xfrm>
            <a:off x="877824" y="2345995"/>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401318" y="2327707"/>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Students review and consolidate their learning.</a:t>
            </a:r>
            <a:endParaRPr lang="en-US" sz="2200" dirty="0"/>
          </a:p>
        </p:txBody>
      </p:sp>
      <p:sp>
        <p:nvSpPr>
          <p:cNvPr id="18" name="Shape 15"/>
          <p:cNvSpPr/>
          <p:nvPr/>
        </p:nvSpPr>
        <p:spPr>
          <a:xfrm>
            <a:off x="877824" y="2857195"/>
            <a:ext cx="10515600" cy="0"/>
          </a:xfrm>
          <a:prstGeom prst="line">
            <a:avLst/>
          </a:prstGeom>
          <a:noFill/>
          <a:ln w="12700">
            <a:solidFill>
              <a:srgbClr val="CFF6ED"/>
            </a:solidFill>
            <a:prstDash val="solid"/>
          </a:ln>
        </p:spPr>
      </p:sp>
      <p:sp>
        <p:nvSpPr>
          <p:cNvPr id="19" name="Shape 16"/>
          <p:cNvSpPr/>
          <p:nvPr/>
        </p:nvSpPr>
        <p:spPr>
          <a:xfrm>
            <a:off x="877824" y="3009494"/>
            <a:ext cx="377190" cy="377190"/>
          </a:xfrm>
          <a:prstGeom prst="ellipse">
            <a:avLst/>
          </a:prstGeom>
          <a:solidFill>
            <a:srgbClr val="087866"/>
          </a:solidFill>
          <a:ln w="12700">
            <a:solidFill>
              <a:srgbClr val="087866"/>
            </a:solidFill>
            <a:prstDash val="solid"/>
          </a:ln>
        </p:spPr>
      </p:sp>
      <p:sp>
        <p:nvSpPr>
          <p:cNvPr id="20" name="Text 17"/>
          <p:cNvSpPr/>
          <p:nvPr/>
        </p:nvSpPr>
        <p:spPr>
          <a:xfrm>
            <a:off x="877824" y="300949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1401318" y="2991206"/>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1.</a:t>
            </a:r>
            <a:endParaRPr lang="en-US" sz="2200" dirty="0"/>
          </a:p>
        </p:txBody>
      </p:sp>
      <p:sp>
        <p:nvSpPr>
          <p:cNvPr id="22" name="Shape 19"/>
          <p:cNvSpPr/>
          <p:nvPr/>
        </p:nvSpPr>
        <p:spPr>
          <a:xfrm>
            <a:off x="877824" y="3520694"/>
            <a:ext cx="10515600" cy="0"/>
          </a:xfrm>
          <a:prstGeom prst="line">
            <a:avLst/>
          </a:prstGeom>
          <a:noFill/>
          <a:ln w="12700">
            <a:solidFill>
              <a:srgbClr val="CFF6ED"/>
            </a:solidFill>
            <a:prstDash val="solid"/>
          </a:ln>
        </p:spPr>
      </p:sp>
      <p:sp>
        <p:nvSpPr>
          <p:cNvPr id="23" name="Shape 20"/>
          <p:cNvSpPr/>
          <p:nvPr/>
        </p:nvSpPr>
        <p:spPr>
          <a:xfrm>
            <a:off x="877824" y="3672992"/>
            <a:ext cx="377190" cy="377190"/>
          </a:xfrm>
          <a:prstGeom prst="ellipse">
            <a:avLst/>
          </a:prstGeom>
          <a:solidFill>
            <a:srgbClr val="087866"/>
          </a:solidFill>
          <a:ln w="12700">
            <a:solidFill>
              <a:srgbClr val="087866"/>
            </a:solidFill>
            <a:prstDash val="solid"/>
          </a:ln>
        </p:spPr>
      </p:sp>
      <p:sp>
        <p:nvSpPr>
          <p:cNvPr id="24" name="Text 21"/>
          <p:cNvSpPr/>
          <p:nvPr/>
        </p:nvSpPr>
        <p:spPr>
          <a:xfrm>
            <a:off x="877824" y="367299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2"/>
          <p:cNvSpPr/>
          <p:nvPr/>
        </p:nvSpPr>
        <p:spPr>
          <a:xfrm>
            <a:off x="1401318" y="3654704"/>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 (2 min): Write down the 3 most important things you learned about "The Water Cycle" today.</a:t>
            </a:r>
            <a:endParaRPr lang="en-US" sz="2200" dirty="0"/>
          </a:p>
        </p:txBody>
      </p:sp>
      <p:sp>
        <p:nvSpPr>
          <p:cNvPr id="26" name="Shape 23"/>
          <p:cNvSpPr/>
          <p:nvPr/>
        </p:nvSpPr>
        <p:spPr>
          <a:xfrm>
            <a:off x="877824" y="4503979"/>
            <a:ext cx="10515600" cy="0"/>
          </a:xfrm>
          <a:prstGeom prst="line">
            <a:avLst/>
          </a:prstGeom>
          <a:noFill/>
          <a:ln w="12700">
            <a:solidFill>
              <a:srgbClr val="CFF6ED"/>
            </a:solidFill>
            <a:prstDash val="solid"/>
          </a:ln>
        </p:spPr>
      </p:sp>
      <p:sp>
        <p:nvSpPr>
          <p:cNvPr id="27" name="Shape 24"/>
          <p:cNvSpPr/>
          <p:nvPr/>
        </p:nvSpPr>
        <p:spPr>
          <a:xfrm>
            <a:off x="877824" y="4656277"/>
            <a:ext cx="377190" cy="377190"/>
          </a:xfrm>
          <a:prstGeom prst="ellipse">
            <a:avLst/>
          </a:prstGeom>
          <a:solidFill>
            <a:srgbClr val="087866"/>
          </a:solidFill>
          <a:ln w="12700">
            <a:solidFill>
              <a:srgbClr val="087866"/>
            </a:solidFill>
            <a:prstDash val="solid"/>
          </a:ln>
        </p:spPr>
      </p:sp>
      <p:sp>
        <p:nvSpPr>
          <p:cNvPr id="28" name="Text 25"/>
          <p:cNvSpPr/>
          <p:nvPr/>
        </p:nvSpPr>
        <p:spPr>
          <a:xfrm>
            <a:off x="877824" y="4656277"/>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6"/>
          <p:cNvSpPr/>
          <p:nvPr/>
        </p:nvSpPr>
        <p:spPr>
          <a:xfrm>
            <a:off x="1401318" y="4637989"/>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2.</a:t>
            </a:r>
            <a:endParaRPr lang="en-US" sz="2200" dirty="0"/>
          </a:p>
        </p:txBody>
      </p:sp>
      <p:sp>
        <p:nvSpPr>
          <p:cNvPr id="30" name="Shape 27"/>
          <p:cNvSpPr/>
          <p:nvPr/>
        </p:nvSpPr>
        <p:spPr>
          <a:xfrm>
            <a:off x="877824" y="5167478"/>
            <a:ext cx="10515600" cy="0"/>
          </a:xfrm>
          <a:prstGeom prst="line">
            <a:avLst/>
          </a:prstGeom>
          <a:noFill/>
          <a:ln w="12700">
            <a:solidFill>
              <a:srgbClr val="CFF6ED"/>
            </a:solidFill>
            <a:prstDash val="solid"/>
          </a:ln>
        </p:spPr>
      </p:sp>
      <p:sp>
        <p:nvSpPr>
          <p:cNvPr id="31" name="Shape 28"/>
          <p:cNvSpPr/>
          <p:nvPr/>
        </p:nvSpPr>
        <p:spPr>
          <a:xfrm>
            <a:off x="877824" y="5319776"/>
            <a:ext cx="377190" cy="377190"/>
          </a:xfrm>
          <a:prstGeom prst="ellipse">
            <a:avLst/>
          </a:prstGeom>
          <a:solidFill>
            <a:srgbClr val="087866"/>
          </a:solidFill>
          <a:ln w="12700">
            <a:solidFill>
              <a:srgbClr val="087866"/>
            </a:solidFill>
            <a:prstDash val="solid"/>
          </a:ln>
        </p:spPr>
      </p:sp>
      <p:sp>
        <p:nvSpPr>
          <p:cNvPr id="32" name="Text 29"/>
          <p:cNvSpPr/>
          <p:nvPr/>
        </p:nvSpPr>
        <p:spPr>
          <a:xfrm>
            <a:off x="877824" y="531977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p:nvPr/>
        </p:nvSpPr>
        <p:spPr>
          <a:xfrm>
            <a:off x="1401318" y="5301488"/>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Pair (2 min): Compare your key points with a partner — what did you both include?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7620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68249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664208"/>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What was different?</a:t>
            </a:r>
            <a:endParaRPr lang="en-US" sz="2800" dirty="0"/>
          </a:p>
        </p:txBody>
      </p:sp>
      <p:sp>
        <p:nvSpPr>
          <p:cNvPr id="14" name="Shape 11"/>
          <p:cNvSpPr/>
          <p:nvPr/>
        </p:nvSpPr>
        <p:spPr>
          <a:xfrm>
            <a:off x="877824" y="2327317"/>
            <a:ext cx="10515600" cy="0"/>
          </a:xfrm>
          <a:prstGeom prst="line">
            <a:avLst/>
          </a:prstGeom>
          <a:noFill/>
          <a:ln w="12700">
            <a:solidFill>
              <a:srgbClr val="CFF6ED"/>
            </a:solidFill>
            <a:prstDash val="solid"/>
          </a:ln>
        </p:spPr>
      </p:sp>
      <p:sp>
        <p:nvSpPr>
          <p:cNvPr id="15" name="Shape 12"/>
          <p:cNvSpPr/>
          <p:nvPr/>
        </p:nvSpPr>
        <p:spPr>
          <a:xfrm>
            <a:off x="877824" y="2533227"/>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253322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2514939"/>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3.</a:t>
            </a:r>
            <a:endParaRPr lang="en-US" sz="2800" dirty="0"/>
          </a:p>
        </p:txBody>
      </p:sp>
      <p:sp>
        <p:nvSpPr>
          <p:cNvPr id="18" name="Shape 15"/>
          <p:cNvSpPr/>
          <p:nvPr/>
        </p:nvSpPr>
        <p:spPr>
          <a:xfrm>
            <a:off x="877824" y="3178048"/>
            <a:ext cx="10515600" cy="0"/>
          </a:xfrm>
          <a:prstGeom prst="line">
            <a:avLst/>
          </a:prstGeom>
          <a:noFill/>
          <a:ln w="12700">
            <a:solidFill>
              <a:srgbClr val="CFF6ED"/>
            </a:solidFill>
            <a:prstDash val="solid"/>
          </a:ln>
        </p:spPr>
      </p:sp>
      <p:sp>
        <p:nvSpPr>
          <p:cNvPr id="19" name="Shape 16"/>
          <p:cNvSpPr/>
          <p:nvPr/>
        </p:nvSpPr>
        <p:spPr>
          <a:xfrm>
            <a:off x="877824" y="3383957"/>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338395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3365669"/>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Share (2 min): 2-3 pairs share their most important insight with the class.</a:t>
            </a:r>
            <a:endParaRPr lang="en-US" sz="2800" dirty="0"/>
          </a:p>
        </p:txBody>
      </p:sp>
      <p:sp>
        <p:nvSpPr>
          <p:cNvPr id="22" name="Shape 19"/>
          <p:cNvSpPr/>
          <p:nvPr/>
        </p:nvSpPr>
        <p:spPr>
          <a:xfrm>
            <a:off x="877824" y="4463627"/>
            <a:ext cx="10515600" cy="0"/>
          </a:xfrm>
          <a:prstGeom prst="line">
            <a:avLst/>
          </a:prstGeom>
          <a:noFill/>
          <a:ln w="12700">
            <a:solidFill>
              <a:srgbClr val="CFF6ED"/>
            </a:solidFill>
            <a:prstDash val="solid"/>
          </a:ln>
        </p:spPr>
      </p:sp>
      <p:sp>
        <p:nvSpPr>
          <p:cNvPr id="23" name="Shape 20"/>
          <p:cNvSpPr/>
          <p:nvPr/>
        </p:nvSpPr>
        <p:spPr>
          <a:xfrm>
            <a:off x="877824" y="4669536"/>
            <a:ext cx="457200" cy="457200"/>
          </a:xfrm>
          <a:prstGeom prst="ellipse">
            <a:avLst/>
          </a:prstGeom>
          <a:solidFill>
            <a:srgbClr val="087866"/>
          </a:solidFill>
          <a:ln w="12700">
            <a:solidFill>
              <a:srgbClr val="087866"/>
            </a:solidFill>
            <a:prstDash val="solid"/>
          </a:ln>
        </p:spPr>
      </p:sp>
      <p:sp>
        <p:nvSpPr>
          <p:cNvPr id="24" name="Text 21"/>
          <p:cNvSpPr/>
          <p:nvPr/>
        </p:nvSpPr>
        <p:spPr>
          <a:xfrm>
            <a:off x="877824" y="46695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25" name="Text 22"/>
          <p:cNvSpPr/>
          <p:nvPr/>
        </p:nvSpPr>
        <p:spPr>
          <a:xfrm>
            <a:off x="1481328" y="4651248"/>
            <a:ext cx="9912096" cy="1365504"/>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Teacher: Ask students to connect their insights back to today's learning objectives about "The Water Cycle".</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538240"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292608" cy="292608"/>
          </a:xfrm>
          <a:prstGeom prst="ellipse">
            <a:avLst/>
          </a:prstGeom>
          <a:solidFill>
            <a:srgbClr val="087866"/>
          </a:solidFill>
          <a:ln w="12700">
            <a:solidFill>
              <a:srgbClr val="087866"/>
            </a:solidFill>
            <a:prstDash val="solid"/>
          </a:ln>
        </p:spPr>
      </p:sp>
      <p:sp>
        <p:nvSpPr>
          <p:cNvPr id="12" name="Text 9"/>
          <p:cNvSpPr/>
          <p:nvPr/>
        </p:nvSpPr>
        <p:spPr>
          <a:xfrm>
            <a:off x="749808" y="15910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p:nvPr/>
        </p:nvSpPr>
        <p:spPr>
          <a:xfrm>
            <a:off x="1188720" y="157276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Task: "The Water Cycle"</a:t>
            </a:r>
            <a:endParaRPr lang="en-US" sz="1600" dirty="0"/>
          </a:p>
        </p:txBody>
      </p:sp>
      <p:sp>
        <p:nvSpPr>
          <p:cNvPr id="14" name="Shape 11"/>
          <p:cNvSpPr/>
          <p:nvPr/>
        </p:nvSpPr>
        <p:spPr>
          <a:xfrm>
            <a:off x="749808" y="2107692"/>
            <a:ext cx="292608" cy="292608"/>
          </a:xfrm>
          <a:prstGeom prst="ellipse">
            <a:avLst/>
          </a:prstGeom>
          <a:solidFill>
            <a:srgbClr val="087866"/>
          </a:solidFill>
          <a:ln w="12700">
            <a:solidFill>
              <a:srgbClr val="087866"/>
            </a:solidFill>
            <a:prstDash val="solid"/>
          </a:ln>
        </p:spPr>
      </p:sp>
      <p:sp>
        <p:nvSpPr>
          <p:cNvPr id="15" name="Text 12"/>
          <p:cNvSpPr/>
          <p:nvPr/>
        </p:nvSpPr>
        <p:spPr>
          <a:xfrm>
            <a:off x="749808" y="21076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1188720" y="208940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a:t>
            </a:r>
            <a:endParaRPr lang="en-US" sz="1600" dirty="0"/>
          </a:p>
        </p:txBody>
      </p:sp>
      <p:sp>
        <p:nvSpPr>
          <p:cNvPr id="17" name="Shape 14"/>
          <p:cNvSpPr/>
          <p:nvPr/>
        </p:nvSpPr>
        <p:spPr>
          <a:xfrm>
            <a:off x="749808" y="2624328"/>
            <a:ext cx="292608" cy="292608"/>
          </a:xfrm>
          <a:prstGeom prst="ellipse">
            <a:avLst/>
          </a:prstGeom>
          <a:solidFill>
            <a:srgbClr val="087866"/>
          </a:solidFill>
          <a:ln w="12700">
            <a:solidFill>
              <a:srgbClr val="087866"/>
            </a:solidFill>
            <a:prstDash val="solid"/>
          </a:ln>
        </p:spPr>
      </p:sp>
      <p:sp>
        <p:nvSpPr>
          <p:cNvPr id="18" name="Text 15"/>
          <p:cNvSpPr/>
          <p:nvPr/>
        </p:nvSpPr>
        <p:spPr>
          <a:xfrm>
            <a:off x="749808" y="2624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p:nvPr/>
        </p:nvSpPr>
        <p:spPr>
          <a:xfrm>
            <a:off x="1188720" y="260604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Choose one aspect of "The Water Cycle" that interested you most from today's lesson.</a:t>
            </a:r>
            <a:endParaRPr lang="en-US" sz="1600" dirty="0"/>
          </a:p>
        </p:txBody>
      </p:sp>
      <p:sp>
        <p:nvSpPr>
          <p:cNvPr id="20" name="Shape 17"/>
          <p:cNvSpPr/>
          <p:nvPr/>
        </p:nvSpPr>
        <p:spPr>
          <a:xfrm>
            <a:off x="749808" y="3140964"/>
            <a:ext cx="292608" cy="292608"/>
          </a:xfrm>
          <a:prstGeom prst="ellipse">
            <a:avLst/>
          </a:prstGeom>
          <a:solidFill>
            <a:srgbClr val="087866"/>
          </a:solidFill>
          <a:ln w="12700">
            <a:solidFill>
              <a:srgbClr val="087866"/>
            </a:solidFill>
            <a:prstDash val="solid"/>
          </a:ln>
        </p:spPr>
      </p:sp>
      <p:sp>
        <p:nvSpPr>
          <p:cNvPr id="21" name="Text 18"/>
          <p:cNvSpPr/>
          <p:nvPr/>
        </p:nvSpPr>
        <p:spPr>
          <a:xfrm>
            <a:off x="749808" y="31409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p:nvPr/>
        </p:nvSpPr>
        <p:spPr>
          <a:xfrm>
            <a:off x="1188720" y="312267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a:t>
            </a:r>
            <a:endParaRPr lang="en-US" sz="1600" dirty="0"/>
          </a:p>
        </p:txBody>
      </p:sp>
      <p:sp>
        <p:nvSpPr>
          <p:cNvPr id="23" name="Shape 20"/>
          <p:cNvSpPr/>
          <p:nvPr/>
        </p:nvSpPr>
        <p:spPr>
          <a:xfrm>
            <a:off x="749808" y="3657600"/>
            <a:ext cx="292608" cy="292608"/>
          </a:xfrm>
          <a:prstGeom prst="ellipse">
            <a:avLst/>
          </a:prstGeom>
          <a:solidFill>
            <a:srgbClr val="087866"/>
          </a:solidFill>
          <a:ln w="12700">
            <a:solidFill>
              <a:srgbClr val="087866"/>
            </a:solidFill>
            <a:prstDash val="solid"/>
          </a:ln>
        </p:spPr>
      </p:sp>
      <p:sp>
        <p:nvSpPr>
          <p:cNvPr id="24" name="Text 21"/>
          <p:cNvSpPr/>
          <p:nvPr/>
        </p:nvSpPr>
        <p:spPr>
          <a:xfrm>
            <a:off x="749808" y="3657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p:nvPr/>
        </p:nvSpPr>
        <p:spPr>
          <a:xfrm>
            <a:off x="1188720" y="3639312"/>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it further using textbooks, reliable websites, or other sources.</a:t>
            </a:r>
            <a:endParaRPr lang="en-US" sz="1600" dirty="0"/>
          </a:p>
        </p:txBody>
      </p:sp>
      <p:sp>
        <p:nvSpPr>
          <p:cNvPr id="26" name="Shape 23"/>
          <p:cNvSpPr/>
          <p:nvPr/>
        </p:nvSpPr>
        <p:spPr>
          <a:xfrm>
            <a:off x="749808" y="4174236"/>
            <a:ext cx="292608" cy="292608"/>
          </a:xfrm>
          <a:prstGeom prst="ellipse">
            <a:avLst/>
          </a:prstGeom>
          <a:solidFill>
            <a:srgbClr val="087866"/>
          </a:solidFill>
          <a:ln w="12700">
            <a:solidFill>
              <a:srgbClr val="087866"/>
            </a:solidFill>
            <a:prstDash val="solid"/>
          </a:ln>
        </p:spPr>
      </p:sp>
      <p:sp>
        <p:nvSpPr>
          <p:cNvPr id="27" name="Text 24"/>
          <p:cNvSpPr/>
          <p:nvPr/>
        </p:nvSpPr>
        <p:spPr>
          <a:xfrm>
            <a:off x="749808" y="41742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p:nvPr/>
        </p:nvSpPr>
        <p:spPr>
          <a:xfrm>
            <a:off x="1188720" y="415594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a:t>
            </a:r>
            <a:endParaRPr lang="en-US" sz="1600" dirty="0"/>
          </a:p>
        </p:txBody>
      </p:sp>
      <p:sp>
        <p:nvSpPr>
          <p:cNvPr id="29" name="Shape 26"/>
          <p:cNvSpPr/>
          <p:nvPr/>
        </p:nvSpPr>
        <p:spPr>
          <a:xfrm>
            <a:off x="749808" y="4690872"/>
            <a:ext cx="292608" cy="292608"/>
          </a:xfrm>
          <a:prstGeom prst="ellipse">
            <a:avLst/>
          </a:prstGeom>
          <a:solidFill>
            <a:srgbClr val="087866"/>
          </a:solidFill>
          <a:ln w="12700">
            <a:solidFill>
              <a:srgbClr val="087866"/>
            </a:solidFill>
            <a:prstDash val="solid"/>
          </a:ln>
        </p:spPr>
      </p:sp>
      <p:sp>
        <p:nvSpPr>
          <p:cNvPr id="30" name="Text 27"/>
          <p:cNvSpPr/>
          <p:nvPr/>
        </p:nvSpPr>
        <p:spPr>
          <a:xfrm>
            <a:off x="749808" y="46908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8"/>
          <p:cNvSpPr/>
          <p:nvPr/>
        </p:nvSpPr>
        <p:spPr>
          <a:xfrm>
            <a:off x="1188720" y="467258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Write a one-page summary of your findings in your own words.</a:t>
            </a:r>
            <a:endParaRPr lang="en-US" sz="1600" dirty="0"/>
          </a:p>
        </p:txBody>
      </p:sp>
      <p:sp>
        <p:nvSpPr>
          <p:cNvPr id="32" name="Shape 29"/>
          <p:cNvSpPr/>
          <p:nvPr/>
        </p:nvSpPr>
        <p:spPr>
          <a:xfrm>
            <a:off x="749808" y="5207508"/>
            <a:ext cx="292608" cy="292608"/>
          </a:xfrm>
          <a:prstGeom prst="ellipse">
            <a:avLst/>
          </a:prstGeom>
          <a:solidFill>
            <a:srgbClr val="087866"/>
          </a:solidFill>
          <a:ln w="12700">
            <a:solidFill>
              <a:srgbClr val="087866"/>
            </a:solidFill>
            <a:prstDash val="solid"/>
          </a:ln>
        </p:spPr>
      </p:sp>
      <p:sp>
        <p:nvSpPr>
          <p:cNvPr id="33" name="Text 30"/>
          <p:cNvSpPr/>
          <p:nvPr/>
        </p:nvSpPr>
        <p:spPr>
          <a:xfrm>
            <a:off x="749808" y="520750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4" name="Text 31"/>
          <p:cNvSpPr/>
          <p:nvPr/>
        </p:nvSpPr>
        <p:spPr>
          <a:xfrm>
            <a:off x="1188720" y="518922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4.</a:t>
            </a:r>
            <a:endParaRPr lang="en-US" sz="1600" dirty="0"/>
          </a:p>
        </p:txBody>
      </p:sp>
      <p:sp>
        <p:nvSpPr>
          <p:cNvPr id="35" name="Shape 32"/>
          <p:cNvSpPr/>
          <p:nvPr/>
        </p:nvSpPr>
        <p:spPr>
          <a:xfrm>
            <a:off x="749808" y="5724144"/>
            <a:ext cx="292608" cy="292608"/>
          </a:xfrm>
          <a:prstGeom prst="ellipse">
            <a:avLst/>
          </a:prstGeom>
          <a:solidFill>
            <a:srgbClr val="087866"/>
          </a:solidFill>
          <a:ln w="12700">
            <a:solidFill>
              <a:srgbClr val="087866"/>
            </a:solidFill>
            <a:prstDash val="solid"/>
          </a:ln>
        </p:spPr>
      </p:sp>
      <p:sp>
        <p:nvSpPr>
          <p:cNvPr id="36" name="Text 33"/>
          <p:cNvSpPr/>
          <p:nvPr/>
        </p:nvSpPr>
        <p:spPr>
          <a:xfrm>
            <a:off x="749808" y="57241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7" name="Text 34"/>
          <p:cNvSpPr/>
          <p:nvPr/>
        </p:nvSpPr>
        <p:spPr>
          <a:xfrm>
            <a:off x="1188720" y="570585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Include one diagram, image, or real-world example that helps explain your chosen aspect.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314444"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5.</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Be ready to share your most interesting discovery at the start of the next lesson.</a:t>
            </a:r>
            <a:endParaRPr lang="en-US" sz="2200" dirty="0"/>
          </a:p>
        </p:txBody>
      </p:sp>
      <p:sp>
        <p:nvSpPr>
          <p:cNvPr id="17" name="Shape 14"/>
          <p:cNvSpPr/>
          <p:nvPr/>
        </p:nvSpPr>
        <p:spPr>
          <a:xfrm>
            <a:off x="749808" y="3616198"/>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61619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597910"/>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Challenge: How does "The Water Cycle" connect to daily life or a career that interests you?</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09064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709928"/>
            <a:ext cx="4617720" cy="2514600"/>
          </a:xfrm>
          <a:prstGeom prst="rect">
            <a:avLst/>
          </a:prstGeom>
          <a:solidFill>
            <a:srgbClr val="ECFDF8"/>
          </a:solidFill>
          <a:ln w="12700">
            <a:solidFill>
              <a:srgbClr val="ECFDF8"/>
            </a:solidFill>
            <a:prstDash val="solid"/>
          </a:ln>
        </p:spPr>
      </p:sp>
      <p:sp>
        <p:nvSpPr>
          <p:cNvPr id="12" name="Shape 9"/>
          <p:cNvSpPr/>
          <p:nvPr/>
        </p:nvSpPr>
        <p:spPr>
          <a:xfrm>
            <a:off x="749808" y="1709928"/>
            <a:ext cx="54864" cy="2514600"/>
          </a:xfrm>
          <a:prstGeom prst="rect">
            <a:avLst/>
          </a:prstGeom>
          <a:solidFill>
            <a:srgbClr val="087866"/>
          </a:solidFill>
          <a:ln w="12700">
            <a:solidFill>
              <a:srgbClr val="087866"/>
            </a:solidFill>
            <a:prstDash val="solid"/>
          </a:ln>
        </p:spPr>
      </p:sp>
      <p:sp>
        <p:nvSpPr>
          <p:cNvPr id="13" name="Text 10"/>
          <p:cNvSpPr/>
          <p:nvPr/>
        </p:nvSpPr>
        <p:spPr>
          <a:xfrm>
            <a:off x="1005840" y="1856232"/>
            <a:ext cx="4105656" cy="2221992"/>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Quick Check: "The Water Cycle"</a:t>
            </a:r>
            <a:endParaRPr lang="en-US" sz="2200" dirty="0"/>
          </a:p>
        </p:txBody>
      </p:sp>
      <p:sp>
        <p:nvSpPr>
          <p:cNvPr id="14" name="Shape 11"/>
          <p:cNvSpPr/>
          <p:nvPr/>
        </p:nvSpPr>
        <p:spPr>
          <a:xfrm>
            <a:off x="5779008" y="1591056"/>
            <a:ext cx="308610" cy="308610"/>
          </a:xfrm>
          <a:prstGeom prst="ellipse">
            <a:avLst/>
          </a:prstGeom>
          <a:solidFill>
            <a:srgbClr val="087866"/>
          </a:solidFill>
          <a:ln w="12700">
            <a:solidFill>
              <a:srgbClr val="087866"/>
            </a:solidFill>
            <a:prstDash val="solid"/>
          </a:ln>
        </p:spPr>
      </p:sp>
      <p:sp>
        <p:nvSpPr>
          <p:cNvPr id="15" name="Text 12"/>
          <p:cNvSpPr/>
          <p:nvPr/>
        </p:nvSpPr>
        <p:spPr>
          <a:xfrm>
            <a:off x="5779008" y="1591056"/>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p:nvPr/>
        </p:nvSpPr>
        <p:spPr>
          <a:xfrm>
            <a:off x="6233922" y="1572768"/>
            <a:ext cx="5177790" cy="585216"/>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A short question to check your understanding before you leave today's lesson.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14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86685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001658"/>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934335"/>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Success Criteria</a:t>
            </a:r>
            <a:endParaRPr lang="en-US" sz="2600" dirty="0"/>
          </a:p>
        </p:txBody>
      </p:sp>
      <p:sp>
        <p:nvSpPr>
          <p:cNvPr id="13" name="Shape 10"/>
          <p:cNvSpPr/>
          <p:nvPr/>
        </p:nvSpPr>
        <p:spPr>
          <a:xfrm>
            <a:off x="914400" y="3649853"/>
            <a:ext cx="10515600" cy="0"/>
          </a:xfrm>
          <a:prstGeom prst="line">
            <a:avLst/>
          </a:prstGeom>
          <a:noFill/>
          <a:ln w="12700">
            <a:solidFill>
              <a:srgbClr val="CFF6ED"/>
            </a:solidFill>
            <a:prstDash val="solid"/>
          </a:ln>
        </p:spPr>
      </p:sp>
      <p:sp>
        <p:nvSpPr>
          <p:cNvPr id="14" name="Shape 11"/>
          <p:cNvSpPr/>
          <p:nvPr/>
        </p:nvSpPr>
        <p:spPr>
          <a:xfrm>
            <a:off x="941832" y="3968636"/>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901313"/>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Reflect on what you have learned about "The Water Cycle" today and rate your own confidence.</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Remember:</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 Name the key idea from the lesson.</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 Support your answer with an example or check.</a:t>
            </a:r>
            <a:endParaRPr lang="en-US" sz="1600" dirty="0"/>
          </a:p>
        </p:txBody>
      </p:sp>
      <p:sp>
        <p:nvSpPr>
          <p:cNvPr id="16" name="Text 13"/>
          <p:cNvSpPr/>
          <p:nvPr/>
        </p:nvSpPr>
        <p:spPr>
          <a:xfrm>
            <a:off x="713232" y="4297680"/>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 Ask one question that would deepen your understanding.</a:t>
            </a:r>
            <a:endParaRPr lang="en-US" sz="1600" dirty="0"/>
          </a:p>
        </p:txBody>
      </p:sp>
      <p:sp>
        <p:nvSpPr>
          <p:cNvPr id="17" name="Text 14"/>
          <p:cNvSpPr/>
          <p:nvPr/>
        </p:nvSpPr>
        <p:spPr>
          <a:xfrm>
            <a:off x="713232" y="4736592"/>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Reflect: What is your next step for improvement?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Water Cycle</dc:title>
  <dc:subject>Science — The Water Cycle</dc:subject>
  <dc:creator>Layah.ai</dc:creator>
  <cp:lastModifiedBy>Layah.ai</cp:lastModifiedBy>
  <cp:revision>1</cp:revision>
  <dcterms:created xsi:type="dcterms:W3CDTF">2026-10-21T04:18:13Z</dcterms:created>
  <dcterms:modified xsi:type="dcterms:W3CDTF">2026-10-21T04:18:13Z</dcterms:modified>
</cp:coreProperties>
</file>