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Industrial Revolution".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Industrial Revolution".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Industrial Revolution".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Industrial Revolution".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Industrial Revolution"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Industrial Revolution" Students review and consolidate their learning. 1. Think (2 min): Write down the 3 most important things you learned about "The Industrial Revolution" today. 2. Pair (2 min): Compare your key points with a partner — what did you both include? What was different? 3. Share (2 min): 2-3 pairs share their most important insight with the class. Teacher: Ask students to connect their insights back to today's learning objectives about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Industrial Revolution" 1. Choose one aspect of "The Industrial Revolution"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Industrial Revolution"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Industrial Revolution".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Industrial Revolution".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Industrial Revolution</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History  ·  Year 8  ·  The Industrial Revolution</a:t>
            </a:r>
            <a:endParaRPr lang="en-US" sz="1800" dirty="0"/>
          </a:p>
        </p:txBody>
      </p:sp>
      <p:sp>
        <p:nvSpPr>
          <p:cNvPr id="5" name="Shape 3"/>
          <p:cNvSpPr/>
          <p:nvPr/>
        </p:nvSpPr>
        <p:spPr>
          <a:xfrm>
            <a:off x="7406640" y="1609344"/>
            <a:ext cx="4114800" cy="4251960"/>
          </a:xfrm>
          <a:prstGeom prst="roundRect">
            <a:avLst>
              <a:gd name="adj" fmla="val 2667"/>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6" name="Image 0" descr="Lesson illustration">    </p:cNvPr>
          <p:cNvPicPr>
            <a:picLocks noChangeAspect="1"/>
          </p:cNvPicPr>
          <p:nvPr/>
        </p:nvPicPr>
        <p:blipFill>
          <a:blip r:embed="rId1"/>
          <a:stretch>
            <a:fillRect/>
          </a:stretch>
        </p:blipFill>
        <p:spPr>
          <a:xfrm>
            <a:off x="7498080" y="2423987"/>
            <a:ext cx="3931920" cy="2622674"/>
          </a:xfrm>
          <a:prstGeom prst="rect">
            <a:avLst/>
          </a:prstGeom>
          <a:effectLst>
            <a:outerShdw sx="100000" sy="100000" kx="0" ky="0" algn="bl" rotWithShape="0" blurRad="60960" dist="25400" dir="5400000">
              <a:srgbClr val="00846E">
                <a:alpha val="14000"/>
              </a:srgbClr>
            </a:outerShdw>
          </a:effectLst>
        </p:spPr>
      </p:pic>
      <p:sp>
        <p:nvSpPr>
          <p:cNvPr id="7" name="Shape 4"/>
          <p:cNvSpPr/>
          <p:nvPr/>
        </p:nvSpPr>
        <p:spPr>
          <a:xfrm>
            <a:off x="0" y="6492240"/>
            <a:ext cx="12191695" cy="365760"/>
          </a:xfrm>
          <a:prstGeom prst="rect">
            <a:avLst/>
          </a:prstGeom>
          <a:solidFill>
            <a:srgbClr val="F0FDFB"/>
          </a:solidFill>
          <a:ln w="12700">
            <a:solidFill>
              <a:srgbClr val="F0FDFB"/>
            </a:solidFill>
            <a:prstDash val="solid"/>
          </a:ln>
        </p:spPr>
      </p:sp>
      <p:sp>
        <p:nvSpPr>
          <p:cNvPr id="8" name="Shape 5"/>
          <p:cNvSpPr/>
          <p:nvPr/>
        </p:nvSpPr>
        <p:spPr>
          <a:xfrm>
            <a:off x="0" y="6492240"/>
            <a:ext cx="12191695" cy="0"/>
          </a:xfrm>
          <a:prstGeom prst="line">
            <a:avLst/>
          </a:prstGeom>
          <a:noFill/>
          <a:ln w="12700">
            <a:solidFill>
              <a:srgbClr val="A7F3E8"/>
            </a:solidFill>
            <a:prstDash val="solid"/>
          </a:ln>
        </p:spPr>
      </p:sp>
      <p:sp>
        <p:nvSpPr>
          <p:cNvPr id="9"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10" name="Image 1" descr="Layah">    </p:cNvPr>
          <p:cNvPicPr>
            <a:picLocks noChangeAspect="1"/>
          </p:cNvPicPr>
          <p:nvPr/>
        </p:nvPicPr>
        <p:blipFill>
          <a:blip r:embed="rId2"/>
          <a:stretch>
            <a:fillRect/>
          </a:stretch>
        </p:blipFill>
        <p:spPr>
          <a:xfrm>
            <a:off x="5394960" y="6528816"/>
            <a:ext cx="1051560" cy="292608"/>
          </a:xfrm>
          <a:prstGeom prst="rect">
            <a:avLst/>
          </a:prstGeom>
        </p:spPr>
      </p:pic>
      <p:sp>
        <p:nvSpPr>
          <p:cNvPr id="11"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13</a:t>
            </a:r>
            <a:endParaRPr lang="en-US" sz="1200" dirty="0"/>
          </a:p>
        </p:txBody>
      </p:sp>
      <p:sp>
        <p:nvSpPr>
          <p:cNvPr id="12"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3" name="Shape 9"/>
          <p:cNvSpPr/>
          <p:nvPr/>
        </p:nvSpPr>
        <p:spPr>
          <a:xfrm>
            <a:off x="274320" y="6510528"/>
            <a:ext cx="895620"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62887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Picture prompt</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6288786" cy="1788160"/>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Observe the machinery. What does it suggest about where and how goods were produced? Record two details as evidence, then discuss which change may have affected workers most.</a:t>
            </a:r>
            <a:endParaRPr lang="en-US" sz="2200" dirty="0"/>
          </a:p>
        </p:txBody>
      </p:sp>
      <p:sp>
        <p:nvSpPr>
          <p:cNvPr id="17" name="Shape 14"/>
          <p:cNvSpPr/>
          <p:nvPr/>
        </p:nvSpPr>
        <p:spPr>
          <a:xfrm>
            <a:off x="7818120" y="1572768"/>
            <a:ext cx="0" cy="4443984"/>
          </a:xfrm>
          <a:prstGeom prst="line">
            <a:avLst/>
          </a:prstGeom>
          <a:noFill/>
          <a:ln w="12700">
            <a:solidFill>
              <a:srgbClr val="CFF6ED"/>
            </a:solidFill>
            <a:prstDash val="solid"/>
          </a:ln>
        </p:spPr>
      </p:sp>
      <p:sp>
        <p:nvSpPr>
          <p:cNvPr id="18" name="Shape 15"/>
          <p:cNvSpPr/>
          <p:nvPr/>
        </p:nvSpPr>
        <p:spPr>
          <a:xfrm>
            <a:off x="8065008" y="1572768"/>
            <a:ext cx="3383280" cy="4443984"/>
          </a:xfrm>
          <a:prstGeom prst="roundRect">
            <a:avLst>
              <a:gd name="adj" fmla="val 3243"/>
            </a:avLst>
          </a:prstGeom>
          <a:solidFill>
            <a:srgbClr val="F2FEFB"/>
          </a:solidFill>
          <a:ln w="12700">
            <a:solidFill>
              <a:srgbClr val="CFF6ED"/>
            </a:solidFill>
            <a:prstDash val="solid"/>
          </a:ln>
          <a:effectLst>
            <a:outerShdw sx="100000" sy="100000" kx="0" ky="0" algn="bl" rotWithShape="0" blurRad="101600" dist="38100" dir="5400000">
              <a:srgbClr val="00846E">
                <a:alpha val="20000"/>
              </a:srgbClr>
            </a:outerShdw>
          </a:effectLst>
        </p:spPr>
      </p:sp>
      <p:pic>
        <p:nvPicPr>
          <p:cNvPr id="19" name="Image 1" descr="Activity illustration">    </p:cNvPr>
          <p:cNvPicPr>
            <a:picLocks noChangeAspect="1"/>
          </p:cNvPicPr>
          <p:nvPr/>
        </p:nvPicPr>
        <p:blipFill>
          <a:blip r:embed="rId2"/>
          <a:stretch>
            <a:fillRect/>
          </a:stretch>
        </p:blipFill>
        <p:spPr>
          <a:xfrm>
            <a:off x="8156448" y="2727393"/>
            <a:ext cx="3200400" cy="2134735"/>
          </a:xfrm>
          <a:prstGeom prst="rect">
            <a:avLst/>
          </a:prstGeom>
          <a:effectLst>
            <a:outerShdw sx="100000" sy="100000" kx="0" ky="0" algn="bl" rotWithShape="0" blurRad="60960" dist="25400" dir="5400000">
              <a:srgbClr val="00846E">
                <a:alpha val="14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Industrial Revolution</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51816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45084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Industrial Revolution.</a:t>
            </a:r>
            <a:endParaRPr lang="en-US" sz="2600" dirty="0"/>
          </a:p>
        </p:txBody>
      </p:sp>
      <p:sp>
        <p:nvSpPr>
          <p:cNvPr id="13" name="Shape 10"/>
          <p:cNvSpPr/>
          <p:nvPr/>
        </p:nvSpPr>
        <p:spPr>
          <a:xfrm>
            <a:off x="914400" y="3547618"/>
            <a:ext cx="10515600" cy="0"/>
          </a:xfrm>
          <a:prstGeom prst="line">
            <a:avLst/>
          </a:prstGeom>
          <a:noFill/>
          <a:ln w="12700">
            <a:solidFill>
              <a:srgbClr val="CFF6ED"/>
            </a:solidFill>
            <a:prstDash val="solid"/>
          </a:ln>
        </p:spPr>
      </p:sp>
      <p:sp>
        <p:nvSpPr>
          <p:cNvPr id="14" name="Shape 11"/>
          <p:cNvSpPr/>
          <p:nvPr/>
        </p:nvSpPr>
        <p:spPr>
          <a:xfrm>
            <a:off x="941832" y="3866401"/>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79907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Coal supplied concentrated energy and inventions increased textile production.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Factories brought workers and machines into one workplace, while canals and railways moved materials and goods.</a:t>
            </a:r>
            <a:endParaRPr lang="en-US" sz="1600" dirty="0"/>
          </a:p>
        </p:txBody>
      </p:sp>
      <p:sp>
        <p:nvSpPr>
          <p:cNvPr id="15" name="Text 12"/>
          <p:cNvSpPr/>
          <p:nvPr/>
        </p:nvSpPr>
        <p:spPr>
          <a:xfrm>
            <a:off x="713232" y="4068064"/>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Rapid migration expanded towns faster than housing and sanitation.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Industrial Revolution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Industrial Revolution.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Industrial Revolution.</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Industrial Revolution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327542"/>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26021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Identify one energy source that supported industrialisation.</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factories changed where people worked.</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Which factor best explains rapid urban growth? Support your judgement with evidence.</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034680"/>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1967357"/>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Industrial Revolution.</a:t>
            </a:r>
            <a:endParaRPr lang="en-US" sz="2600" dirty="0"/>
          </a:p>
        </p:txBody>
      </p:sp>
      <p:sp>
        <p:nvSpPr>
          <p:cNvPr id="13" name="Shape 10"/>
          <p:cNvSpPr/>
          <p:nvPr/>
        </p:nvSpPr>
        <p:spPr>
          <a:xfrm>
            <a:off x="914400" y="3064129"/>
            <a:ext cx="10515600" cy="0"/>
          </a:xfrm>
          <a:prstGeom prst="line">
            <a:avLst/>
          </a:prstGeom>
          <a:noFill/>
          <a:ln w="12700">
            <a:solidFill>
              <a:srgbClr val="CFF6ED"/>
            </a:solidFill>
            <a:prstDash val="solid"/>
          </a:ln>
        </p:spPr>
      </p:sp>
      <p:sp>
        <p:nvSpPr>
          <p:cNvPr id="14" name="Shape 11"/>
          <p:cNvSpPr/>
          <p:nvPr/>
        </p:nvSpPr>
        <p:spPr>
          <a:xfrm>
            <a:off x="941832" y="3382912"/>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31558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4031107"/>
            <a:ext cx="10515600" cy="0"/>
          </a:xfrm>
          <a:prstGeom prst="line">
            <a:avLst/>
          </a:prstGeom>
          <a:noFill/>
          <a:ln w="12700">
            <a:solidFill>
              <a:srgbClr val="CFF6ED"/>
            </a:solidFill>
            <a:prstDash val="solid"/>
          </a:ln>
        </p:spPr>
      </p:sp>
      <p:sp>
        <p:nvSpPr>
          <p:cNvPr id="17" name="Shape 14"/>
          <p:cNvSpPr/>
          <p:nvPr/>
        </p:nvSpPr>
        <p:spPr>
          <a:xfrm>
            <a:off x="941832" y="4349890"/>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282567"/>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998085"/>
            <a:ext cx="10515600" cy="0"/>
          </a:xfrm>
          <a:prstGeom prst="line">
            <a:avLst/>
          </a:prstGeom>
          <a:noFill/>
          <a:ln w="12700">
            <a:solidFill>
              <a:srgbClr val="CFF6ED"/>
            </a:solidFill>
            <a:prstDash val="solid"/>
          </a:ln>
        </p:spPr>
      </p:sp>
      <p:sp>
        <p:nvSpPr>
          <p:cNvPr id="20" name="Shape 17"/>
          <p:cNvSpPr/>
          <p:nvPr/>
        </p:nvSpPr>
        <p:spPr>
          <a:xfrm>
            <a:off x="941832" y="5316868"/>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24954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History</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887728"/>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8877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86944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756408"/>
            <a:ext cx="10515600" cy="0"/>
          </a:xfrm>
          <a:prstGeom prst="line">
            <a:avLst/>
          </a:prstGeom>
          <a:noFill/>
          <a:ln w="12700">
            <a:solidFill>
              <a:srgbClr val="CFF6ED"/>
            </a:solidFill>
            <a:prstDash val="solid"/>
          </a:ln>
        </p:spPr>
      </p:sp>
      <p:sp>
        <p:nvSpPr>
          <p:cNvPr id="15" name="Shape 12"/>
          <p:cNvSpPr/>
          <p:nvPr/>
        </p:nvSpPr>
        <p:spPr>
          <a:xfrm>
            <a:off x="877824" y="3186176"/>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318617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316788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two causes of industrialisation and evaluate how factory work changed urban life.</a:t>
            </a:r>
            <a:endParaRPr lang="en-US" sz="2800" dirty="0"/>
          </a:p>
        </p:txBody>
      </p:sp>
      <p:sp>
        <p:nvSpPr>
          <p:cNvPr id="18" name="Shape 15"/>
          <p:cNvSpPr/>
          <p:nvPr/>
        </p:nvSpPr>
        <p:spPr>
          <a:xfrm>
            <a:off x="877824" y="4489704"/>
            <a:ext cx="10515600" cy="0"/>
          </a:xfrm>
          <a:prstGeom prst="line">
            <a:avLst/>
          </a:prstGeom>
          <a:noFill/>
          <a:ln w="12700">
            <a:solidFill>
              <a:srgbClr val="CFF6ED"/>
            </a:solidFill>
            <a:prstDash val="solid"/>
          </a:ln>
        </p:spPr>
      </p:sp>
      <p:sp>
        <p:nvSpPr>
          <p:cNvPr id="19" name="Shape 16"/>
          <p:cNvSpPr/>
          <p:nvPr/>
        </p:nvSpPr>
        <p:spPr>
          <a:xfrm>
            <a:off x="877824" y="4919472"/>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491947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4901184"/>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Industrial Revolution</dc:title>
  <dc:subject>History — The Industrial Revolution</dc:subject>
  <dc:creator>Layah.ai</dc:creator>
  <cp:lastModifiedBy>Layah.ai</cp:lastModifiedBy>
  <cp:revision>1</cp:revision>
  <dcterms:created xsi:type="dcterms:W3CDTF">2026-10-21T10:40:56Z</dcterms:created>
  <dcterms:modified xsi:type="dcterms:W3CDTF">2026-10-21T10:40:56Z</dcterms:modified>
</cp:coreProperties>
</file>