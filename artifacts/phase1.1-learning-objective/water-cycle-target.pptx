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1 minute
Teacher focus: Welcome the class; keep this slide limited to subject, grade, and date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5–10 minutes
Teacher focus: Warm-Up: "The Water Cycle" Take a moment to think about what you already know. Share one idea, question, or guess about today's topic with a partner.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2 minutes
Teacher focus: Chapter Overview Topic: "The Water Cycle" SDG Connection: this topic links to the UN Sustainable Development Goals.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3 minutes
Teacher focus: Display the teacher's form objectives verbatim — no AI edits or additions.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3 minutes
Teacher focus: By the end of this lesson, students will be able to demonstrate a clear, measurable understanding of "The Water Cycle".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25–35 minutes
Teacher focus: Core Teaching: "The Water Cycle" Key concepts, terms, and explanations for today's lesson, followed by guided practice activities to apply what students have learned.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10–12 minutes
Teacher focus: Differentiated Tasks: "The Water Cycle" Higher Achievers — a challenging task extending beyond the objective. Middle Achievers — a standard task matching the objective. Lower Achievers — a scaffolded task with sentence starters or guided prompts. Mini Plenary: one quick question to check understanding.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4–6 minutes
Teacher focus: Slide 8 — one link only (cross-curricular). No UAE content.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8–10 minutes
Teacher focus: Think-Pair-Share Activity — "The Water Cycle" Students review and consolidate their learning. 1. Think (2 min): Write down the 3 most important things you learned about "The Water Cycle" today. 2. Pair (2 min): Compare your key points with a partner — what did you both include? What was different? 3. Share (2 min): 2-3 pairs share their most important insight with the class. Teacher: Ask students to connect their insights back to today's learning objectives about "The Water Cycle".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page continues the original slide. See the teacher notes on its first page.
(Continuation slide — same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set expectations only
Teacher focus: Research Task: "The Water Cycle" 1. Choose one aspect of "The Water Cycle" that interested you most from today's lesson. 2. Research it further using textbooks, reliable websites, or other sources. 3. Write a one-page summary of your findings in your own words. 4. Include one diagram, image, or real-world example that helps explain your chosen aspect. 5. Be ready to share your most interesting discovery at the start of the next lesson. Challenge: How does "The Water Cycle" connect to daily life or a career that interests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page continues the original slide. See the teacher notes on its first page.
(Continuation slide — same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3–4 minutes
Teacher focus: Quick Check: "The Water Cycle" A short question to check your understanding before you leave today's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3–4 minutes
Teacher focus: Success Criteria Reflect on what you have learned about "The Water Cycle" today and rate your own confidence.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timing: 1 minute
Teacher focus: Close with a concise learning takeaway and one reflective next-step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85800" y="1508760"/>
            <a:ext cx="6400800" cy="1965960"/>
          </a:xfrm>
          <a:prstGeom prst="rect">
            <a:avLst/>
          </a:prstGeom>
          <a:noFill/>
          <a:ln/>
        </p:spPr>
        <p:txBody>
          <a:bodyPr wrap="square" lIns="0" tIns="0" rIns="0" bIns="0" rtlCol="0" anchor="ctr"/>
          <a:lstStyle/>
          <a:p>
            <a:pPr algn="l" indent="0" marL="0">
              <a:lnSpc>
                <a:spcPct val="116000"/>
              </a:lnSpc>
              <a:buNone/>
            </a:pPr>
            <a:r>
              <a:rPr lang="en-US" sz="3600" b="1" dirty="0">
                <a:solidFill>
                  <a:srgbClr val="111827"/>
                </a:solidFill>
                <a:latin typeface="Calibri" pitchFamily="34" charset="0"/>
                <a:ea typeface="Calibri" pitchFamily="34" charset="-122"/>
                <a:cs typeface="Calibri" pitchFamily="34" charset="-120"/>
              </a:rPr>
              <a:t>The Water Cycle</a:t>
            </a:r>
            <a:endParaRPr lang="en-US" sz="3600" dirty="0"/>
          </a:p>
        </p:txBody>
      </p:sp>
      <p:sp>
        <p:nvSpPr>
          <p:cNvPr id="3" name="Shape 1"/>
          <p:cNvSpPr/>
          <p:nvPr/>
        </p:nvSpPr>
        <p:spPr>
          <a:xfrm>
            <a:off x="685800" y="3675888"/>
            <a:ext cx="3474720" cy="0"/>
          </a:xfrm>
          <a:prstGeom prst="line">
            <a:avLst/>
          </a:prstGeom>
          <a:noFill/>
          <a:ln w="12700">
            <a:solidFill>
              <a:srgbClr val="087866"/>
            </a:solidFill>
            <a:prstDash val="solid"/>
          </a:ln>
        </p:spPr>
      </p:sp>
      <p:sp>
        <p:nvSpPr>
          <p:cNvPr id="4" name="Text 2"/>
          <p:cNvSpPr/>
          <p:nvPr/>
        </p:nvSpPr>
        <p:spPr>
          <a:xfrm>
            <a:off x="685800" y="3886200"/>
            <a:ext cx="6400800" cy="658368"/>
          </a:xfrm>
          <a:prstGeom prst="rect">
            <a:avLst/>
          </a:prstGeom>
          <a:noFill/>
          <a:ln/>
        </p:spPr>
        <p:txBody>
          <a:bodyPr wrap="square" lIns="0" tIns="0" rIns="0" bIns="0" rtlCol="0" anchor="t"/>
          <a:lstStyle/>
          <a:p>
            <a:pPr algn="l" indent="0" marL="0">
              <a:lnSpc>
                <a:spcPct val="116000"/>
              </a:lnSpc>
              <a:buNone/>
            </a:pPr>
            <a:r>
              <a:rPr lang="en-US" sz="1800" dirty="0">
                <a:solidFill>
                  <a:srgbClr val="087866"/>
                </a:solidFill>
                <a:latin typeface="Calibri" pitchFamily="34" charset="0"/>
                <a:ea typeface="Calibri" pitchFamily="34" charset="-122"/>
                <a:cs typeface="Calibri" pitchFamily="34" charset="-120"/>
              </a:rPr>
              <a:t>Science  ·  Year 7  ·  The Water Cycle</a:t>
            </a:r>
            <a:endParaRPr lang="en-US" sz="1800" dirty="0"/>
          </a:p>
        </p:txBody>
      </p:sp>
      <p:sp>
        <p:nvSpPr>
          <p:cNvPr id="5" name="Text 3"/>
          <p:cNvSpPr/>
          <p:nvPr/>
        </p:nvSpPr>
        <p:spPr>
          <a:xfrm>
            <a:off x="685800" y="4709160"/>
            <a:ext cx="6400800" cy="310896"/>
          </a:xfrm>
          <a:prstGeom prst="rect">
            <a:avLst/>
          </a:prstGeom>
          <a:noFill/>
          <a:ln/>
        </p:spPr>
        <p:txBody>
          <a:bodyPr wrap="square" lIns="0" tIns="0" rIns="0" bIns="0" rtlCol="0" anchor="t"/>
          <a:lstStyle/>
          <a:p>
            <a:pPr algn="l" indent="0" marL="0">
              <a:lnSpc>
                <a:spcPct val="116000"/>
              </a:lnSpc>
              <a:buNone/>
            </a:pPr>
            <a:r>
              <a:rPr lang="en-US" sz="1500" dirty="0">
                <a:solidFill>
                  <a:srgbClr val="111827"/>
                </a:solidFill>
                <a:latin typeface="Calibri" pitchFamily="34" charset="0"/>
                <a:ea typeface="Calibri" pitchFamily="34" charset="-122"/>
                <a:cs typeface="Calibri" pitchFamily="34" charset="-120"/>
              </a:rPr>
              <a:t>Wednesday, 21 October 2026</a:t>
            </a:r>
            <a:endParaRPr lang="en-US" sz="1500" dirty="0"/>
          </a:p>
        </p:txBody>
      </p:sp>
      <p:sp>
        <p:nvSpPr>
          <p:cNvPr id="6" name="Shape 4"/>
          <p:cNvSpPr/>
          <p:nvPr/>
        </p:nvSpPr>
        <p:spPr>
          <a:xfrm>
            <a:off x="0" y="6492240"/>
            <a:ext cx="12191695" cy="365760"/>
          </a:xfrm>
          <a:prstGeom prst="rect">
            <a:avLst/>
          </a:prstGeom>
          <a:solidFill>
            <a:srgbClr val="F0FDFB"/>
          </a:solidFill>
          <a:ln w="12700">
            <a:solidFill>
              <a:srgbClr val="F0FDFB"/>
            </a:solidFill>
            <a:prstDash val="solid"/>
          </a:ln>
        </p:spPr>
      </p:sp>
      <p:sp>
        <p:nvSpPr>
          <p:cNvPr id="7" name="Shape 5"/>
          <p:cNvSpPr/>
          <p:nvPr/>
        </p:nvSpPr>
        <p:spPr>
          <a:xfrm>
            <a:off x="0" y="6492240"/>
            <a:ext cx="12191695" cy="0"/>
          </a:xfrm>
          <a:prstGeom prst="line">
            <a:avLst/>
          </a:prstGeom>
          <a:noFill/>
          <a:ln w="12700">
            <a:solidFill>
              <a:srgbClr val="A7F3E8"/>
            </a:solidFill>
            <a:prstDash val="solid"/>
          </a:ln>
        </p:spPr>
      </p:sp>
      <p:sp>
        <p:nvSpPr>
          <p:cNvPr id="8" name="Text 6"/>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9"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10" name="Text 7"/>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1 / 15</a:t>
            </a:r>
            <a:endParaRPr lang="en-US" sz="1200" dirty="0"/>
          </a:p>
        </p:txBody>
      </p:sp>
      <p:sp>
        <p:nvSpPr>
          <p:cNvPr id="11" name="Shape 8"/>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2" name="Shape 9"/>
          <p:cNvSpPr/>
          <p:nvPr/>
        </p:nvSpPr>
        <p:spPr>
          <a:xfrm>
            <a:off x="274320" y="6510528"/>
            <a:ext cx="776204" cy="73152"/>
          </a:xfrm>
          <a:prstGeom prst="roundRect">
            <a:avLst>
              <a:gd name="adj" fmla="val 50000"/>
            </a:avLst>
          </a:prstGeom>
          <a:solidFill>
            <a:srgbClr val="0A8F7A"/>
          </a:solidFill>
          <a:ln w="12700">
            <a:solidFill>
              <a:srgbClr val="0A8F7A"/>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Starter Activity</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2 / 15</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1552407"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749808" y="1591056"/>
            <a:ext cx="377190" cy="377190"/>
          </a:xfrm>
          <a:prstGeom prst="ellipse">
            <a:avLst/>
          </a:prstGeom>
          <a:solidFill>
            <a:srgbClr val="087866"/>
          </a:solidFill>
          <a:ln w="12700">
            <a:solidFill>
              <a:srgbClr val="087866"/>
            </a:solidFill>
            <a:prstDash val="solid"/>
          </a:ln>
        </p:spPr>
      </p:sp>
      <p:sp>
        <p:nvSpPr>
          <p:cNvPr id="12" name="Text 9"/>
          <p:cNvSpPr/>
          <p:nvPr/>
        </p:nvSpPr>
        <p:spPr>
          <a:xfrm>
            <a:off x="749808" y="1591056"/>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3" name="Text 10"/>
          <p:cNvSpPr/>
          <p:nvPr/>
        </p:nvSpPr>
        <p:spPr>
          <a:xfrm>
            <a:off x="1273302" y="1572768"/>
            <a:ext cx="10174986" cy="395478"/>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Warm-Up: "The Water Cycle"</a:t>
            </a:r>
            <a:endParaRPr lang="en-US" sz="2200" dirty="0"/>
          </a:p>
        </p:txBody>
      </p:sp>
      <p:sp>
        <p:nvSpPr>
          <p:cNvPr id="14" name="Shape 11"/>
          <p:cNvSpPr/>
          <p:nvPr/>
        </p:nvSpPr>
        <p:spPr>
          <a:xfrm>
            <a:off x="749808" y="2443734"/>
            <a:ext cx="377190" cy="377190"/>
          </a:xfrm>
          <a:prstGeom prst="ellipse">
            <a:avLst/>
          </a:prstGeom>
          <a:solidFill>
            <a:srgbClr val="087866"/>
          </a:solidFill>
          <a:ln w="12700">
            <a:solidFill>
              <a:srgbClr val="087866"/>
            </a:solidFill>
            <a:prstDash val="solid"/>
          </a:ln>
        </p:spPr>
      </p:sp>
      <p:sp>
        <p:nvSpPr>
          <p:cNvPr id="15" name="Text 12"/>
          <p:cNvSpPr/>
          <p:nvPr/>
        </p:nvSpPr>
        <p:spPr>
          <a:xfrm>
            <a:off x="749808" y="2443734"/>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6" name="Text 13"/>
          <p:cNvSpPr/>
          <p:nvPr/>
        </p:nvSpPr>
        <p:spPr>
          <a:xfrm>
            <a:off x="1273302" y="2425446"/>
            <a:ext cx="10174986" cy="395478"/>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Take a moment to think about what you already know.</a:t>
            </a:r>
            <a:endParaRPr lang="en-US" sz="2200" dirty="0"/>
          </a:p>
        </p:txBody>
      </p:sp>
      <p:sp>
        <p:nvSpPr>
          <p:cNvPr id="17" name="Shape 14"/>
          <p:cNvSpPr/>
          <p:nvPr/>
        </p:nvSpPr>
        <p:spPr>
          <a:xfrm>
            <a:off x="749808" y="3296412"/>
            <a:ext cx="377190" cy="377190"/>
          </a:xfrm>
          <a:prstGeom prst="ellipse">
            <a:avLst/>
          </a:prstGeom>
          <a:solidFill>
            <a:srgbClr val="087866"/>
          </a:solidFill>
          <a:ln w="12700">
            <a:solidFill>
              <a:srgbClr val="087866"/>
            </a:solidFill>
            <a:prstDash val="solid"/>
          </a:ln>
        </p:spPr>
      </p:sp>
      <p:sp>
        <p:nvSpPr>
          <p:cNvPr id="18" name="Text 15"/>
          <p:cNvSpPr/>
          <p:nvPr/>
        </p:nvSpPr>
        <p:spPr>
          <a:xfrm>
            <a:off x="749808" y="3296412"/>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9" name="Text 16"/>
          <p:cNvSpPr/>
          <p:nvPr/>
        </p:nvSpPr>
        <p:spPr>
          <a:xfrm>
            <a:off x="1273302" y="3278124"/>
            <a:ext cx="10174986" cy="715264"/>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Share one idea, question, or guess about today's topic with a partner.</a:t>
            </a:r>
            <a:endParaRPr lang="en-US" sz="2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Chapter, Topic and SDG Goal</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3 / 15</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2328611"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713232" y="1536192"/>
            <a:ext cx="10716768" cy="1627632"/>
          </a:xfrm>
          <a:prstGeom prst="rect">
            <a:avLst/>
          </a:prstGeom>
          <a:solidFill>
            <a:srgbClr val="ECFDF8"/>
          </a:solidFill>
          <a:ln w="12700">
            <a:solidFill>
              <a:srgbClr val="ECFDF8"/>
            </a:solidFill>
            <a:prstDash val="solid"/>
          </a:ln>
        </p:spPr>
      </p:sp>
      <p:sp>
        <p:nvSpPr>
          <p:cNvPr id="12" name="Shape 9"/>
          <p:cNvSpPr/>
          <p:nvPr/>
        </p:nvSpPr>
        <p:spPr>
          <a:xfrm>
            <a:off x="713232" y="1536192"/>
            <a:ext cx="54864" cy="1627632"/>
          </a:xfrm>
          <a:prstGeom prst="rect">
            <a:avLst/>
          </a:prstGeom>
          <a:solidFill>
            <a:srgbClr val="087866"/>
          </a:solidFill>
          <a:ln w="12700">
            <a:solidFill>
              <a:srgbClr val="087866"/>
            </a:solidFill>
            <a:prstDash val="solid"/>
          </a:ln>
        </p:spPr>
      </p:sp>
      <p:sp>
        <p:nvSpPr>
          <p:cNvPr id="13" name="Text 10"/>
          <p:cNvSpPr/>
          <p:nvPr/>
        </p:nvSpPr>
        <p:spPr>
          <a:xfrm>
            <a:off x="969264" y="1682496"/>
            <a:ext cx="10204704" cy="1335024"/>
          </a:xfrm>
          <a:prstGeom prst="rect">
            <a:avLst/>
          </a:prstGeom>
          <a:noFill/>
          <a:ln/>
        </p:spPr>
        <p:txBody>
          <a:bodyPr wrap="square" lIns="0" tIns="0" rIns="0" bIns="0" rtlCol="0" anchor="ctr"/>
          <a:lstStyle/>
          <a:p>
            <a:pPr algn="l" indent="0" marL="0">
              <a:lnSpc>
                <a:spcPct val="116000"/>
              </a:lnSpc>
              <a:buNone/>
            </a:pPr>
            <a:r>
              <a:rPr lang="en-US" sz="2200" b="1" dirty="0">
                <a:solidFill>
                  <a:srgbClr val="111827"/>
                </a:solidFill>
                <a:latin typeface="Calibri" pitchFamily="34" charset="0"/>
                <a:ea typeface="Calibri" pitchFamily="34" charset="-122"/>
                <a:cs typeface="Calibri" pitchFamily="34" charset="-120"/>
              </a:rPr>
              <a:t>Chapter Overview</a:t>
            </a:r>
            <a:endParaRPr lang="en-US" sz="2200" dirty="0"/>
          </a:p>
        </p:txBody>
      </p:sp>
      <p:sp>
        <p:nvSpPr>
          <p:cNvPr id="14" name="Text 11"/>
          <p:cNvSpPr/>
          <p:nvPr/>
        </p:nvSpPr>
        <p:spPr>
          <a:xfrm>
            <a:off x="713232" y="3419856"/>
            <a:ext cx="107167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Topic: "The Water Cycle"</a:t>
            </a:r>
            <a:endParaRPr lang="en-US" sz="1600" dirty="0"/>
          </a:p>
        </p:txBody>
      </p:sp>
      <p:sp>
        <p:nvSpPr>
          <p:cNvPr id="15" name="Text 12"/>
          <p:cNvSpPr/>
          <p:nvPr/>
        </p:nvSpPr>
        <p:spPr>
          <a:xfrm>
            <a:off x="713232" y="3858768"/>
            <a:ext cx="107167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SDG Connection: this topic links to the UN Sustainable Development Goals.</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02A43"/>
        </a:solidFill>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BEE9E8"/>
          </a:solidFill>
          <a:ln w="12700">
            <a:solidFill>
              <a:srgbClr val="333333">
                <a:alpha val="0"/>
              </a:srgbClr>
            </a:solidFill>
            <a:prstDash val="solid"/>
          </a:ln>
        </p:spPr>
      </p:sp>
      <p:sp>
        <p:nvSpPr>
          <p:cNvPr id="3" name="Shape 1"/>
          <p:cNvSpPr/>
          <p:nvPr/>
        </p:nvSpPr>
        <p:spPr>
          <a:xfrm>
            <a:off x="7735824" y="1033272"/>
            <a:ext cx="3977640" cy="3977640"/>
          </a:xfrm>
          <a:prstGeom prst="ellipse">
            <a:avLst/>
          </a:prstGeom>
          <a:solidFill>
            <a:srgbClr val="173B58">
              <a:alpha val="92000"/>
            </a:srgbClr>
          </a:solidFill>
          <a:ln w="12700">
            <a:solidFill>
              <a:srgbClr val="333333">
                <a:alpha val="0"/>
              </a:srgbClr>
            </a:solidFill>
            <a:prstDash val="solid"/>
          </a:ln>
        </p:spPr>
      </p:sp>
      <p:sp>
        <p:nvSpPr>
          <p:cNvPr id="4" name="Text 2"/>
          <p:cNvSpPr/>
          <p:nvPr/>
        </p:nvSpPr>
        <p:spPr>
          <a:xfrm>
            <a:off x="841227" y="1261872"/>
            <a:ext cx="5852014" cy="411480"/>
          </a:xfrm>
          <a:prstGeom prst="rect">
            <a:avLst/>
          </a:prstGeom>
          <a:noFill/>
          <a:ln/>
        </p:spPr>
        <p:txBody>
          <a:bodyPr wrap="square" lIns="0" tIns="0" rIns="0" bIns="0" rtlCol="0" anchor="ctr">
            <a:normAutofit/>
          </a:bodyPr>
          <a:lstStyle/>
          <a:p>
            <a:pPr indent="0" marL="0">
              <a:buNone/>
            </a:pPr>
            <a:r>
              <a:rPr lang="en-US" sz="1600" b="1" spc="200" kern="0" dirty="0">
                <a:solidFill>
                  <a:srgbClr val="BEE9E8"/>
                </a:solidFill>
                <a:latin typeface="Poppins" pitchFamily="34" charset="0"/>
                <a:ea typeface="Poppins" pitchFamily="34" charset="-122"/>
                <a:cs typeface="Poppins" pitchFamily="34" charset="-120"/>
              </a:rPr>
              <a:t>LEARNING OBJECTIVES</a:t>
            </a:r>
            <a:endParaRPr lang="en-US" sz="1600" dirty="0"/>
          </a:p>
        </p:txBody>
      </p:sp>
      <p:sp>
        <p:nvSpPr>
          <p:cNvPr id="5" name="Text 3"/>
          <p:cNvSpPr/>
          <p:nvPr/>
        </p:nvSpPr>
        <p:spPr>
          <a:xfrm>
            <a:off x="841227" y="1906524"/>
            <a:ext cx="6217765" cy="3086100"/>
          </a:xfrm>
          <a:prstGeom prst="rect">
            <a:avLst/>
          </a:prstGeom>
          <a:noFill/>
          <a:ln/>
        </p:spPr>
        <p:txBody>
          <a:bodyPr wrap="square" lIns="0" tIns="0" rIns="0" bIns="0" rtlCol="0" anchor="ctr">
            <a:normAutofit/>
          </a:bodyPr>
          <a:lstStyle/>
          <a:p>
            <a:pPr indent="0" marL="0">
              <a:buNone/>
            </a:pPr>
            <a:r>
              <a:rPr lang="en-US" sz="3500" b="1" dirty="0">
                <a:solidFill>
                  <a:srgbClr val="F7F5EF"/>
                </a:solidFill>
                <a:latin typeface="Poppins" pitchFamily="34" charset="0"/>
                <a:ea typeface="Poppins" pitchFamily="34" charset="-122"/>
                <a:cs typeface="Poppins" pitchFamily="34" charset="-120"/>
              </a:rPr>
              <a:t>Explain how evaporation and condensation transfer water through the water cycle, using particle movement as evidence.</a:t>
            </a:r>
            <a:endParaRPr lang="en-US" sz="3500" dirty="0"/>
          </a:p>
        </p:txBody>
      </p:sp>
      <p:sp>
        <p:nvSpPr>
          <p:cNvPr id="6" name="Shape 4"/>
          <p:cNvSpPr/>
          <p:nvPr/>
        </p:nvSpPr>
        <p:spPr>
          <a:xfrm>
            <a:off x="841248" y="1618488"/>
            <a:ext cx="1115568" cy="0"/>
          </a:xfrm>
          <a:prstGeom prst="line">
            <a:avLst/>
          </a:prstGeom>
          <a:noFill/>
          <a:ln w="12700">
            <a:solidFill>
              <a:srgbClr val="0F8B8D"/>
            </a:solidFill>
            <a:prstDash val="solid"/>
          </a:ln>
        </p:spPr>
      </p:sp>
      <p:sp>
        <p:nvSpPr>
          <p:cNvPr id="7" name="Shape 5"/>
          <p:cNvSpPr/>
          <p:nvPr/>
        </p:nvSpPr>
        <p:spPr>
          <a:xfrm>
            <a:off x="8275320" y="1581912"/>
            <a:ext cx="2889504" cy="2889504"/>
          </a:xfrm>
          <a:prstGeom prst="ellipse">
            <a:avLst/>
          </a:prstGeom>
          <a:solidFill>
            <a:srgbClr val="102A43">
              <a:alpha val="0"/>
            </a:srgbClr>
          </a:solidFill>
          <a:ln w="12700">
            <a:solidFill>
              <a:srgbClr val="BEE9E8"/>
            </a:solidFill>
            <a:prstDash val="solid"/>
          </a:ln>
        </p:spPr>
      </p:sp>
      <p:sp>
        <p:nvSpPr>
          <p:cNvPr id="8" name="Shape 6"/>
          <p:cNvSpPr/>
          <p:nvPr/>
        </p:nvSpPr>
        <p:spPr>
          <a:xfrm>
            <a:off x="8631936" y="1938528"/>
            <a:ext cx="2176272" cy="2176272"/>
          </a:xfrm>
          <a:prstGeom prst="ellipse">
            <a:avLst/>
          </a:prstGeom>
          <a:solidFill>
            <a:srgbClr val="0F8B8D"/>
          </a:solidFill>
          <a:ln w="12700">
            <a:solidFill>
              <a:srgbClr val="0F8B8D"/>
            </a:solidFill>
            <a:prstDash val="solid"/>
          </a:ln>
        </p:spPr>
      </p:sp>
      <p:sp>
        <p:nvSpPr>
          <p:cNvPr id="9" name="Shape 7"/>
          <p:cNvSpPr/>
          <p:nvPr/>
        </p:nvSpPr>
        <p:spPr>
          <a:xfrm>
            <a:off x="8997696" y="2304288"/>
            <a:ext cx="1444752" cy="1444752"/>
          </a:xfrm>
          <a:prstGeom prst="ellipse">
            <a:avLst/>
          </a:prstGeom>
          <a:solidFill>
            <a:srgbClr val="102A43">
              <a:alpha val="0"/>
            </a:srgbClr>
          </a:solidFill>
          <a:ln w="12700">
            <a:solidFill>
              <a:srgbClr val="BEE9E8"/>
            </a:solidFill>
            <a:prstDash val="solid"/>
          </a:ln>
        </p:spPr>
      </p:sp>
      <p:sp>
        <p:nvSpPr>
          <p:cNvPr id="10" name="Shape 8"/>
          <p:cNvSpPr/>
          <p:nvPr/>
        </p:nvSpPr>
        <p:spPr>
          <a:xfrm>
            <a:off x="9372600" y="2679192"/>
            <a:ext cx="694944" cy="694944"/>
          </a:xfrm>
          <a:prstGeom prst="ellipse">
            <a:avLst/>
          </a:prstGeom>
          <a:solidFill>
            <a:srgbClr val="BEE9E8"/>
          </a:solidFill>
          <a:ln w="12700">
            <a:solidFill>
              <a:srgbClr val="0F8B8D"/>
            </a:solidFill>
            <a:prstDash val="solid"/>
          </a:ln>
        </p:spPr>
      </p:sp>
      <p:sp>
        <p:nvSpPr>
          <p:cNvPr id="11" name="Shape 9"/>
          <p:cNvSpPr/>
          <p:nvPr/>
        </p:nvSpPr>
        <p:spPr>
          <a:xfrm flipV="1">
            <a:off x="6967728" y="3026664"/>
            <a:ext cx="2752344" cy="2203704"/>
          </a:xfrm>
          <a:prstGeom prst="line">
            <a:avLst/>
          </a:prstGeom>
          <a:noFill/>
          <a:ln w="12700">
            <a:solidFill>
              <a:srgbClr val="F7F5EF"/>
            </a:solidFill>
            <a:prstDash val="solid"/>
            <a:tailEnd type="triangle"/>
          </a:ln>
        </p:spPr>
      </p:sp>
      <p:sp>
        <p:nvSpPr>
          <p:cNvPr id="12" name="Shape 10"/>
          <p:cNvSpPr/>
          <p:nvPr/>
        </p:nvSpPr>
        <p:spPr>
          <a:xfrm>
            <a:off x="841248" y="6108192"/>
            <a:ext cx="5760720" cy="0"/>
          </a:xfrm>
          <a:prstGeom prst="line">
            <a:avLst/>
          </a:prstGeom>
          <a:noFill/>
          <a:ln w="12700">
            <a:solidFill>
              <a:srgbClr val="0F8B8D">
                <a:alpha val="82000"/>
              </a:srgbClr>
            </a:solidFill>
            <a:prstDash val="solid"/>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Learning Outcomes</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5 / 15</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3881018"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941832" y="3273819"/>
            <a:ext cx="347701" cy="347701"/>
          </a:xfrm>
          <a:prstGeom prst="rect">
            <a:avLst/>
          </a:prstGeom>
          <a:solidFill>
            <a:srgbClr val="FFFFFF">
              <a:alpha val="0"/>
            </a:srgbClr>
          </a:solidFill>
          <a:ln w="12700">
            <a:solidFill>
              <a:srgbClr val="087866"/>
            </a:solidFill>
            <a:prstDash val="solid"/>
          </a:ln>
        </p:spPr>
      </p:sp>
      <p:sp>
        <p:nvSpPr>
          <p:cNvPr id="12" name="Text 9"/>
          <p:cNvSpPr/>
          <p:nvPr/>
        </p:nvSpPr>
        <p:spPr>
          <a:xfrm>
            <a:off x="1506474" y="3206496"/>
            <a:ext cx="9923526" cy="1267968"/>
          </a:xfrm>
          <a:prstGeom prst="rect">
            <a:avLst/>
          </a:prstGeom>
          <a:noFill/>
          <a:ln/>
        </p:spPr>
        <p:txBody>
          <a:bodyPr wrap="square" lIns="0" tIns="0" rIns="0" bIns="0" rtlCol="0" anchor="t"/>
          <a:lstStyle/>
          <a:p>
            <a:pPr algn="l" indent="0" marL="0">
              <a:lnSpc>
                <a:spcPct val="116000"/>
              </a:lnSpc>
              <a:buNone/>
            </a:pPr>
            <a:r>
              <a:rPr lang="en-US" sz="2600" dirty="0">
                <a:solidFill>
                  <a:srgbClr val="111827"/>
                </a:solidFill>
                <a:latin typeface="Calibri" pitchFamily="34" charset="0"/>
                <a:ea typeface="Calibri" pitchFamily="34" charset="-122"/>
                <a:cs typeface="Calibri" pitchFamily="34" charset="-120"/>
              </a:rPr>
              <a:t>By the end of this lesson, students will be able to demonstrate a clear, measurable understanding of "The Water Cycle".</a:t>
            </a:r>
            <a:endParaRPr lang="en-US" sz="2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Main Phase Core Teaching</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6 / 15</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4657222"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713232" y="1536192"/>
            <a:ext cx="10716768" cy="1627632"/>
          </a:xfrm>
          <a:prstGeom prst="rect">
            <a:avLst/>
          </a:prstGeom>
          <a:solidFill>
            <a:srgbClr val="ECFDF8"/>
          </a:solidFill>
          <a:ln w="12700">
            <a:solidFill>
              <a:srgbClr val="ECFDF8"/>
            </a:solidFill>
            <a:prstDash val="solid"/>
          </a:ln>
        </p:spPr>
      </p:sp>
      <p:sp>
        <p:nvSpPr>
          <p:cNvPr id="12" name="Shape 9"/>
          <p:cNvSpPr/>
          <p:nvPr/>
        </p:nvSpPr>
        <p:spPr>
          <a:xfrm>
            <a:off x="713232" y="1536192"/>
            <a:ext cx="54864" cy="1627632"/>
          </a:xfrm>
          <a:prstGeom prst="rect">
            <a:avLst/>
          </a:prstGeom>
          <a:solidFill>
            <a:srgbClr val="087866"/>
          </a:solidFill>
          <a:ln w="12700">
            <a:solidFill>
              <a:srgbClr val="087866"/>
            </a:solidFill>
            <a:prstDash val="solid"/>
          </a:ln>
        </p:spPr>
      </p:sp>
      <p:sp>
        <p:nvSpPr>
          <p:cNvPr id="13" name="Text 10"/>
          <p:cNvSpPr/>
          <p:nvPr/>
        </p:nvSpPr>
        <p:spPr>
          <a:xfrm>
            <a:off x="969264" y="1682496"/>
            <a:ext cx="10204704" cy="1335024"/>
          </a:xfrm>
          <a:prstGeom prst="rect">
            <a:avLst/>
          </a:prstGeom>
          <a:noFill/>
          <a:ln/>
        </p:spPr>
        <p:txBody>
          <a:bodyPr wrap="square" lIns="0" tIns="0" rIns="0" bIns="0" rtlCol="0" anchor="ctr"/>
          <a:lstStyle/>
          <a:p>
            <a:pPr algn="l" indent="0" marL="0">
              <a:lnSpc>
                <a:spcPct val="116000"/>
              </a:lnSpc>
              <a:buNone/>
            </a:pPr>
            <a:r>
              <a:rPr lang="en-US" sz="2200" b="1" dirty="0">
                <a:solidFill>
                  <a:srgbClr val="111827"/>
                </a:solidFill>
                <a:latin typeface="Calibri" pitchFamily="34" charset="0"/>
                <a:ea typeface="Calibri" pitchFamily="34" charset="-122"/>
                <a:cs typeface="Calibri" pitchFamily="34" charset="-120"/>
              </a:rPr>
              <a:t>Core Teaching: "The Water Cycle"</a:t>
            </a:r>
            <a:endParaRPr lang="en-US" sz="2200" dirty="0"/>
          </a:p>
        </p:txBody>
      </p:sp>
      <p:sp>
        <p:nvSpPr>
          <p:cNvPr id="14" name="Text 11"/>
          <p:cNvSpPr/>
          <p:nvPr/>
        </p:nvSpPr>
        <p:spPr>
          <a:xfrm>
            <a:off x="713232" y="3419856"/>
            <a:ext cx="10716768" cy="520192"/>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Key concepts, terms, and explanations for today's lesson, followed by guided practice activities to apply what students have learned.</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Differentiated Activity and Mini Plenary</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7 / 15</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5433426" cy="73152"/>
          </a:xfrm>
          <a:prstGeom prst="roundRect">
            <a:avLst>
              <a:gd name="adj" fmla="val 50000"/>
            </a:avLst>
          </a:prstGeom>
          <a:solidFill>
            <a:srgbClr val="0A8F7A"/>
          </a:solidFill>
          <a:ln w="12700">
            <a:solidFill>
              <a:srgbClr val="0A8F7A"/>
            </a:solidFill>
            <a:prstDash val="solid"/>
          </a:ln>
        </p:spPr>
      </p:sp>
      <p:sp>
        <p:nvSpPr>
          <p:cNvPr id="11" name="Text 8"/>
          <p:cNvSpPr/>
          <p:nvPr/>
        </p:nvSpPr>
        <p:spPr>
          <a:xfrm>
            <a:off x="749808" y="1335024"/>
            <a:ext cx="10680192" cy="310896"/>
          </a:xfrm>
          <a:prstGeom prst="rect">
            <a:avLst/>
          </a:prstGeom>
          <a:noFill/>
          <a:ln/>
        </p:spPr>
        <p:txBody>
          <a:bodyPr wrap="square" lIns="0" tIns="0" rIns="0" bIns="0" rtlCol="0" anchor="t"/>
          <a:lstStyle/>
          <a:p>
            <a:pPr algn="l" indent="0" marL="0">
              <a:lnSpc>
                <a:spcPct val="116000"/>
              </a:lnSpc>
              <a:buNone/>
            </a:pPr>
            <a:r>
              <a:rPr lang="en-US" sz="1500" dirty="0">
                <a:solidFill>
                  <a:srgbClr val="111827"/>
                </a:solidFill>
                <a:latin typeface="Calibri" pitchFamily="34" charset="0"/>
                <a:ea typeface="Calibri" pitchFamily="34" charset="-122"/>
                <a:cs typeface="Calibri" pitchFamily="34" charset="-120"/>
              </a:rPr>
              <a:t>Higher Achievers task</a:t>
            </a:r>
            <a:endParaRPr lang="en-US" sz="1500" dirty="0"/>
          </a:p>
        </p:txBody>
      </p:sp>
      <p:sp>
        <p:nvSpPr>
          <p:cNvPr id="12" name="Text 9"/>
          <p:cNvSpPr/>
          <p:nvPr/>
        </p:nvSpPr>
        <p:spPr>
          <a:xfrm>
            <a:off x="749808" y="1664208"/>
            <a:ext cx="10680192" cy="310896"/>
          </a:xfrm>
          <a:prstGeom prst="rect">
            <a:avLst/>
          </a:prstGeom>
          <a:noFill/>
          <a:ln/>
        </p:spPr>
        <p:txBody>
          <a:bodyPr wrap="square" lIns="0" tIns="0" rIns="0" bIns="0" rtlCol="0" anchor="t"/>
          <a:lstStyle/>
          <a:p>
            <a:pPr algn="l" indent="0" marL="0">
              <a:lnSpc>
                <a:spcPct val="116000"/>
              </a:lnSpc>
              <a:buNone/>
            </a:pPr>
            <a:r>
              <a:rPr lang="en-US" sz="1500" dirty="0">
                <a:solidFill>
                  <a:srgbClr val="111827"/>
                </a:solidFill>
                <a:latin typeface="Calibri" pitchFamily="34" charset="0"/>
                <a:ea typeface="Calibri" pitchFamily="34" charset="-122"/>
                <a:cs typeface="Calibri" pitchFamily="34" charset="-120"/>
              </a:rPr>
              <a:t>Analyse, evaluate, or design an extension challenge applying "The Water Cycle" with greater depth.</a:t>
            </a:r>
            <a:endParaRPr lang="en-US" sz="1500" dirty="0"/>
          </a:p>
        </p:txBody>
      </p:sp>
      <p:sp>
        <p:nvSpPr>
          <p:cNvPr id="13" name="Text 10"/>
          <p:cNvSpPr/>
          <p:nvPr/>
        </p:nvSpPr>
        <p:spPr>
          <a:xfrm>
            <a:off x="749808" y="1993392"/>
            <a:ext cx="10680192" cy="310896"/>
          </a:xfrm>
          <a:prstGeom prst="rect">
            <a:avLst/>
          </a:prstGeom>
          <a:noFill/>
          <a:ln/>
        </p:spPr>
        <p:txBody>
          <a:bodyPr wrap="square" lIns="0" tIns="0" rIns="0" bIns="0" rtlCol="0" anchor="t"/>
          <a:lstStyle/>
          <a:p>
            <a:pPr algn="l" indent="0" marL="0">
              <a:lnSpc>
                <a:spcPct val="116000"/>
              </a:lnSpc>
              <a:buNone/>
            </a:pPr>
            <a:r>
              <a:rPr lang="en-US" sz="1500" dirty="0">
                <a:solidFill>
                  <a:srgbClr val="111827"/>
                </a:solidFill>
                <a:latin typeface="Calibri" pitchFamily="34" charset="0"/>
                <a:ea typeface="Calibri" pitchFamily="34" charset="-122"/>
                <a:cs typeface="Calibri" pitchFamily="34" charset="-120"/>
              </a:rPr>
              <a:t>Middle Achievers task</a:t>
            </a:r>
            <a:endParaRPr lang="en-US" sz="1500" dirty="0"/>
          </a:p>
        </p:txBody>
      </p:sp>
      <p:sp>
        <p:nvSpPr>
          <p:cNvPr id="14" name="Text 11"/>
          <p:cNvSpPr/>
          <p:nvPr/>
        </p:nvSpPr>
        <p:spPr>
          <a:xfrm>
            <a:off x="749808" y="2322576"/>
            <a:ext cx="10680192" cy="487680"/>
          </a:xfrm>
          <a:prstGeom prst="rect">
            <a:avLst/>
          </a:prstGeom>
          <a:noFill/>
          <a:ln/>
        </p:spPr>
        <p:txBody>
          <a:bodyPr wrap="square" lIns="0" tIns="0" rIns="0" bIns="0" rtlCol="0" anchor="t"/>
          <a:lstStyle/>
          <a:p>
            <a:pPr algn="l" indent="0" marL="0">
              <a:lnSpc>
                <a:spcPct val="116000"/>
              </a:lnSpc>
              <a:buNone/>
            </a:pPr>
            <a:r>
              <a:rPr lang="en-US" sz="1500" dirty="0">
                <a:solidFill>
                  <a:srgbClr val="111827"/>
                </a:solidFill>
                <a:latin typeface="Calibri" pitchFamily="34" charset="0"/>
                <a:ea typeface="Calibri" pitchFamily="34" charset="-122"/>
                <a:cs typeface="Calibri" pitchFamily="34" charset="-120"/>
              </a:rPr>
              <a:t>Complete the standard activity for "The Water Cycle" with clear steps and expected evidence of understanding.</a:t>
            </a:r>
            <a:endParaRPr lang="en-US" sz="1500" dirty="0"/>
          </a:p>
        </p:txBody>
      </p:sp>
      <p:sp>
        <p:nvSpPr>
          <p:cNvPr id="15" name="Text 12"/>
          <p:cNvSpPr/>
          <p:nvPr/>
        </p:nvSpPr>
        <p:spPr>
          <a:xfrm>
            <a:off x="749808" y="2828544"/>
            <a:ext cx="10680192" cy="310896"/>
          </a:xfrm>
          <a:prstGeom prst="rect">
            <a:avLst/>
          </a:prstGeom>
          <a:noFill/>
          <a:ln/>
        </p:spPr>
        <p:txBody>
          <a:bodyPr wrap="square" lIns="0" tIns="0" rIns="0" bIns="0" rtlCol="0" anchor="t"/>
          <a:lstStyle/>
          <a:p>
            <a:pPr algn="l" indent="0" marL="0">
              <a:lnSpc>
                <a:spcPct val="116000"/>
              </a:lnSpc>
              <a:buNone/>
            </a:pPr>
            <a:r>
              <a:rPr lang="en-US" sz="1500" dirty="0">
                <a:solidFill>
                  <a:srgbClr val="111827"/>
                </a:solidFill>
                <a:latin typeface="Calibri" pitchFamily="34" charset="0"/>
                <a:ea typeface="Calibri" pitchFamily="34" charset="-122"/>
                <a:cs typeface="Calibri" pitchFamily="34" charset="-120"/>
              </a:rPr>
              <a:t>Lower Achievers task</a:t>
            </a:r>
            <a:endParaRPr lang="en-US" sz="1500" dirty="0"/>
          </a:p>
        </p:txBody>
      </p:sp>
      <p:sp>
        <p:nvSpPr>
          <p:cNvPr id="16" name="Text 13"/>
          <p:cNvSpPr/>
          <p:nvPr/>
        </p:nvSpPr>
        <p:spPr>
          <a:xfrm>
            <a:off x="749808" y="3157728"/>
            <a:ext cx="10680192" cy="487680"/>
          </a:xfrm>
          <a:prstGeom prst="rect">
            <a:avLst/>
          </a:prstGeom>
          <a:noFill/>
          <a:ln/>
        </p:spPr>
        <p:txBody>
          <a:bodyPr wrap="square" lIns="0" tIns="0" rIns="0" bIns="0" rtlCol="0" anchor="t"/>
          <a:lstStyle/>
          <a:p>
            <a:pPr algn="l" indent="0" marL="0">
              <a:lnSpc>
                <a:spcPct val="116000"/>
              </a:lnSpc>
              <a:buNone/>
            </a:pPr>
            <a:r>
              <a:rPr lang="en-US" sz="1500" dirty="0">
                <a:solidFill>
                  <a:srgbClr val="111827"/>
                </a:solidFill>
                <a:latin typeface="Calibri" pitchFamily="34" charset="0"/>
                <a:ea typeface="Calibri" pitchFamily="34" charset="-122"/>
                <a:cs typeface="Calibri" pitchFamily="34" charset="-120"/>
              </a:rPr>
              <a:t>Work through a scaffolded version of "The Water Cycle" with sentence starters, worked examples, or guided prompts.</a:t>
            </a:r>
            <a:endParaRPr lang="en-US" sz="1500" dirty="0"/>
          </a:p>
        </p:txBody>
      </p:sp>
      <p:sp>
        <p:nvSpPr>
          <p:cNvPr id="17" name="Text 14"/>
          <p:cNvSpPr/>
          <p:nvPr/>
        </p:nvSpPr>
        <p:spPr>
          <a:xfrm>
            <a:off x="749808" y="3663696"/>
            <a:ext cx="10680192" cy="310896"/>
          </a:xfrm>
          <a:prstGeom prst="rect">
            <a:avLst/>
          </a:prstGeom>
          <a:noFill/>
          <a:ln/>
        </p:spPr>
        <p:txBody>
          <a:bodyPr wrap="square" lIns="0" tIns="0" rIns="0" bIns="0" rtlCol="0" anchor="t"/>
          <a:lstStyle/>
          <a:p>
            <a:pPr algn="l" indent="0" marL="0">
              <a:lnSpc>
                <a:spcPct val="116000"/>
              </a:lnSpc>
              <a:buNone/>
            </a:pPr>
            <a:r>
              <a:rPr lang="en-US" sz="1500" dirty="0">
                <a:solidFill>
                  <a:srgbClr val="111827"/>
                </a:solidFill>
                <a:latin typeface="Calibri" pitchFamily="34" charset="0"/>
                <a:ea typeface="Calibri" pitchFamily="34" charset="-122"/>
                <a:cs typeface="Calibri" pitchFamily="34" charset="-120"/>
              </a:rPr>
              <a:t>Mini Plenary</a:t>
            </a:r>
            <a:endParaRPr lang="en-US" sz="1500" dirty="0"/>
          </a:p>
        </p:txBody>
      </p:sp>
      <p:sp>
        <p:nvSpPr>
          <p:cNvPr id="18" name="Text 15"/>
          <p:cNvSpPr/>
          <p:nvPr/>
        </p:nvSpPr>
        <p:spPr>
          <a:xfrm>
            <a:off x="749808" y="3992880"/>
            <a:ext cx="10680192" cy="310896"/>
          </a:xfrm>
          <a:prstGeom prst="rect">
            <a:avLst/>
          </a:prstGeom>
          <a:noFill/>
          <a:ln/>
        </p:spPr>
        <p:txBody>
          <a:bodyPr wrap="square" lIns="0" tIns="0" rIns="0" bIns="0" rtlCol="0" anchor="t"/>
          <a:lstStyle/>
          <a:p>
            <a:pPr algn="l" indent="0" marL="0">
              <a:lnSpc>
                <a:spcPct val="116000"/>
              </a:lnSpc>
              <a:buNone/>
            </a:pPr>
            <a:r>
              <a:rPr lang="en-US" sz="1500" dirty="0">
                <a:solidFill>
                  <a:srgbClr val="111827"/>
                </a:solidFill>
                <a:latin typeface="Calibri" pitchFamily="34" charset="0"/>
                <a:ea typeface="Calibri" pitchFamily="34" charset="-122"/>
                <a:cs typeface="Calibri" pitchFamily="34" charset="-120"/>
              </a:rPr>
              <a:t>Quick check: In one sentence, explain the most important thing you learned about "The Water Cycle" today.</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Real Life and Cross Curricular Connection</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8 / 15</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6209629"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713232" y="1536192"/>
            <a:ext cx="10716768" cy="1627632"/>
          </a:xfrm>
          <a:prstGeom prst="rect">
            <a:avLst/>
          </a:prstGeom>
          <a:solidFill>
            <a:srgbClr val="ECFDF8"/>
          </a:solidFill>
          <a:ln w="12700">
            <a:solidFill>
              <a:srgbClr val="ECFDF8"/>
            </a:solidFill>
            <a:prstDash val="solid"/>
          </a:ln>
        </p:spPr>
      </p:sp>
      <p:sp>
        <p:nvSpPr>
          <p:cNvPr id="12" name="Shape 9"/>
          <p:cNvSpPr/>
          <p:nvPr/>
        </p:nvSpPr>
        <p:spPr>
          <a:xfrm>
            <a:off x="713232" y="1536192"/>
            <a:ext cx="54864" cy="1627632"/>
          </a:xfrm>
          <a:prstGeom prst="rect">
            <a:avLst/>
          </a:prstGeom>
          <a:solidFill>
            <a:srgbClr val="087866"/>
          </a:solidFill>
          <a:ln w="12700">
            <a:solidFill>
              <a:srgbClr val="087866"/>
            </a:solidFill>
            <a:prstDash val="solid"/>
          </a:ln>
        </p:spPr>
      </p:sp>
      <p:sp>
        <p:nvSpPr>
          <p:cNvPr id="13" name="Text 10"/>
          <p:cNvSpPr/>
          <p:nvPr/>
        </p:nvSpPr>
        <p:spPr>
          <a:xfrm>
            <a:off x="969264" y="1682496"/>
            <a:ext cx="10204704" cy="1335024"/>
          </a:xfrm>
          <a:prstGeom prst="rect">
            <a:avLst/>
          </a:prstGeom>
          <a:noFill/>
          <a:ln/>
        </p:spPr>
        <p:txBody>
          <a:bodyPr wrap="square" lIns="0" tIns="0" rIns="0" bIns="0" rtlCol="0" anchor="ctr"/>
          <a:lstStyle/>
          <a:p>
            <a:pPr algn="l" indent="0" marL="0">
              <a:lnSpc>
                <a:spcPct val="116000"/>
              </a:lnSpc>
              <a:buNone/>
            </a:pPr>
            <a:r>
              <a:rPr lang="en-US" sz="2200" b="1" dirty="0">
                <a:solidFill>
                  <a:srgbClr val="111827"/>
                </a:solidFill>
                <a:latin typeface="Calibri" pitchFamily="34" charset="0"/>
                <a:ea typeface="Calibri" pitchFamily="34" charset="-122"/>
                <a:cs typeface="Calibri" pitchFamily="34" charset="-120"/>
              </a:rPr>
              <a:t>Real-Life and Cross-Curricular Connection: "The Water Cycle" (Science, Year 7)</a:t>
            </a:r>
            <a:endParaRPr lang="en-US" sz="2200" dirty="0"/>
          </a:p>
        </p:txBody>
      </p:sp>
      <p:sp>
        <p:nvSpPr>
          <p:cNvPr id="14" name="Text 11"/>
          <p:cNvSpPr/>
          <p:nvPr/>
        </p:nvSpPr>
        <p:spPr>
          <a:xfrm>
            <a:off x="713232" y="3419856"/>
            <a:ext cx="10716768" cy="520192"/>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Real-Life Application: The concepts in "The Water Cycle" appear in everyday problem-solving, communication, and decision-making that students will encounter beyond the classroom.</a:t>
            </a:r>
            <a:endParaRPr lang="en-US" sz="1600" dirty="0"/>
          </a:p>
        </p:txBody>
      </p:sp>
      <p:sp>
        <p:nvSpPr>
          <p:cNvPr id="15" name="Text 12"/>
          <p:cNvSpPr/>
          <p:nvPr/>
        </p:nvSpPr>
        <p:spPr>
          <a:xfrm>
            <a:off x="713232" y="4068064"/>
            <a:ext cx="10716768" cy="520192"/>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Cross-Curricular Link: "The Water Cycle" connects to other subjects — students can apply this knowledge across Science, Mathematics, and Language Arts, strengthening understanding in multiple areas.</a:t>
            </a:r>
            <a:endParaRPr lang="en-US" sz="1600" dirty="0"/>
          </a:p>
        </p:txBody>
      </p:sp>
      <p:sp>
        <p:nvSpPr>
          <p:cNvPr id="16" name="Text 13"/>
          <p:cNvSpPr/>
          <p:nvPr/>
        </p:nvSpPr>
        <p:spPr>
          <a:xfrm>
            <a:off x="713232" y="4716272"/>
            <a:ext cx="10716768" cy="520192"/>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Career Connection: Professionals in STEM, education, healthcare, and creative industries use understanding of "The Water Cycle" as a core part of their daily work.</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Plenary</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9 / 15</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6985833"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877824" y="1682496"/>
            <a:ext cx="377190" cy="377190"/>
          </a:xfrm>
          <a:prstGeom prst="ellipse">
            <a:avLst/>
          </a:prstGeom>
          <a:solidFill>
            <a:srgbClr val="087866"/>
          </a:solidFill>
          <a:ln w="12700">
            <a:solidFill>
              <a:srgbClr val="087866"/>
            </a:solidFill>
            <a:prstDash val="solid"/>
          </a:ln>
        </p:spPr>
      </p:sp>
      <p:sp>
        <p:nvSpPr>
          <p:cNvPr id="12" name="Text 9"/>
          <p:cNvSpPr/>
          <p:nvPr/>
        </p:nvSpPr>
        <p:spPr>
          <a:xfrm>
            <a:off x="877824" y="1682496"/>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3" name="Text 10"/>
          <p:cNvSpPr/>
          <p:nvPr/>
        </p:nvSpPr>
        <p:spPr>
          <a:xfrm>
            <a:off x="1401318" y="1664208"/>
            <a:ext cx="9992106" cy="395478"/>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Think-Pair-Share Activity — "The Water Cycle"</a:t>
            </a:r>
            <a:endParaRPr lang="en-US" sz="2200" dirty="0"/>
          </a:p>
        </p:txBody>
      </p:sp>
      <p:sp>
        <p:nvSpPr>
          <p:cNvPr id="14" name="Shape 11"/>
          <p:cNvSpPr/>
          <p:nvPr/>
        </p:nvSpPr>
        <p:spPr>
          <a:xfrm>
            <a:off x="877824" y="2193696"/>
            <a:ext cx="10515600" cy="0"/>
          </a:xfrm>
          <a:prstGeom prst="line">
            <a:avLst/>
          </a:prstGeom>
          <a:noFill/>
          <a:ln w="12700">
            <a:solidFill>
              <a:srgbClr val="CFF6ED"/>
            </a:solidFill>
            <a:prstDash val="solid"/>
          </a:ln>
        </p:spPr>
      </p:sp>
      <p:sp>
        <p:nvSpPr>
          <p:cNvPr id="15" name="Shape 12"/>
          <p:cNvSpPr/>
          <p:nvPr/>
        </p:nvSpPr>
        <p:spPr>
          <a:xfrm>
            <a:off x="877824" y="2345995"/>
            <a:ext cx="377190" cy="377190"/>
          </a:xfrm>
          <a:prstGeom prst="ellipse">
            <a:avLst/>
          </a:prstGeom>
          <a:solidFill>
            <a:srgbClr val="087866"/>
          </a:solidFill>
          <a:ln w="12700">
            <a:solidFill>
              <a:srgbClr val="087866"/>
            </a:solidFill>
            <a:prstDash val="solid"/>
          </a:ln>
        </p:spPr>
      </p:sp>
      <p:sp>
        <p:nvSpPr>
          <p:cNvPr id="16" name="Text 13"/>
          <p:cNvSpPr/>
          <p:nvPr/>
        </p:nvSpPr>
        <p:spPr>
          <a:xfrm>
            <a:off x="877824" y="2345995"/>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7" name="Text 14"/>
          <p:cNvSpPr/>
          <p:nvPr/>
        </p:nvSpPr>
        <p:spPr>
          <a:xfrm>
            <a:off x="1401318" y="2327707"/>
            <a:ext cx="9992106" cy="395478"/>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Students review and consolidate their learning.</a:t>
            </a:r>
            <a:endParaRPr lang="en-US" sz="2200" dirty="0"/>
          </a:p>
        </p:txBody>
      </p:sp>
      <p:sp>
        <p:nvSpPr>
          <p:cNvPr id="18" name="Shape 15"/>
          <p:cNvSpPr/>
          <p:nvPr/>
        </p:nvSpPr>
        <p:spPr>
          <a:xfrm>
            <a:off x="877824" y="2857195"/>
            <a:ext cx="10515600" cy="0"/>
          </a:xfrm>
          <a:prstGeom prst="line">
            <a:avLst/>
          </a:prstGeom>
          <a:noFill/>
          <a:ln w="12700">
            <a:solidFill>
              <a:srgbClr val="CFF6ED"/>
            </a:solidFill>
            <a:prstDash val="solid"/>
          </a:ln>
        </p:spPr>
      </p:sp>
      <p:sp>
        <p:nvSpPr>
          <p:cNvPr id="19" name="Shape 16"/>
          <p:cNvSpPr/>
          <p:nvPr/>
        </p:nvSpPr>
        <p:spPr>
          <a:xfrm>
            <a:off x="877824" y="3009494"/>
            <a:ext cx="377190" cy="377190"/>
          </a:xfrm>
          <a:prstGeom prst="ellipse">
            <a:avLst/>
          </a:prstGeom>
          <a:solidFill>
            <a:srgbClr val="087866"/>
          </a:solidFill>
          <a:ln w="12700">
            <a:solidFill>
              <a:srgbClr val="087866"/>
            </a:solidFill>
            <a:prstDash val="solid"/>
          </a:ln>
        </p:spPr>
      </p:sp>
      <p:sp>
        <p:nvSpPr>
          <p:cNvPr id="20" name="Text 17"/>
          <p:cNvSpPr/>
          <p:nvPr/>
        </p:nvSpPr>
        <p:spPr>
          <a:xfrm>
            <a:off x="877824" y="3009494"/>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1" name="Text 18"/>
          <p:cNvSpPr/>
          <p:nvPr/>
        </p:nvSpPr>
        <p:spPr>
          <a:xfrm>
            <a:off x="1401318" y="2991206"/>
            <a:ext cx="9992106" cy="395478"/>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1.</a:t>
            </a:r>
            <a:endParaRPr lang="en-US" sz="2200" dirty="0"/>
          </a:p>
        </p:txBody>
      </p:sp>
      <p:sp>
        <p:nvSpPr>
          <p:cNvPr id="22" name="Shape 19"/>
          <p:cNvSpPr/>
          <p:nvPr/>
        </p:nvSpPr>
        <p:spPr>
          <a:xfrm>
            <a:off x="877824" y="3520694"/>
            <a:ext cx="10515600" cy="0"/>
          </a:xfrm>
          <a:prstGeom prst="line">
            <a:avLst/>
          </a:prstGeom>
          <a:noFill/>
          <a:ln w="12700">
            <a:solidFill>
              <a:srgbClr val="CFF6ED"/>
            </a:solidFill>
            <a:prstDash val="solid"/>
          </a:ln>
        </p:spPr>
      </p:sp>
      <p:sp>
        <p:nvSpPr>
          <p:cNvPr id="23" name="Shape 20"/>
          <p:cNvSpPr/>
          <p:nvPr/>
        </p:nvSpPr>
        <p:spPr>
          <a:xfrm>
            <a:off x="877824" y="3672992"/>
            <a:ext cx="377190" cy="377190"/>
          </a:xfrm>
          <a:prstGeom prst="ellipse">
            <a:avLst/>
          </a:prstGeom>
          <a:solidFill>
            <a:srgbClr val="087866"/>
          </a:solidFill>
          <a:ln w="12700">
            <a:solidFill>
              <a:srgbClr val="087866"/>
            </a:solidFill>
            <a:prstDash val="solid"/>
          </a:ln>
        </p:spPr>
      </p:sp>
      <p:sp>
        <p:nvSpPr>
          <p:cNvPr id="24" name="Text 21"/>
          <p:cNvSpPr/>
          <p:nvPr/>
        </p:nvSpPr>
        <p:spPr>
          <a:xfrm>
            <a:off x="877824" y="3672992"/>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5" name="Text 22"/>
          <p:cNvSpPr/>
          <p:nvPr/>
        </p:nvSpPr>
        <p:spPr>
          <a:xfrm>
            <a:off x="1401318" y="3654704"/>
            <a:ext cx="9992106" cy="715264"/>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Think (2 min): Write down the 3 most important things you learned about "The Water Cycle" today.</a:t>
            </a:r>
            <a:endParaRPr lang="en-US" sz="2200" dirty="0"/>
          </a:p>
        </p:txBody>
      </p:sp>
      <p:sp>
        <p:nvSpPr>
          <p:cNvPr id="26" name="Shape 23"/>
          <p:cNvSpPr/>
          <p:nvPr/>
        </p:nvSpPr>
        <p:spPr>
          <a:xfrm>
            <a:off x="877824" y="4503979"/>
            <a:ext cx="10515600" cy="0"/>
          </a:xfrm>
          <a:prstGeom prst="line">
            <a:avLst/>
          </a:prstGeom>
          <a:noFill/>
          <a:ln w="12700">
            <a:solidFill>
              <a:srgbClr val="CFF6ED"/>
            </a:solidFill>
            <a:prstDash val="solid"/>
          </a:ln>
        </p:spPr>
      </p:sp>
      <p:sp>
        <p:nvSpPr>
          <p:cNvPr id="27" name="Shape 24"/>
          <p:cNvSpPr/>
          <p:nvPr/>
        </p:nvSpPr>
        <p:spPr>
          <a:xfrm>
            <a:off x="877824" y="4656277"/>
            <a:ext cx="377190" cy="377190"/>
          </a:xfrm>
          <a:prstGeom prst="ellipse">
            <a:avLst/>
          </a:prstGeom>
          <a:solidFill>
            <a:srgbClr val="087866"/>
          </a:solidFill>
          <a:ln w="12700">
            <a:solidFill>
              <a:srgbClr val="087866"/>
            </a:solidFill>
            <a:prstDash val="solid"/>
          </a:ln>
        </p:spPr>
      </p:sp>
      <p:sp>
        <p:nvSpPr>
          <p:cNvPr id="28" name="Text 25"/>
          <p:cNvSpPr/>
          <p:nvPr/>
        </p:nvSpPr>
        <p:spPr>
          <a:xfrm>
            <a:off x="877824" y="4656277"/>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9" name="Text 26"/>
          <p:cNvSpPr/>
          <p:nvPr/>
        </p:nvSpPr>
        <p:spPr>
          <a:xfrm>
            <a:off x="1401318" y="4637989"/>
            <a:ext cx="9992106" cy="395478"/>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2.</a:t>
            </a:r>
            <a:endParaRPr lang="en-US" sz="2200" dirty="0"/>
          </a:p>
        </p:txBody>
      </p:sp>
      <p:sp>
        <p:nvSpPr>
          <p:cNvPr id="30" name="Shape 27"/>
          <p:cNvSpPr/>
          <p:nvPr/>
        </p:nvSpPr>
        <p:spPr>
          <a:xfrm>
            <a:off x="877824" y="5167478"/>
            <a:ext cx="10515600" cy="0"/>
          </a:xfrm>
          <a:prstGeom prst="line">
            <a:avLst/>
          </a:prstGeom>
          <a:noFill/>
          <a:ln w="12700">
            <a:solidFill>
              <a:srgbClr val="CFF6ED"/>
            </a:solidFill>
            <a:prstDash val="solid"/>
          </a:ln>
        </p:spPr>
      </p:sp>
      <p:sp>
        <p:nvSpPr>
          <p:cNvPr id="31" name="Shape 28"/>
          <p:cNvSpPr/>
          <p:nvPr/>
        </p:nvSpPr>
        <p:spPr>
          <a:xfrm>
            <a:off x="877824" y="5319776"/>
            <a:ext cx="377190" cy="377190"/>
          </a:xfrm>
          <a:prstGeom prst="ellipse">
            <a:avLst/>
          </a:prstGeom>
          <a:solidFill>
            <a:srgbClr val="087866"/>
          </a:solidFill>
          <a:ln w="12700">
            <a:solidFill>
              <a:srgbClr val="087866"/>
            </a:solidFill>
            <a:prstDash val="solid"/>
          </a:ln>
        </p:spPr>
      </p:sp>
      <p:sp>
        <p:nvSpPr>
          <p:cNvPr id="32" name="Text 29"/>
          <p:cNvSpPr/>
          <p:nvPr/>
        </p:nvSpPr>
        <p:spPr>
          <a:xfrm>
            <a:off x="877824" y="5319776"/>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33" name="Text 30"/>
          <p:cNvSpPr/>
          <p:nvPr/>
        </p:nvSpPr>
        <p:spPr>
          <a:xfrm>
            <a:off x="1401318" y="5301488"/>
            <a:ext cx="9992106" cy="715264"/>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Pair (2 min): Compare your key points with a partner — what did you both include?</a:t>
            </a:r>
            <a:endParaRPr lang="en-US" sz="2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Plenary — Continued</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10 / 15</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7762037"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877824" y="1682496"/>
            <a:ext cx="457200" cy="457200"/>
          </a:xfrm>
          <a:prstGeom prst="ellipse">
            <a:avLst/>
          </a:prstGeom>
          <a:solidFill>
            <a:srgbClr val="087866"/>
          </a:solidFill>
          <a:ln w="12700">
            <a:solidFill>
              <a:srgbClr val="087866"/>
            </a:solidFill>
            <a:prstDash val="solid"/>
          </a:ln>
        </p:spPr>
      </p:sp>
      <p:sp>
        <p:nvSpPr>
          <p:cNvPr id="12" name="Text 9"/>
          <p:cNvSpPr/>
          <p:nvPr/>
        </p:nvSpPr>
        <p:spPr>
          <a:xfrm>
            <a:off x="877824" y="1682496"/>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1</a:t>
            </a:r>
            <a:endParaRPr lang="en-US" sz="1900" dirty="0"/>
          </a:p>
        </p:txBody>
      </p:sp>
      <p:sp>
        <p:nvSpPr>
          <p:cNvPr id="13" name="Text 10"/>
          <p:cNvSpPr/>
          <p:nvPr/>
        </p:nvSpPr>
        <p:spPr>
          <a:xfrm>
            <a:off x="1481328" y="1664208"/>
            <a:ext cx="9912096" cy="475488"/>
          </a:xfrm>
          <a:prstGeom prst="rect">
            <a:avLst/>
          </a:prstGeom>
          <a:noFill/>
          <a:ln/>
        </p:spPr>
        <p:txBody>
          <a:bodyPr wrap="square" lIns="0" tIns="0" rIns="0" bIns="0" rtlCol="0" anchor="t"/>
          <a:lstStyle/>
          <a:p>
            <a:pPr algn="l" indent="0" marL="0">
              <a:lnSpc>
                <a:spcPct val="116000"/>
              </a:lnSpc>
              <a:buNone/>
            </a:pPr>
            <a:r>
              <a:rPr lang="en-US" sz="2800" dirty="0">
                <a:solidFill>
                  <a:srgbClr val="111827"/>
                </a:solidFill>
                <a:latin typeface="Calibri" pitchFamily="34" charset="0"/>
                <a:ea typeface="Calibri" pitchFamily="34" charset="-122"/>
                <a:cs typeface="Calibri" pitchFamily="34" charset="-120"/>
              </a:rPr>
              <a:t>What was different?</a:t>
            </a:r>
            <a:endParaRPr lang="en-US" sz="2800" dirty="0"/>
          </a:p>
        </p:txBody>
      </p:sp>
      <p:sp>
        <p:nvSpPr>
          <p:cNvPr id="14" name="Shape 11"/>
          <p:cNvSpPr/>
          <p:nvPr/>
        </p:nvSpPr>
        <p:spPr>
          <a:xfrm>
            <a:off x="877824" y="2327317"/>
            <a:ext cx="10515600" cy="0"/>
          </a:xfrm>
          <a:prstGeom prst="line">
            <a:avLst/>
          </a:prstGeom>
          <a:noFill/>
          <a:ln w="12700">
            <a:solidFill>
              <a:srgbClr val="CFF6ED"/>
            </a:solidFill>
            <a:prstDash val="solid"/>
          </a:ln>
        </p:spPr>
      </p:sp>
      <p:sp>
        <p:nvSpPr>
          <p:cNvPr id="15" name="Shape 12"/>
          <p:cNvSpPr/>
          <p:nvPr/>
        </p:nvSpPr>
        <p:spPr>
          <a:xfrm>
            <a:off x="877824" y="2533227"/>
            <a:ext cx="457200" cy="457200"/>
          </a:xfrm>
          <a:prstGeom prst="ellipse">
            <a:avLst/>
          </a:prstGeom>
          <a:solidFill>
            <a:srgbClr val="087866"/>
          </a:solidFill>
          <a:ln w="12700">
            <a:solidFill>
              <a:srgbClr val="087866"/>
            </a:solidFill>
            <a:prstDash val="solid"/>
          </a:ln>
        </p:spPr>
      </p:sp>
      <p:sp>
        <p:nvSpPr>
          <p:cNvPr id="16" name="Text 13"/>
          <p:cNvSpPr/>
          <p:nvPr/>
        </p:nvSpPr>
        <p:spPr>
          <a:xfrm>
            <a:off x="877824" y="2533227"/>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2</a:t>
            </a:r>
            <a:endParaRPr lang="en-US" sz="1900" dirty="0"/>
          </a:p>
        </p:txBody>
      </p:sp>
      <p:sp>
        <p:nvSpPr>
          <p:cNvPr id="17" name="Text 14"/>
          <p:cNvSpPr/>
          <p:nvPr/>
        </p:nvSpPr>
        <p:spPr>
          <a:xfrm>
            <a:off x="1481328" y="2514939"/>
            <a:ext cx="9912096" cy="475488"/>
          </a:xfrm>
          <a:prstGeom prst="rect">
            <a:avLst/>
          </a:prstGeom>
          <a:noFill/>
          <a:ln/>
        </p:spPr>
        <p:txBody>
          <a:bodyPr wrap="square" lIns="0" tIns="0" rIns="0" bIns="0" rtlCol="0" anchor="t"/>
          <a:lstStyle/>
          <a:p>
            <a:pPr algn="l" indent="0" marL="0">
              <a:lnSpc>
                <a:spcPct val="116000"/>
              </a:lnSpc>
              <a:buNone/>
            </a:pPr>
            <a:r>
              <a:rPr lang="en-US" sz="2800" dirty="0">
                <a:solidFill>
                  <a:srgbClr val="111827"/>
                </a:solidFill>
                <a:latin typeface="Calibri" pitchFamily="34" charset="0"/>
                <a:ea typeface="Calibri" pitchFamily="34" charset="-122"/>
                <a:cs typeface="Calibri" pitchFamily="34" charset="-120"/>
              </a:rPr>
              <a:t>3.</a:t>
            </a:r>
            <a:endParaRPr lang="en-US" sz="2800" dirty="0"/>
          </a:p>
        </p:txBody>
      </p:sp>
      <p:sp>
        <p:nvSpPr>
          <p:cNvPr id="18" name="Shape 15"/>
          <p:cNvSpPr/>
          <p:nvPr/>
        </p:nvSpPr>
        <p:spPr>
          <a:xfrm>
            <a:off x="877824" y="3178048"/>
            <a:ext cx="10515600" cy="0"/>
          </a:xfrm>
          <a:prstGeom prst="line">
            <a:avLst/>
          </a:prstGeom>
          <a:noFill/>
          <a:ln w="12700">
            <a:solidFill>
              <a:srgbClr val="CFF6ED"/>
            </a:solidFill>
            <a:prstDash val="solid"/>
          </a:ln>
        </p:spPr>
      </p:sp>
      <p:sp>
        <p:nvSpPr>
          <p:cNvPr id="19" name="Shape 16"/>
          <p:cNvSpPr/>
          <p:nvPr/>
        </p:nvSpPr>
        <p:spPr>
          <a:xfrm>
            <a:off x="877824" y="3383957"/>
            <a:ext cx="457200" cy="457200"/>
          </a:xfrm>
          <a:prstGeom prst="ellipse">
            <a:avLst/>
          </a:prstGeom>
          <a:solidFill>
            <a:srgbClr val="087866"/>
          </a:solidFill>
          <a:ln w="12700">
            <a:solidFill>
              <a:srgbClr val="087866"/>
            </a:solidFill>
            <a:prstDash val="solid"/>
          </a:ln>
        </p:spPr>
      </p:sp>
      <p:sp>
        <p:nvSpPr>
          <p:cNvPr id="20" name="Text 17"/>
          <p:cNvSpPr/>
          <p:nvPr/>
        </p:nvSpPr>
        <p:spPr>
          <a:xfrm>
            <a:off x="877824" y="3383957"/>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3</a:t>
            </a:r>
            <a:endParaRPr lang="en-US" sz="1900" dirty="0"/>
          </a:p>
        </p:txBody>
      </p:sp>
      <p:sp>
        <p:nvSpPr>
          <p:cNvPr id="21" name="Text 18"/>
          <p:cNvSpPr/>
          <p:nvPr/>
        </p:nvSpPr>
        <p:spPr>
          <a:xfrm>
            <a:off x="1481328" y="3365669"/>
            <a:ext cx="9912096" cy="910336"/>
          </a:xfrm>
          <a:prstGeom prst="rect">
            <a:avLst/>
          </a:prstGeom>
          <a:noFill/>
          <a:ln/>
        </p:spPr>
        <p:txBody>
          <a:bodyPr wrap="square" lIns="0" tIns="0" rIns="0" bIns="0" rtlCol="0" anchor="t"/>
          <a:lstStyle/>
          <a:p>
            <a:pPr algn="l" indent="0" marL="0">
              <a:lnSpc>
                <a:spcPct val="116000"/>
              </a:lnSpc>
              <a:buNone/>
            </a:pPr>
            <a:r>
              <a:rPr lang="en-US" sz="2800" dirty="0">
                <a:solidFill>
                  <a:srgbClr val="111827"/>
                </a:solidFill>
                <a:latin typeface="Calibri" pitchFamily="34" charset="0"/>
                <a:ea typeface="Calibri" pitchFamily="34" charset="-122"/>
                <a:cs typeface="Calibri" pitchFamily="34" charset="-120"/>
              </a:rPr>
              <a:t>Share (2 min): 2-3 pairs share their most important insight with the class.</a:t>
            </a:r>
            <a:endParaRPr lang="en-US" sz="2800" dirty="0"/>
          </a:p>
        </p:txBody>
      </p:sp>
      <p:sp>
        <p:nvSpPr>
          <p:cNvPr id="22" name="Shape 19"/>
          <p:cNvSpPr/>
          <p:nvPr/>
        </p:nvSpPr>
        <p:spPr>
          <a:xfrm>
            <a:off x="877824" y="4463627"/>
            <a:ext cx="10515600" cy="0"/>
          </a:xfrm>
          <a:prstGeom prst="line">
            <a:avLst/>
          </a:prstGeom>
          <a:noFill/>
          <a:ln w="12700">
            <a:solidFill>
              <a:srgbClr val="CFF6ED"/>
            </a:solidFill>
            <a:prstDash val="solid"/>
          </a:ln>
        </p:spPr>
      </p:sp>
      <p:sp>
        <p:nvSpPr>
          <p:cNvPr id="23" name="Shape 20"/>
          <p:cNvSpPr/>
          <p:nvPr/>
        </p:nvSpPr>
        <p:spPr>
          <a:xfrm>
            <a:off x="877824" y="4669536"/>
            <a:ext cx="457200" cy="457200"/>
          </a:xfrm>
          <a:prstGeom prst="ellipse">
            <a:avLst/>
          </a:prstGeom>
          <a:solidFill>
            <a:srgbClr val="087866"/>
          </a:solidFill>
          <a:ln w="12700">
            <a:solidFill>
              <a:srgbClr val="087866"/>
            </a:solidFill>
            <a:prstDash val="solid"/>
          </a:ln>
        </p:spPr>
      </p:sp>
      <p:sp>
        <p:nvSpPr>
          <p:cNvPr id="24" name="Text 21"/>
          <p:cNvSpPr/>
          <p:nvPr/>
        </p:nvSpPr>
        <p:spPr>
          <a:xfrm>
            <a:off x="877824" y="4669536"/>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4</a:t>
            </a:r>
            <a:endParaRPr lang="en-US" sz="1900" dirty="0"/>
          </a:p>
        </p:txBody>
      </p:sp>
      <p:sp>
        <p:nvSpPr>
          <p:cNvPr id="25" name="Text 22"/>
          <p:cNvSpPr/>
          <p:nvPr/>
        </p:nvSpPr>
        <p:spPr>
          <a:xfrm>
            <a:off x="1481328" y="4651248"/>
            <a:ext cx="9912096" cy="1365504"/>
          </a:xfrm>
          <a:prstGeom prst="rect">
            <a:avLst/>
          </a:prstGeom>
          <a:noFill/>
          <a:ln/>
        </p:spPr>
        <p:txBody>
          <a:bodyPr wrap="square" lIns="0" tIns="0" rIns="0" bIns="0" rtlCol="0" anchor="t"/>
          <a:lstStyle/>
          <a:p>
            <a:pPr algn="l" indent="0" marL="0">
              <a:lnSpc>
                <a:spcPct val="116000"/>
              </a:lnSpc>
              <a:buNone/>
            </a:pPr>
            <a:r>
              <a:rPr lang="en-US" sz="2800" dirty="0">
                <a:solidFill>
                  <a:srgbClr val="111827"/>
                </a:solidFill>
                <a:latin typeface="Calibri" pitchFamily="34" charset="0"/>
                <a:ea typeface="Calibri" pitchFamily="34" charset="-122"/>
                <a:cs typeface="Calibri" pitchFamily="34" charset="-120"/>
              </a:rPr>
              <a:t>Teacher: Ask students to connect their insights back to today's learning objectives about "The Water Cycle".</a:t>
            </a:r>
            <a:endParaRPr lang="en-US" sz="2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Extended Task</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11 / 15</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8538240"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749808" y="1591056"/>
            <a:ext cx="292608" cy="292608"/>
          </a:xfrm>
          <a:prstGeom prst="ellipse">
            <a:avLst/>
          </a:prstGeom>
          <a:solidFill>
            <a:srgbClr val="087866"/>
          </a:solidFill>
          <a:ln w="12700">
            <a:solidFill>
              <a:srgbClr val="087866"/>
            </a:solidFill>
            <a:prstDash val="solid"/>
          </a:ln>
        </p:spPr>
      </p:sp>
      <p:sp>
        <p:nvSpPr>
          <p:cNvPr id="12" name="Text 9"/>
          <p:cNvSpPr/>
          <p:nvPr/>
        </p:nvSpPr>
        <p:spPr>
          <a:xfrm>
            <a:off x="749808" y="1591056"/>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3" name="Text 10"/>
          <p:cNvSpPr/>
          <p:nvPr/>
        </p:nvSpPr>
        <p:spPr>
          <a:xfrm>
            <a:off x="1188720" y="1572768"/>
            <a:ext cx="102595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Research Task: "The Water Cycle"</a:t>
            </a:r>
            <a:endParaRPr lang="en-US" sz="1600" dirty="0"/>
          </a:p>
        </p:txBody>
      </p:sp>
      <p:sp>
        <p:nvSpPr>
          <p:cNvPr id="14" name="Shape 11"/>
          <p:cNvSpPr/>
          <p:nvPr/>
        </p:nvSpPr>
        <p:spPr>
          <a:xfrm>
            <a:off x="749808" y="2107692"/>
            <a:ext cx="292608" cy="292608"/>
          </a:xfrm>
          <a:prstGeom prst="ellipse">
            <a:avLst/>
          </a:prstGeom>
          <a:solidFill>
            <a:srgbClr val="087866"/>
          </a:solidFill>
          <a:ln w="12700">
            <a:solidFill>
              <a:srgbClr val="087866"/>
            </a:solidFill>
            <a:prstDash val="solid"/>
          </a:ln>
        </p:spPr>
      </p:sp>
      <p:sp>
        <p:nvSpPr>
          <p:cNvPr id="15" name="Text 12"/>
          <p:cNvSpPr/>
          <p:nvPr/>
        </p:nvSpPr>
        <p:spPr>
          <a:xfrm>
            <a:off x="749808" y="2107692"/>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6" name="Text 13"/>
          <p:cNvSpPr/>
          <p:nvPr/>
        </p:nvSpPr>
        <p:spPr>
          <a:xfrm>
            <a:off x="1188720" y="2089404"/>
            <a:ext cx="102595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1.</a:t>
            </a:r>
            <a:endParaRPr lang="en-US" sz="1600" dirty="0"/>
          </a:p>
        </p:txBody>
      </p:sp>
      <p:sp>
        <p:nvSpPr>
          <p:cNvPr id="17" name="Shape 14"/>
          <p:cNvSpPr/>
          <p:nvPr/>
        </p:nvSpPr>
        <p:spPr>
          <a:xfrm>
            <a:off x="749808" y="2624328"/>
            <a:ext cx="292608" cy="292608"/>
          </a:xfrm>
          <a:prstGeom prst="ellipse">
            <a:avLst/>
          </a:prstGeom>
          <a:solidFill>
            <a:srgbClr val="087866"/>
          </a:solidFill>
          <a:ln w="12700">
            <a:solidFill>
              <a:srgbClr val="087866"/>
            </a:solidFill>
            <a:prstDash val="solid"/>
          </a:ln>
        </p:spPr>
      </p:sp>
      <p:sp>
        <p:nvSpPr>
          <p:cNvPr id="18" name="Text 15"/>
          <p:cNvSpPr/>
          <p:nvPr/>
        </p:nvSpPr>
        <p:spPr>
          <a:xfrm>
            <a:off x="749808" y="2624328"/>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9" name="Text 16"/>
          <p:cNvSpPr/>
          <p:nvPr/>
        </p:nvSpPr>
        <p:spPr>
          <a:xfrm>
            <a:off x="1188720" y="2606040"/>
            <a:ext cx="102595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Choose one aspect of "The Water Cycle" that interested you most from today's lesson.</a:t>
            </a:r>
            <a:endParaRPr lang="en-US" sz="1600" dirty="0"/>
          </a:p>
        </p:txBody>
      </p:sp>
      <p:sp>
        <p:nvSpPr>
          <p:cNvPr id="20" name="Shape 17"/>
          <p:cNvSpPr/>
          <p:nvPr/>
        </p:nvSpPr>
        <p:spPr>
          <a:xfrm>
            <a:off x="749808" y="3140964"/>
            <a:ext cx="292608" cy="292608"/>
          </a:xfrm>
          <a:prstGeom prst="ellipse">
            <a:avLst/>
          </a:prstGeom>
          <a:solidFill>
            <a:srgbClr val="087866"/>
          </a:solidFill>
          <a:ln w="12700">
            <a:solidFill>
              <a:srgbClr val="087866"/>
            </a:solidFill>
            <a:prstDash val="solid"/>
          </a:ln>
        </p:spPr>
      </p:sp>
      <p:sp>
        <p:nvSpPr>
          <p:cNvPr id="21" name="Text 18"/>
          <p:cNvSpPr/>
          <p:nvPr/>
        </p:nvSpPr>
        <p:spPr>
          <a:xfrm>
            <a:off x="749808" y="3140964"/>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2" name="Text 19"/>
          <p:cNvSpPr/>
          <p:nvPr/>
        </p:nvSpPr>
        <p:spPr>
          <a:xfrm>
            <a:off x="1188720" y="3122676"/>
            <a:ext cx="102595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2.</a:t>
            </a:r>
            <a:endParaRPr lang="en-US" sz="1600" dirty="0"/>
          </a:p>
        </p:txBody>
      </p:sp>
      <p:sp>
        <p:nvSpPr>
          <p:cNvPr id="23" name="Shape 20"/>
          <p:cNvSpPr/>
          <p:nvPr/>
        </p:nvSpPr>
        <p:spPr>
          <a:xfrm>
            <a:off x="749808" y="3657600"/>
            <a:ext cx="292608" cy="292608"/>
          </a:xfrm>
          <a:prstGeom prst="ellipse">
            <a:avLst/>
          </a:prstGeom>
          <a:solidFill>
            <a:srgbClr val="087866"/>
          </a:solidFill>
          <a:ln w="12700">
            <a:solidFill>
              <a:srgbClr val="087866"/>
            </a:solidFill>
            <a:prstDash val="solid"/>
          </a:ln>
        </p:spPr>
      </p:sp>
      <p:sp>
        <p:nvSpPr>
          <p:cNvPr id="24" name="Text 21"/>
          <p:cNvSpPr/>
          <p:nvPr/>
        </p:nvSpPr>
        <p:spPr>
          <a:xfrm>
            <a:off x="749808" y="3657600"/>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5" name="Text 22"/>
          <p:cNvSpPr/>
          <p:nvPr/>
        </p:nvSpPr>
        <p:spPr>
          <a:xfrm>
            <a:off x="1188720" y="3639312"/>
            <a:ext cx="102595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Research it further using textbooks, reliable websites, or other sources.</a:t>
            </a:r>
            <a:endParaRPr lang="en-US" sz="1600" dirty="0"/>
          </a:p>
        </p:txBody>
      </p:sp>
      <p:sp>
        <p:nvSpPr>
          <p:cNvPr id="26" name="Shape 23"/>
          <p:cNvSpPr/>
          <p:nvPr/>
        </p:nvSpPr>
        <p:spPr>
          <a:xfrm>
            <a:off x="749808" y="4174236"/>
            <a:ext cx="292608" cy="292608"/>
          </a:xfrm>
          <a:prstGeom prst="ellipse">
            <a:avLst/>
          </a:prstGeom>
          <a:solidFill>
            <a:srgbClr val="087866"/>
          </a:solidFill>
          <a:ln w="12700">
            <a:solidFill>
              <a:srgbClr val="087866"/>
            </a:solidFill>
            <a:prstDash val="solid"/>
          </a:ln>
        </p:spPr>
      </p:sp>
      <p:sp>
        <p:nvSpPr>
          <p:cNvPr id="27" name="Text 24"/>
          <p:cNvSpPr/>
          <p:nvPr/>
        </p:nvSpPr>
        <p:spPr>
          <a:xfrm>
            <a:off x="749808" y="4174236"/>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28" name="Text 25"/>
          <p:cNvSpPr/>
          <p:nvPr/>
        </p:nvSpPr>
        <p:spPr>
          <a:xfrm>
            <a:off x="1188720" y="4155948"/>
            <a:ext cx="102595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3.</a:t>
            </a:r>
            <a:endParaRPr lang="en-US" sz="1600" dirty="0"/>
          </a:p>
        </p:txBody>
      </p:sp>
      <p:sp>
        <p:nvSpPr>
          <p:cNvPr id="29" name="Shape 26"/>
          <p:cNvSpPr/>
          <p:nvPr/>
        </p:nvSpPr>
        <p:spPr>
          <a:xfrm>
            <a:off x="749808" y="4690872"/>
            <a:ext cx="292608" cy="292608"/>
          </a:xfrm>
          <a:prstGeom prst="ellipse">
            <a:avLst/>
          </a:prstGeom>
          <a:solidFill>
            <a:srgbClr val="087866"/>
          </a:solidFill>
          <a:ln w="12700">
            <a:solidFill>
              <a:srgbClr val="087866"/>
            </a:solidFill>
            <a:prstDash val="solid"/>
          </a:ln>
        </p:spPr>
      </p:sp>
      <p:sp>
        <p:nvSpPr>
          <p:cNvPr id="30" name="Text 27"/>
          <p:cNvSpPr/>
          <p:nvPr/>
        </p:nvSpPr>
        <p:spPr>
          <a:xfrm>
            <a:off x="749808" y="4690872"/>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7</a:t>
            </a:r>
            <a:endParaRPr lang="en-US" sz="1200" dirty="0"/>
          </a:p>
        </p:txBody>
      </p:sp>
      <p:sp>
        <p:nvSpPr>
          <p:cNvPr id="31" name="Text 28"/>
          <p:cNvSpPr/>
          <p:nvPr/>
        </p:nvSpPr>
        <p:spPr>
          <a:xfrm>
            <a:off x="1188720" y="4672584"/>
            <a:ext cx="102595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Write a one-page summary of your findings in your own words.</a:t>
            </a:r>
            <a:endParaRPr lang="en-US" sz="1600" dirty="0"/>
          </a:p>
        </p:txBody>
      </p:sp>
      <p:sp>
        <p:nvSpPr>
          <p:cNvPr id="32" name="Shape 29"/>
          <p:cNvSpPr/>
          <p:nvPr/>
        </p:nvSpPr>
        <p:spPr>
          <a:xfrm>
            <a:off x="749808" y="5207508"/>
            <a:ext cx="292608" cy="292608"/>
          </a:xfrm>
          <a:prstGeom prst="ellipse">
            <a:avLst/>
          </a:prstGeom>
          <a:solidFill>
            <a:srgbClr val="087866"/>
          </a:solidFill>
          <a:ln w="12700">
            <a:solidFill>
              <a:srgbClr val="087866"/>
            </a:solidFill>
            <a:prstDash val="solid"/>
          </a:ln>
        </p:spPr>
      </p:sp>
      <p:sp>
        <p:nvSpPr>
          <p:cNvPr id="33" name="Text 30"/>
          <p:cNvSpPr/>
          <p:nvPr/>
        </p:nvSpPr>
        <p:spPr>
          <a:xfrm>
            <a:off x="749808" y="5207508"/>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8</a:t>
            </a:r>
            <a:endParaRPr lang="en-US" sz="1200" dirty="0"/>
          </a:p>
        </p:txBody>
      </p:sp>
      <p:sp>
        <p:nvSpPr>
          <p:cNvPr id="34" name="Text 31"/>
          <p:cNvSpPr/>
          <p:nvPr/>
        </p:nvSpPr>
        <p:spPr>
          <a:xfrm>
            <a:off x="1188720" y="5189220"/>
            <a:ext cx="102595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4.</a:t>
            </a:r>
            <a:endParaRPr lang="en-US" sz="1600" dirty="0"/>
          </a:p>
        </p:txBody>
      </p:sp>
      <p:sp>
        <p:nvSpPr>
          <p:cNvPr id="35" name="Shape 32"/>
          <p:cNvSpPr/>
          <p:nvPr/>
        </p:nvSpPr>
        <p:spPr>
          <a:xfrm>
            <a:off x="749808" y="5724144"/>
            <a:ext cx="292608" cy="292608"/>
          </a:xfrm>
          <a:prstGeom prst="ellipse">
            <a:avLst/>
          </a:prstGeom>
          <a:solidFill>
            <a:srgbClr val="087866"/>
          </a:solidFill>
          <a:ln w="12700">
            <a:solidFill>
              <a:srgbClr val="087866"/>
            </a:solidFill>
            <a:prstDash val="solid"/>
          </a:ln>
        </p:spPr>
      </p:sp>
      <p:sp>
        <p:nvSpPr>
          <p:cNvPr id="36" name="Text 33"/>
          <p:cNvSpPr/>
          <p:nvPr/>
        </p:nvSpPr>
        <p:spPr>
          <a:xfrm>
            <a:off x="749808" y="5724144"/>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9</a:t>
            </a:r>
            <a:endParaRPr lang="en-US" sz="1200" dirty="0"/>
          </a:p>
        </p:txBody>
      </p:sp>
      <p:sp>
        <p:nvSpPr>
          <p:cNvPr id="37" name="Text 34"/>
          <p:cNvSpPr/>
          <p:nvPr/>
        </p:nvSpPr>
        <p:spPr>
          <a:xfrm>
            <a:off x="1188720" y="5705856"/>
            <a:ext cx="102595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Include one diagram, image, or real-world example that helps explain your chosen aspect.</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Extended Task — Continued</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12 / 15</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9314444"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749808" y="1591056"/>
            <a:ext cx="377190" cy="377190"/>
          </a:xfrm>
          <a:prstGeom prst="ellipse">
            <a:avLst/>
          </a:prstGeom>
          <a:solidFill>
            <a:srgbClr val="087866"/>
          </a:solidFill>
          <a:ln w="12700">
            <a:solidFill>
              <a:srgbClr val="087866"/>
            </a:solidFill>
            <a:prstDash val="solid"/>
          </a:ln>
        </p:spPr>
      </p:sp>
      <p:sp>
        <p:nvSpPr>
          <p:cNvPr id="12" name="Text 9"/>
          <p:cNvSpPr/>
          <p:nvPr/>
        </p:nvSpPr>
        <p:spPr>
          <a:xfrm>
            <a:off x="749808" y="1591056"/>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3" name="Text 10"/>
          <p:cNvSpPr/>
          <p:nvPr/>
        </p:nvSpPr>
        <p:spPr>
          <a:xfrm>
            <a:off x="1273302" y="1572768"/>
            <a:ext cx="10174986" cy="395478"/>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5.</a:t>
            </a:r>
            <a:endParaRPr lang="en-US" sz="2200" dirty="0"/>
          </a:p>
        </p:txBody>
      </p:sp>
      <p:sp>
        <p:nvSpPr>
          <p:cNvPr id="14" name="Shape 11"/>
          <p:cNvSpPr/>
          <p:nvPr/>
        </p:nvSpPr>
        <p:spPr>
          <a:xfrm>
            <a:off x="749808" y="2443734"/>
            <a:ext cx="377190" cy="377190"/>
          </a:xfrm>
          <a:prstGeom prst="ellipse">
            <a:avLst/>
          </a:prstGeom>
          <a:solidFill>
            <a:srgbClr val="087866"/>
          </a:solidFill>
          <a:ln w="12700">
            <a:solidFill>
              <a:srgbClr val="087866"/>
            </a:solidFill>
            <a:prstDash val="solid"/>
          </a:ln>
        </p:spPr>
      </p:sp>
      <p:sp>
        <p:nvSpPr>
          <p:cNvPr id="15" name="Text 12"/>
          <p:cNvSpPr/>
          <p:nvPr/>
        </p:nvSpPr>
        <p:spPr>
          <a:xfrm>
            <a:off x="749808" y="2443734"/>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6" name="Text 13"/>
          <p:cNvSpPr/>
          <p:nvPr/>
        </p:nvSpPr>
        <p:spPr>
          <a:xfrm>
            <a:off x="1273302" y="2425446"/>
            <a:ext cx="10174986" cy="715264"/>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Be ready to share your most interesting discovery at the start of the next lesson.</a:t>
            </a:r>
            <a:endParaRPr lang="en-US" sz="2200" dirty="0"/>
          </a:p>
        </p:txBody>
      </p:sp>
      <p:sp>
        <p:nvSpPr>
          <p:cNvPr id="17" name="Shape 14"/>
          <p:cNvSpPr/>
          <p:nvPr/>
        </p:nvSpPr>
        <p:spPr>
          <a:xfrm>
            <a:off x="749808" y="3616198"/>
            <a:ext cx="377190" cy="377190"/>
          </a:xfrm>
          <a:prstGeom prst="ellipse">
            <a:avLst/>
          </a:prstGeom>
          <a:solidFill>
            <a:srgbClr val="087866"/>
          </a:solidFill>
          <a:ln w="12700">
            <a:solidFill>
              <a:srgbClr val="087866"/>
            </a:solidFill>
            <a:prstDash val="solid"/>
          </a:ln>
        </p:spPr>
      </p:sp>
      <p:sp>
        <p:nvSpPr>
          <p:cNvPr id="18" name="Text 15"/>
          <p:cNvSpPr/>
          <p:nvPr/>
        </p:nvSpPr>
        <p:spPr>
          <a:xfrm>
            <a:off x="749808" y="3616198"/>
            <a:ext cx="377190" cy="37719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9" name="Text 16"/>
          <p:cNvSpPr/>
          <p:nvPr/>
        </p:nvSpPr>
        <p:spPr>
          <a:xfrm>
            <a:off x="1273302" y="3597910"/>
            <a:ext cx="10174986" cy="715264"/>
          </a:xfrm>
          <a:prstGeom prst="rect">
            <a:avLst/>
          </a:prstGeom>
          <a:noFill/>
          <a:ln/>
        </p:spPr>
        <p:txBody>
          <a:bodyPr wrap="square" lIns="0" tIns="0" rIns="0" bIns="0" rtlCol="0" anchor="t"/>
          <a:lstStyle/>
          <a:p>
            <a:pPr algn="l" indent="0" marL="0">
              <a:lnSpc>
                <a:spcPct val="116000"/>
              </a:lnSpc>
              <a:buNone/>
            </a:pPr>
            <a:r>
              <a:rPr lang="en-US" sz="2200" dirty="0">
                <a:solidFill>
                  <a:srgbClr val="111827"/>
                </a:solidFill>
                <a:latin typeface="Calibri" pitchFamily="34" charset="0"/>
                <a:ea typeface="Calibri" pitchFamily="34" charset="-122"/>
                <a:cs typeface="Calibri" pitchFamily="34" charset="-120"/>
              </a:rPr>
              <a:t>Challenge: How does "The Water Cycle" connect to daily life or a career that interests you?</a:t>
            </a:r>
            <a:endParaRPr lang="en-US" sz="2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Exit Ticket</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13 / 15</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10090648"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749808" y="1709928"/>
            <a:ext cx="4617720" cy="2514600"/>
          </a:xfrm>
          <a:prstGeom prst="rect">
            <a:avLst/>
          </a:prstGeom>
          <a:solidFill>
            <a:srgbClr val="ECFDF8"/>
          </a:solidFill>
          <a:ln w="12700">
            <a:solidFill>
              <a:srgbClr val="ECFDF8"/>
            </a:solidFill>
            <a:prstDash val="solid"/>
          </a:ln>
        </p:spPr>
      </p:sp>
      <p:sp>
        <p:nvSpPr>
          <p:cNvPr id="12" name="Shape 9"/>
          <p:cNvSpPr/>
          <p:nvPr/>
        </p:nvSpPr>
        <p:spPr>
          <a:xfrm>
            <a:off x="749808" y="1709928"/>
            <a:ext cx="54864" cy="2514600"/>
          </a:xfrm>
          <a:prstGeom prst="rect">
            <a:avLst/>
          </a:prstGeom>
          <a:solidFill>
            <a:srgbClr val="087866"/>
          </a:solidFill>
          <a:ln w="12700">
            <a:solidFill>
              <a:srgbClr val="087866"/>
            </a:solidFill>
            <a:prstDash val="solid"/>
          </a:ln>
        </p:spPr>
      </p:sp>
      <p:sp>
        <p:nvSpPr>
          <p:cNvPr id="13" name="Text 10"/>
          <p:cNvSpPr/>
          <p:nvPr/>
        </p:nvSpPr>
        <p:spPr>
          <a:xfrm>
            <a:off x="1005840" y="1856232"/>
            <a:ext cx="4105656" cy="2221992"/>
          </a:xfrm>
          <a:prstGeom prst="rect">
            <a:avLst/>
          </a:prstGeom>
          <a:noFill/>
          <a:ln/>
        </p:spPr>
        <p:txBody>
          <a:bodyPr wrap="square" lIns="0" tIns="0" rIns="0" bIns="0" rtlCol="0" anchor="ctr"/>
          <a:lstStyle/>
          <a:p>
            <a:pPr algn="l" indent="0" marL="0">
              <a:lnSpc>
                <a:spcPct val="116000"/>
              </a:lnSpc>
              <a:buNone/>
            </a:pPr>
            <a:r>
              <a:rPr lang="en-US" sz="2200" b="1" dirty="0">
                <a:solidFill>
                  <a:srgbClr val="111827"/>
                </a:solidFill>
                <a:latin typeface="Calibri" pitchFamily="34" charset="0"/>
                <a:ea typeface="Calibri" pitchFamily="34" charset="-122"/>
                <a:cs typeface="Calibri" pitchFamily="34" charset="-120"/>
              </a:rPr>
              <a:t>Quick Check: "The Water Cycle"</a:t>
            </a:r>
            <a:endParaRPr lang="en-US" sz="2200" dirty="0"/>
          </a:p>
        </p:txBody>
      </p:sp>
      <p:sp>
        <p:nvSpPr>
          <p:cNvPr id="14" name="Shape 11"/>
          <p:cNvSpPr/>
          <p:nvPr/>
        </p:nvSpPr>
        <p:spPr>
          <a:xfrm>
            <a:off x="5779008" y="1591056"/>
            <a:ext cx="308610" cy="308610"/>
          </a:xfrm>
          <a:prstGeom prst="ellipse">
            <a:avLst/>
          </a:prstGeom>
          <a:solidFill>
            <a:srgbClr val="087866"/>
          </a:solidFill>
          <a:ln w="12700">
            <a:solidFill>
              <a:srgbClr val="087866"/>
            </a:solidFill>
            <a:prstDash val="solid"/>
          </a:ln>
        </p:spPr>
      </p:sp>
      <p:sp>
        <p:nvSpPr>
          <p:cNvPr id="15" name="Text 12"/>
          <p:cNvSpPr/>
          <p:nvPr/>
        </p:nvSpPr>
        <p:spPr>
          <a:xfrm>
            <a:off x="5779008" y="1591056"/>
            <a:ext cx="308610" cy="30861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6" name="Text 13"/>
          <p:cNvSpPr/>
          <p:nvPr/>
        </p:nvSpPr>
        <p:spPr>
          <a:xfrm>
            <a:off x="6233922" y="1572768"/>
            <a:ext cx="5177790" cy="585216"/>
          </a:xfrm>
          <a:prstGeom prst="rect">
            <a:avLst/>
          </a:prstGeom>
          <a:noFill/>
          <a:ln/>
        </p:spPr>
        <p:txBody>
          <a:bodyPr wrap="square" lIns="0" tIns="0" rIns="0" bIns="0" rtlCol="0" anchor="t"/>
          <a:lstStyle/>
          <a:p>
            <a:pPr algn="l" indent="0" marL="0">
              <a:lnSpc>
                <a:spcPct val="116000"/>
              </a:lnSpc>
              <a:buNone/>
            </a:pPr>
            <a:r>
              <a:rPr lang="en-US" sz="1800" dirty="0">
                <a:solidFill>
                  <a:srgbClr val="111827"/>
                </a:solidFill>
                <a:latin typeface="Calibri" pitchFamily="34" charset="0"/>
                <a:ea typeface="Calibri" pitchFamily="34" charset="-122"/>
                <a:cs typeface="Calibri" pitchFamily="34" charset="-120"/>
              </a:rPr>
              <a:t>A short question to check your understanding before you leave today's lesson.</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Success Criteria and Self Evaluation</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14 / 15</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10866852"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941832" y="3001658"/>
            <a:ext cx="347701" cy="347701"/>
          </a:xfrm>
          <a:prstGeom prst="rect">
            <a:avLst/>
          </a:prstGeom>
          <a:solidFill>
            <a:srgbClr val="FFFFFF">
              <a:alpha val="0"/>
            </a:srgbClr>
          </a:solidFill>
          <a:ln w="12700">
            <a:solidFill>
              <a:srgbClr val="087866"/>
            </a:solidFill>
            <a:prstDash val="solid"/>
          </a:ln>
        </p:spPr>
      </p:sp>
      <p:sp>
        <p:nvSpPr>
          <p:cNvPr id="12" name="Text 9"/>
          <p:cNvSpPr/>
          <p:nvPr/>
        </p:nvSpPr>
        <p:spPr>
          <a:xfrm>
            <a:off x="1506474" y="2934335"/>
            <a:ext cx="9923526" cy="464058"/>
          </a:xfrm>
          <a:prstGeom prst="rect">
            <a:avLst/>
          </a:prstGeom>
          <a:noFill/>
          <a:ln/>
        </p:spPr>
        <p:txBody>
          <a:bodyPr wrap="square" lIns="0" tIns="0" rIns="0" bIns="0" rtlCol="0" anchor="t"/>
          <a:lstStyle/>
          <a:p>
            <a:pPr algn="l" indent="0" marL="0">
              <a:lnSpc>
                <a:spcPct val="116000"/>
              </a:lnSpc>
              <a:buNone/>
            </a:pPr>
            <a:r>
              <a:rPr lang="en-US" sz="2600" dirty="0">
                <a:solidFill>
                  <a:srgbClr val="111827"/>
                </a:solidFill>
                <a:latin typeface="Calibri" pitchFamily="34" charset="0"/>
                <a:ea typeface="Calibri" pitchFamily="34" charset="-122"/>
                <a:cs typeface="Calibri" pitchFamily="34" charset="-120"/>
              </a:rPr>
              <a:t>Success Criteria</a:t>
            </a:r>
            <a:endParaRPr lang="en-US" sz="2600" dirty="0"/>
          </a:p>
        </p:txBody>
      </p:sp>
      <p:sp>
        <p:nvSpPr>
          <p:cNvPr id="13" name="Shape 10"/>
          <p:cNvSpPr/>
          <p:nvPr/>
        </p:nvSpPr>
        <p:spPr>
          <a:xfrm>
            <a:off x="914400" y="3649853"/>
            <a:ext cx="10515600" cy="0"/>
          </a:xfrm>
          <a:prstGeom prst="line">
            <a:avLst/>
          </a:prstGeom>
          <a:noFill/>
          <a:ln w="12700">
            <a:solidFill>
              <a:srgbClr val="CFF6ED"/>
            </a:solidFill>
            <a:prstDash val="solid"/>
          </a:ln>
        </p:spPr>
      </p:sp>
      <p:sp>
        <p:nvSpPr>
          <p:cNvPr id="14" name="Shape 11"/>
          <p:cNvSpPr/>
          <p:nvPr/>
        </p:nvSpPr>
        <p:spPr>
          <a:xfrm>
            <a:off x="941832" y="3968636"/>
            <a:ext cx="347701" cy="347701"/>
          </a:xfrm>
          <a:prstGeom prst="rect">
            <a:avLst/>
          </a:prstGeom>
          <a:solidFill>
            <a:srgbClr val="FFFFFF">
              <a:alpha val="0"/>
            </a:srgbClr>
          </a:solidFill>
          <a:ln w="12700">
            <a:solidFill>
              <a:srgbClr val="087866"/>
            </a:solidFill>
            <a:prstDash val="solid"/>
          </a:ln>
        </p:spPr>
      </p:sp>
      <p:sp>
        <p:nvSpPr>
          <p:cNvPr id="15" name="Text 12"/>
          <p:cNvSpPr/>
          <p:nvPr/>
        </p:nvSpPr>
        <p:spPr>
          <a:xfrm>
            <a:off x="1506474" y="3901313"/>
            <a:ext cx="9923526" cy="845312"/>
          </a:xfrm>
          <a:prstGeom prst="rect">
            <a:avLst/>
          </a:prstGeom>
          <a:noFill/>
          <a:ln/>
        </p:spPr>
        <p:txBody>
          <a:bodyPr wrap="square" lIns="0" tIns="0" rIns="0" bIns="0" rtlCol="0" anchor="t"/>
          <a:lstStyle/>
          <a:p>
            <a:pPr algn="l" indent="0" marL="0">
              <a:lnSpc>
                <a:spcPct val="116000"/>
              </a:lnSpc>
              <a:buNone/>
            </a:pPr>
            <a:r>
              <a:rPr lang="en-US" sz="2600" dirty="0">
                <a:solidFill>
                  <a:srgbClr val="111827"/>
                </a:solidFill>
                <a:latin typeface="Calibri" pitchFamily="34" charset="0"/>
                <a:ea typeface="Calibri" pitchFamily="34" charset="-122"/>
                <a:cs typeface="Calibri" pitchFamily="34" charset="-120"/>
              </a:rPr>
              <a:t>Reflect on what you have learned about "The Water Cycle" today and rate your own confidence.</a:t>
            </a:r>
            <a:endParaRPr lang="en-US" sz="2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21792" y="347472"/>
            <a:ext cx="10948111" cy="713232"/>
          </a:xfrm>
          <a:prstGeom prst="rect">
            <a:avLst/>
          </a:prstGeom>
          <a:noFill/>
          <a:ln/>
        </p:spPr>
        <p:txBody>
          <a:bodyPr wrap="square" lIns="0" tIns="0" rIns="0" bIns="0" rtlCol="0" anchor="ctr"/>
          <a:lstStyle/>
          <a:p>
            <a:pPr algn="l" indent="0" marL="0">
              <a:lnSpc>
                <a:spcPct val="116000"/>
              </a:lnSpc>
              <a:buNone/>
            </a:pPr>
            <a:r>
              <a:rPr lang="en-US" sz="3400" b="1" dirty="0">
                <a:solidFill>
                  <a:srgbClr val="111827"/>
                </a:solidFill>
                <a:latin typeface="Calibri" pitchFamily="34" charset="0"/>
                <a:ea typeface="Calibri" pitchFamily="34" charset="-122"/>
                <a:cs typeface="Calibri" pitchFamily="34" charset="-120"/>
              </a:rPr>
              <a:t>Lesson Takeaway</a:t>
            </a:r>
            <a:endParaRPr lang="en-US" sz="3400" dirty="0"/>
          </a:p>
        </p:txBody>
      </p:sp>
      <p:sp>
        <p:nvSpPr>
          <p:cNvPr id="3" name="Shape 1"/>
          <p:cNvSpPr/>
          <p:nvPr/>
        </p:nvSpPr>
        <p:spPr>
          <a:xfrm>
            <a:off x="621792" y="1207008"/>
            <a:ext cx="10948111" cy="0"/>
          </a:xfrm>
          <a:prstGeom prst="line">
            <a:avLst/>
          </a:prstGeom>
          <a:noFill/>
          <a:ln w="12700">
            <a:solidFill>
              <a:srgbClr val="CFF6ED"/>
            </a:solidFill>
            <a:prstDash val="solid"/>
          </a:ln>
        </p:spPr>
      </p:sp>
      <p:sp>
        <p:nvSpPr>
          <p:cNvPr id="4" name="Shape 2"/>
          <p:cNvSpPr/>
          <p:nvPr/>
        </p:nvSpPr>
        <p:spPr>
          <a:xfrm>
            <a:off x="0" y="6492240"/>
            <a:ext cx="12191695" cy="365760"/>
          </a:xfrm>
          <a:prstGeom prst="rect">
            <a:avLst/>
          </a:prstGeom>
          <a:solidFill>
            <a:srgbClr val="F0FDFB"/>
          </a:solidFill>
          <a:ln w="12700">
            <a:solidFill>
              <a:srgbClr val="F0FDFB"/>
            </a:solidFill>
            <a:prstDash val="solid"/>
          </a:ln>
        </p:spPr>
      </p:sp>
      <p:sp>
        <p:nvSpPr>
          <p:cNvPr id="5" name="Shape 3"/>
          <p:cNvSpPr/>
          <p:nvPr/>
        </p:nvSpPr>
        <p:spPr>
          <a:xfrm>
            <a:off x="0" y="6492240"/>
            <a:ext cx="12191695" cy="0"/>
          </a:xfrm>
          <a:prstGeom prst="line">
            <a:avLst/>
          </a:prstGeom>
          <a:noFill/>
          <a:ln w="12700">
            <a:solidFill>
              <a:srgbClr val="A7F3E8"/>
            </a:solidFill>
            <a:prstDash val="solid"/>
          </a:ln>
        </p:spPr>
      </p:sp>
      <p:sp>
        <p:nvSpPr>
          <p:cNvPr id="6" name="Text 4"/>
          <p:cNvSpPr/>
          <p:nvPr/>
        </p:nvSpPr>
        <p:spPr>
          <a:xfrm>
            <a:off x="274320" y="6556248"/>
            <a:ext cx="4754880" cy="237744"/>
          </a:xfrm>
          <a:prstGeom prst="rect">
            <a:avLst/>
          </a:prstGeom>
          <a:noFill/>
          <a:ln/>
        </p:spPr>
        <p:txBody>
          <a:bodyPr wrap="square" rtlCol="0" anchor="ctr"/>
          <a:lstStyle/>
          <a:p>
            <a:pPr indent="0" marL="0">
              <a:buNone/>
            </a:pPr>
            <a:r>
              <a:rPr lang="en-US" sz="1200" dirty="0">
                <a:solidFill>
                  <a:srgbClr val="087866"/>
                </a:solidFill>
                <a:latin typeface="Calibri" pitchFamily="34" charset="0"/>
                <a:ea typeface="Calibri" pitchFamily="34" charset="-122"/>
                <a:cs typeface="Calibri" pitchFamily="34" charset="-120"/>
              </a:rPr>
              <a:t>Science</a:t>
            </a:r>
            <a:endParaRPr lang="en-US" sz="1200" dirty="0"/>
          </a:p>
        </p:txBody>
      </p:sp>
      <p:pic>
        <p:nvPicPr>
          <p:cNvPr id="7" name="Image 0" descr="Layah">    </p:cNvPr>
          <p:cNvPicPr>
            <a:picLocks noChangeAspect="1"/>
          </p:cNvPicPr>
          <p:nvPr/>
        </p:nvPicPr>
        <p:blipFill>
          <a:blip r:embed="rId1"/>
          <a:stretch>
            <a:fillRect/>
          </a:stretch>
        </p:blipFill>
        <p:spPr>
          <a:xfrm>
            <a:off x="5394960" y="6528816"/>
            <a:ext cx="1051560" cy="292608"/>
          </a:xfrm>
          <a:prstGeom prst="rect">
            <a:avLst/>
          </a:prstGeom>
        </p:spPr>
      </p:pic>
      <p:sp>
        <p:nvSpPr>
          <p:cNvPr id="8" name="Text 5"/>
          <p:cNvSpPr/>
          <p:nvPr/>
        </p:nvSpPr>
        <p:spPr>
          <a:xfrm>
            <a:off x="10225735" y="6556248"/>
            <a:ext cx="1691640" cy="237744"/>
          </a:xfrm>
          <a:prstGeom prst="rect">
            <a:avLst/>
          </a:prstGeom>
          <a:noFill/>
          <a:ln/>
        </p:spPr>
        <p:txBody>
          <a:bodyPr wrap="square" rtlCol="0" anchor="ctr"/>
          <a:lstStyle/>
          <a:p>
            <a:pPr algn="r" indent="0" marL="0">
              <a:buNone/>
            </a:pPr>
            <a:r>
              <a:rPr lang="en-US" sz="1200" dirty="0">
                <a:solidFill>
                  <a:srgbClr val="087866"/>
                </a:solidFill>
                <a:latin typeface="Calibri" pitchFamily="34" charset="0"/>
                <a:ea typeface="Calibri" pitchFamily="34" charset="-122"/>
                <a:cs typeface="Calibri" pitchFamily="34" charset="-120"/>
              </a:rPr>
              <a:t>15 / 15</a:t>
            </a:r>
            <a:endParaRPr lang="en-US" sz="1200" dirty="0"/>
          </a:p>
        </p:txBody>
      </p:sp>
      <p:sp>
        <p:nvSpPr>
          <p:cNvPr id="9" name="Shape 6"/>
          <p:cNvSpPr/>
          <p:nvPr/>
        </p:nvSpPr>
        <p:spPr>
          <a:xfrm>
            <a:off x="274320" y="6510528"/>
            <a:ext cx="11643055" cy="73152"/>
          </a:xfrm>
          <a:prstGeom prst="roundRect">
            <a:avLst>
              <a:gd name="adj" fmla="val 50000"/>
            </a:avLst>
          </a:prstGeom>
          <a:solidFill>
            <a:srgbClr val="CCFAF3"/>
          </a:solidFill>
          <a:ln w="12700">
            <a:solidFill>
              <a:srgbClr val="CCFAF3"/>
            </a:solidFill>
            <a:prstDash val="solid"/>
          </a:ln>
        </p:spPr>
      </p:sp>
      <p:sp>
        <p:nvSpPr>
          <p:cNvPr id="10" name="Shape 7"/>
          <p:cNvSpPr/>
          <p:nvPr/>
        </p:nvSpPr>
        <p:spPr>
          <a:xfrm>
            <a:off x="274320" y="6510528"/>
            <a:ext cx="11643055" cy="73152"/>
          </a:xfrm>
          <a:prstGeom prst="roundRect">
            <a:avLst>
              <a:gd name="adj" fmla="val 50000"/>
            </a:avLst>
          </a:prstGeom>
          <a:solidFill>
            <a:srgbClr val="0A8F7A"/>
          </a:solidFill>
          <a:ln w="12700">
            <a:solidFill>
              <a:srgbClr val="0A8F7A"/>
            </a:solidFill>
            <a:prstDash val="solid"/>
          </a:ln>
        </p:spPr>
      </p:sp>
      <p:sp>
        <p:nvSpPr>
          <p:cNvPr id="11" name="Shape 8"/>
          <p:cNvSpPr/>
          <p:nvPr/>
        </p:nvSpPr>
        <p:spPr>
          <a:xfrm>
            <a:off x="713232" y="1536192"/>
            <a:ext cx="10716768" cy="1627632"/>
          </a:xfrm>
          <a:prstGeom prst="rect">
            <a:avLst/>
          </a:prstGeom>
          <a:solidFill>
            <a:srgbClr val="ECFDF8"/>
          </a:solidFill>
          <a:ln w="12700">
            <a:solidFill>
              <a:srgbClr val="ECFDF8"/>
            </a:solidFill>
            <a:prstDash val="solid"/>
          </a:ln>
        </p:spPr>
      </p:sp>
      <p:sp>
        <p:nvSpPr>
          <p:cNvPr id="12" name="Shape 9"/>
          <p:cNvSpPr/>
          <p:nvPr/>
        </p:nvSpPr>
        <p:spPr>
          <a:xfrm>
            <a:off x="713232" y="1536192"/>
            <a:ext cx="54864" cy="1627632"/>
          </a:xfrm>
          <a:prstGeom prst="rect">
            <a:avLst/>
          </a:prstGeom>
          <a:solidFill>
            <a:srgbClr val="087866"/>
          </a:solidFill>
          <a:ln w="12700">
            <a:solidFill>
              <a:srgbClr val="087866"/>
            </a:solidFill>
            <a:prstDash val="solid"/>
          </a:ln>
        </p:spPr>
      </p:sp>
      <p:sp>
        <p:nvSpPr>
          <p:cNvPr id="13" name="Text 10"/>
          <p:cNvSpPr/>
          <p:nvPr/>
        </p:nvSpPr>
        <p:spPr>
          <a:xfrm>
            <a:off x="969264" y="1682496"/>
            <a:ext cx="10204704" cy="1335024"/>
          </a:xfrm>
          <a:prstGeom prst="rect">
            <a:avLst/>
          </a:prstGeom>
          <a:noFill/>
          <a:ln/>
        </p:spPr>
        <p:txBody>
          <a:bodyPr wrap="square" lIns="0" tIns="0" rIns="0" bIns="0" rtlCol="0" anchor="ctr"/>
          <a:lstStyle/>
          <a:p>
            <a:pPr algn="l" indent="0" marL="0">
              <a:lnSpc>
                <a:spcPct val="116000"/>
              </a:lnSpc>
              <a:buNone/>
            </a:pPr>
            <a:r>
              <a:rPr lang="en-US" sz="2200" b="1" dirty="0">
                <a:solidFill>
                  <a:srgbClr val="111827"/>
                </a:solidFill>
                <a:latin typeface="Calibri" pitchFamily="34" charset="0"/>
                <a:ea typeface="Calibri" pitchFamily="34" charset="-122"/>
                <a:cs typeface="Calibri" pitchFamily="34" charset="-120"/>
              </a:rPr>
              <a:t>Remember:</a:t>
            </a:r>
            <a:endParaRPr lang="en-US" sz="2200" dirty="0"/>
          </a:p>
        </p:txBody>
      </p:sp>
      <p:sp>
        <p:nvSpPr>
          <p:cNvPr id="14" name="Text 11"/>
          <p:cNvSpPr/>
          <p:nvPr/>
        </p:nvSpPr>
        <p:spPr>
          <a:xfrm>
            <a:off x="713232" y="3419856"/>
            <a:ext cx="107167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1. Name the key idea from the lesson.</a:t>
            </a:r>
            <a:endParaRPr lang="en-US" sz="1600" dirty="0"/>
          </a:p>
        </p:txBody>
      </p:sp>
      <p:sp>
        <p:nvSpPr>
          <p:cNvPr id="15" name="Text 12"/>
          <p:cNvSpPr/>
          <p:nvPr/>
        </p:nvSpPr>
        <p:spPr>
          <a:xfrm>
            <a:off x="713232" y="3858768"/>
            <a:ext cx="107167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2. Support your answer with an example or check.</a:t>
            </a:r>
            <a:endParaRPr lang="en-US" sz="1600" dirty="0"/>
          </a:p>
        </p:txBody>
      </p:sp>
      <p:sp>
        <p:nvSpPr>
          <p:cNvPr id="16" name="Text 13"/>
          <p:cNvSpPr/>
          <p:nvPr/>
        </p:nvSpPr>
        <p:spPr>
          <a:xfrm>
            <a:off x="713232" y="4297680"/>
            <a:ext cx="107167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3. Ask one question that would deepen your understanding.</a:t>
            </a:r>
            <a:endParaRPr lang="en-US" sz="1600" dirty="0"/>
          </a:p>
        </p:txBody>
      </p:sp>
      <p:sp>
        <p:nvSpPr>
          <p:cNvPr id="17" name="Text 14"/>
          <p:cNvSpPr/>
          <p:nvPr/>
        </p:nvSpPr>
        <p:spPr>
          <a:xfrm>
            <a:off x="713232" y="4736592"/>
            <a:ext cx="10716768" cy="310896"/>
          </a:xfrm>
          <a:prstGeom prst="rect">
            <a:avLst/>
          </a:prstGeom>
          <a:noFill/>
          <a:ln/>
        </p:spPr>
        <p:txBody>
          <a:bodyPr wrap="square" lIns="0" tIns="0" rIns="0" bIns="0" rtlCol="0" anchor="t"/>
          <a:lstStyle/>
          <a:p>
            <a:pPr algn="l" indent="0" marL="0">
              <a:lnSpc>
                <a:spcPct val="116000"/>
              </a:lnSpc>
              <a:buNone/>
            </a:pPr>
            <a:r>
              <a:rPr lang="en-US" sz="1600" dirty="0">
                <a:solidFill>
                  <a:srgbClr val="111827"/>
                </a:solidFill>
                <a:latin typeface="Calibri" pitchFamily="34" charset="0"/>
                <a:ea typeface="Calibri" pitchFamily="34" charset="-122"/>
                <a:cs typeface="Calibri" pitchFamily="34" charset="-120"/>
              </a:rPr>
              <a:t>Reflect: What is your next step for improvement?</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Layah.ai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Slides — The Water Cycle</dc:title>
  <dc:subject>Science — The Water Cycle</dc:subject>
  <dc:creator>Layah.ai</dc:creator>
  <cp:lastModifiedBy>Layah.ai</cp:lastModifiedBy>
  <cp:revision>1</cp:revision>
  <dcterms:created xsi:type="dcterms:W3CDTF">2026-10-21T04:18:13Z</dcterms:created>
  <dcterms:modified xsi:type="dcterms:W3CDTF">2026-10-21T04:18:13Z</dcterms:modified>
</cp:coreProperties>
</file>