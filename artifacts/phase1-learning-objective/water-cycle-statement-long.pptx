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Tuesday, 20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0F8B8D"/>
          </a:solidFill>
          <a:ln w="12700">
            <a:solidFill>
              <a:srgbClr val="333333">
                <a:alpha val="0"/>
              </a:srgbClr>
            </a:solidFill>
            <a:prstDash val="solid"/>
          </a:ln>
        </p:spPr>
      </p:sp>
      <p:sp>
        <p:nvSpPr>
          <p:cNvPr id="3" name="Shape 1"/>
          <p:cNvSpPr/>
          <p:nvPr/>
        </p:nvSpPr>
        <p:spPr>
          <a:xfrm>
            <a:off x="9802368" y="0"/>
            <a:ext cx="2389327" cy="6858000"/>
          </a:xfrm>
          <a:prstGeom prst="rect">
            <a:avLst/>
          </a:prstGeom>
          <a:solidFill>
            <a:srgbClr val="102A43"/>
          </a:solidFill>
          <a:ln w="12700">
            <a:solidFill>
              <a:srgbClr val="333333">
                <a:alpha val="0"/>
              </a:srgbClr>
            </a:solidFill>
            <a:prstDash val="solid"/>
          </a:ln>
        </p:spPr>
      </p:sp>
      <p:sp>
        <p:nvSpPr>
          <p:cNvPr id="4" name="Shape 2"/>
          <p:cNvSpPr/>
          <p:nvPr/>
        </p:nvSpPr>
        <p:spPr>
          <a:xfrm>
            <a:off x="841248" y="1709928"/>
            <a:ext cx="749808" cy="0"/>
          </a:xfrm>
          <a:prstGeom prst="line">
            <a:avLst/>
          </a:prstGeom>
          <a:noFill/>
          <a:ln w="12700">
            <a:solidFill>
              <a:srgbClr val="0F8B8D"/>
            </a:solidFill>
            <a:prstDash val="solid"/>
          </a:ln>
        </p:spPr>
      </p:sp>
      <p:sp>
        <p:nvSpPr>
          <p:cNvPr id="5" name="Text 3"/>
          <p:cNvSpPr/>
          <p:nvPr/>
        </p:nvSpPr>
        <p:spPr>
          <a:xfrm>
            <a:off x="841227" y="1419606"/>
            <a:ext cx="8168436" cy="377190"/>
          </a:xfrm>
          <a:prstGeom prst="rect">
            <a:avLst/>
          </a:prstGeom>
          <a:noFill/>
          <a:ln/>
        </p:spPr>
        <p:txBody>
          <a:bodyPr wrap="square" lIns="0" tIns="0" rIns="0" bIns="0" rtlCol="0" anchor="ctr">
            <a:normAutofit/>
          </a:bodyPr>
          <a:lstStyle/>
          <a:p>
            <a:pPr indent="0" marL="0">
              <a:buNone/>
            </a:pPr>
            <a:r>
              <a:rPr lang="en-US" sz="1400" b="1" spc="220" kern="0" dirty="0">
                <a:solidFill>
                  <a:srgbClr val="0F8B8D"/>
                </a:solidFill>
                <a:latin typeface="Poppins" pitchFamily="34" charset="0"/>
                <a:ea typeface="Poppins" pitchFamily="34" charset="-122"/>
                <a:cs typeface="Poppins" pitchFamily="34" charset="-120"/>
              </a:rPr>
              <a:t>LEARNING OBJECTIVES</a:t>
            </a:r>
            <a:endParaRPr lang="en-US" sz="1400" dirty="0"/>
          </a:p>
        </p:txBody>
      </p:sp>
      <p:sp>
        <p:nvSpPr>
          <p:cNvPr id="6" name="Text 4"/>
          <p:cNvSpPr/>
          <p:nvPr/>
        </p:nvSpPr>
        <p:spPr>
          <a:xfrm>
            <a:off x="841227" y="1954530"/>
            <a:ext cx="8363503" cy="3223260"/>
          </a:xfrm>
          <a:prstGeom prst="rect">
            <a:avLst/>
          </a:prstGeom>
          <a:noFill/>
          <a:ln/>
        </p:spPr>
        <p:txBody>
          <a:bodyPr wrap="square" lIns="0" tIns="0" rIns="0" bIns="0" rtlCol="0" anchor="ctr">
            <a:normAutofit/>
          </a:bodyPr>
          <a:lstStyle/>
          <a:p>
            <a:pPr indent="0" marL="0">
              <a:buNone/>
            </a:pPr>
            <a:r>
              <a:rPr lang="en-US" sz="2900" b="1" dirty="0">
                <a:solidFill>
                  <a:srgbClr val="102A43"/>
                </a:solidFill>
                <a:latin typeface="Poppins" pitchFamily="34" charset="0"/>
                <a:ea typeface="Poppins" pitchFamily="34" charset="-122"/>
                <a:cs typeface="Poppins" pitchFamily="34" charset="-120"/>
              </a:rPr>
              <a:t>Compare evaporation and condensation, explain how particle movement and energy change during each process, and use observations from a classroom investigation to justify where both changes occur within the water cycle.</a:t>
            </a:r>
            <a:endParaRPr lang="en-US" sz="2900" dirty="0"/>
          </a:p>
        </p:txBody>
      </p:sp>
      <p:sp>
        <p:nvSpPr>
          <p:cNvPr id="7" name="Text 5"/>
          <p:cNvSpPr/>
          <p:nvPr/>
        </p:nvSpPr>
        <p:spPr>
          <a:xfrm>
            <a:off x="10378440" y="658368"/>
            <a:ext cx="960120" cy="502920"/>
          </a:xfrm>
          <a:prstGeom prst="rect">
            <a:avLst/>
          </a:prstGeom>
          <a:noFill/>
          <a:ln/>
        </p:spPr>
        <p:txBody>
          <a:bodyPr wrap="square" lIns="0" tIns="0" rIns="0" bIns="0" rtlCol="0" anchor="ctr">
            <a:normAutofit/>
          </a:bodyPr>
          <a:lstStyle/>
          <a:p>
            <a:pPr algn="ctr" indent="0" marL="0">
              <a:buNone/>
            </a:pPr>
            <a:r>
              <a:rPr lang="en-US" sz="1600" b="1" dirty="0">
                <a:solidFill>
                  <a:srgbClr val="BEE9E8"/>
                </a:solidFill>
                <a:latin typeface="Poppins" pitchFamily="34" charset="0"/>
                <a:ea typeface="Poppins" pitchFamily="34" charset="-122"/>
                <a:cs typeface="Poppins" pitchFamily="34" charset="-120"/>
              </a:rPr>
              <a:t>01</a:t>
            </a:r>
            <a:endParaRPr lang="en-US" sz="1600" dirty="0"/>
          </a:p>
        </p:txBody>
      </p:sp>
      <p:sp>
        <p:nvSpPr>
          <p:cNvPr id="8" name="Shape 6"/>
          <p:cNvSpPr/>
          <p:nvPr/>
        </p:nvSpPr>
        <p:spPr>
          <a:xfrm>
            <a:off x="10332720" y="1234440"/>
            <a:ext cx="1051560" cy="0"/>
          </a:xfrm>
          <a:prstGeom prst="line">
            <a:avLst/>
          </a:prstGeom>
          <a:noFill/>
          <a:ln w="12700">
            <a:solidFill>
              <a:srgbClr val="0F8B8D"/>
            </a:solidFill>
            <a:prstDash val="solid"/>
          </a:ln>
        </p:spPr>
      </p:sp>
      <p:sp>
        <p:nvSpPr>
          <p:cNvPr id="9" name="Text 7"/>
          <p:cNvSpPr/>
          <p:nvPr/>
        </p:nvSpPr>
        <p:spPr>
          <a:xfrm>
            <a:off x="10259568" y="4901184"/>
            <a:ext cx="1207008" cy="8229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Poppins" pitchFamily="34" charset="0"/>
                <a:ea typeface="Poppins" pitchFamily="34" charset="-122"/>
                <a:cs typeface="Poppins" pitchFamily="34" charset="-120"/>
              </a:rPr>
              <a:t>TODAY</a:t>
            </a:r>
            <a:endParaRPr lang="en-US" sz="1200" dirty="0"/>
          </a:p>
          <a:p>
            <a:pPr algn="ctr" indent="0" marL="0">
              <a:buNone/>
            </a:pPr>
            <a:r>
              <a:rPr lang="en-US" sz="1200" b="1" dirty="0">
                <a:solidFill>
                  <a:srgbClr val="FFFFFF"/>
                </a:solidFill>
                <a:latin typeface="Poppins" pitchFamily="34" charset="0"/>
                <a:ea typeface="Poppins" pitchFamily="34" charset="-122"/>
                <a:cs typeface="Poppins" pitchFamily="34" charset="-120"/>
              </a:rPr>
              <a:t>WE WILL</a:t>
            </a:r>
            <a:endParaRPr lang="en-US" sz="1200" dirty="0"/>
          </a:p>
        </p:txBody>
      </p:sp>
      <p:sp>
        <p:nvSpPr>
          <p:cNvPr id="10" name="Shape 8"/>
          <p:cNvSpPr/>
          <p:nvPr/>
        </p:nvSpPr>
        <p:spPr>
          <a:xfrm>
            <a:off x="10643616" y="5907024"/>
            <a:ext cx="438912" cy="438912"/>
          </a:xfrm>
          <a:prstGeom prst="ellipse">
            <a:avLst/>
          </a:prstGeom>
          <a:solidFill>
            <a:srgbClr val="102A43">
              <a:alpha val="0"/>
            </a:srgbClr>
          </a:solidFill>
          <a:ln w="12700">
            <a:solidFill>
              <a:srgbClr val="BEE9E8"/>
            </a:solidFill>
            <a:prstDash val="solid"/>
          </a:ln>
        </p:spPr>
      </p:sp>
      <p:sp>
        <p:nvSpPr>
          <p:cNvPr id="11" name="Shape 9"/>
          <p:cNvSpPr/>
          <p:nvPr/>
        </p:nvSpPr>
        <p:spPr>
          <a:xfrm>
            <a:off x="10771632" y="6035040"/>
            <a:ext cx="182880" cy="182880"/>
          </a:xfrm>
          <a:prstGeom prst="ellipse">
            <a:avLst/>
          </a:prstGeom>
          <a:solidFill>
            <a:srgbClr val="0F8B8D"/>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2026-10-20T17:03:01Z</dcterms:created>
  <dcterms:modified xsi:type="dcterms:W3CDTF">2026-10-20T17:03:01Z</dcterms:modified>
</cp:coreProperties>
</file>