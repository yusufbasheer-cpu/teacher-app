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Shape 3"/>
          <p:cNvSpPr/>
          <p:nvPr/>
        </p:nvSpPr>
        <p:spPr>
          <a:xfrm>
            <a:off x="0" y="6492240"/>
            <a:ext cx="12191695" cy="365760"/>
          </a:xfrm>
          <a:prstGeom prst="rect">
            <a:avLst/>
          </a:prstGeom>
          <a:solidFill>
            <a:srgbClr val="F0FDFB"/>
          </a:solidFill>
          <a:ln w="12700">
            <a:solidFill>
              <a:srgbClr val="F0FDFB"/>
            </a:solidFill>
            <a:prstDash val="solid"/>
          </a:ln>
        </p:spPr>
      </p:sp>
      <p:sp>
        <p:nvSpPr>
          <p:cNvPr id="6" name="Shape 4"/>
          <p:cNvSpPr/>
          <p:nvPr/>
        </p:nvSpPr>
        <p:spPr>
          <a:xfrm>
            <a:off x="0" y="6492240"/>
            <a:ext cx="12191695" cy="0"/>
          </a:xfrm>
          <a:prstGeom prst="line">
            <a:avLst/>
          </a:prstGeom>
          <a:noFill/>
          <a:ln w="12700">
            <a:solidFill>
              <a:srgbClr val="A7F3E8"/>
            </a:solidFill>
            <a:prstDash val="solid"/>
          </a:ln>
        </p:spPr>
      </p:sp>
      <p:sp>
        <p:nvSpPr>
          <p:cNvPr id="7" name="Text 5"/>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8"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9" name="Text 6"/>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16</a:t>
            </a:r>
            <a:endParaRPr lang="en-US" sz="1200" dirty="0"/>
          </a:p>
        </p:txBody>
      </p:sp>
      <p:sp>
        <p:nvSpPr>
          <p:cNvPr id="10" name="Shape 7"/>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1" name="Shape 8"/>
          <p:cNvSpPr/>
          <p:nvPr/>
        </p:nvSpPr>
        <p:spPr>
          <a:xfrm>
            <a:off x="274320" y="6510528"/>
            <a:ext cx="727691"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45538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Predict and justify</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1072896"/>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Study a sealed cup containing warm water and ice above it. Predict where droplets will form and explain why using the words evaporation and condensation.</a:t>
            </a:r>
            <a:endParaRPr lang="en-US" sz="2200" dirty="0"/>
          </a:p>
        </p:txBody>
      </p:sp>
      <p:sp>
        <p:nvSpPr>
          <p:cNvPr id="17" name="Shape 14"/>
          <p:cNvSpPr/>
          <p:nvPr/>
        </p:nvSpPr>
        <p:spPr>
          <a:xfrm>
            <a:off x="749808" y="3973830"/>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97383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955542"/>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Compare your prediction with a partner, then revise one sentence after observing the cup for two minutes.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18307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Earth systems</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6 — Clean Water and Sanitation: understanding how water moves and changes state helps explain why freshwater is limited, how it is renewed, and why protecting clean water stores matters.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91076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6384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136915"/>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069592"/>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identify evaporation, condensation, precipitation and collection in a water-cycle model.</a:t>
            </a:r>
            <a:endParaRPr lang="en-US" sz="2600" dirty="0"/>
          </a:p>
        </p:txBody>
      </p:sp>
      <p:sp>
        <p:nvSpPr>
          <p:cNvPr id="13" name="Shape 10"/>
          <p:cNvSpPr/>
          <p:nvPr/>
        </p:nvSpPr>
        <p:spPr>
          <a:xfrm>
            <a:off x="914400" y="3166364"/>
            <a:ext cx="10515600" cy="0"/>
          </a:xfrm>
          <a:prstGeom prst="line">
            <a:avLst/>
          </a:prstGeom>
          <a:noFill/>
          <a:ln w="12700">
            <a:solidFill>
              <a:srgbClr val="CFF6ED"/>
            </a:solidFill>
            <a:prstDash val="solid"/>
          </a:ln>
        </p:spPr>
      </p:sp>
      <p:sp>
        <p:nvSpPr>
          <p:cNvPr id="14" name="Shape 11"/>
          <p:cNvSpPr/>
          <p:nvPr/>
        </p:nvSpPr>
        <p:spPr>
          <a:xfrm>
            <a:off x="941832" y="3485147"/>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417824"/>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explain each change using energy and particle movement.</a:t>
            </a:r>
            <a:endParaRPr lang="en-US" sz="2600" dirty="0"/>
          </a:p>
        </p:txBody>
      </p:sp>
      <p:sp>
        <p:nvSpPr>
          <p:cNvPr id="16" name="Shape 13"/>
          <p:cNvSpPr/>
          <p:nvPr/>
        </p:nvSpPr>
        <p:spPr>
          <a:xfrm>
            <a:off x="914400" y="4514596"/>
            <a:ext cx="10515600" cy="0"/>
          </a:xfrm>
          <a:prstGeom prst="line">
            <a:avLst/>
          </a:prstGeom>
          <a:noFill/>
          <a:ln w="12700">
            <a:solidFill>
              <a:srgbClr val="CFF6ED"/>
            </a:solidFill>
            <a:prstDash val="solid"/>
          </a:ln>
        </p:spPr>
      </p:sp>
      <p:sp>
        <p:nvSpPr>
          <p:cNvPr id="17" name="Shape 14"/>
          <p:cNvSpPr/>
          <p:nvPr/>
        </p:nvSpPr>
        <p:spPr>
          <a:xfrm>
            <a:off x="941832" y="4833379"/>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766056"/>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use evidence from a diagram to predict how heating changes the rate of evaporation.</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36614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Evaporation: energy from the Sun gives surface-water particles enough energy to escape as water vapour.</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Condensation: rising air cools; water-vapour particles lose energy, move closer together and form tiny liquid droplets in clouds.</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Precipitation: droplets or ice crystals grow until gravity pulls them to Earth. Water then collects in rivers, lakes, oceans and groundwater before the cycle repeats.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Apply it: trace one water particle from the ocean to a cloud and back to land, naming the process at each change.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0938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Higher Achievers task</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Predict how a 5 °C temperature rise could change evaporation and rainfall.</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Give two linked scientific reasons.</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Middle Achievers task</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Label the four processes, then explain evaporation and condensation using particles.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Lower Achievers task</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Order the process cards.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Complete: particles gain energy during evaporation and lose energy during condensation.</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Mini Plenary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100" b="1" dirty="0">
                <a:solidFill>
                  <a:srgbClr val="111827"/>
                </a:solidFill>
                <a:latin typeface="Calibri" pitchFamily="34" charset="0"/>
                <a:ea typeface="Calibri" pitchFamily="34" charset="-122"/>
                <a:cs typeface="Calibri" pitchFamily="34" charset="-120"/>
              </a:rPr>
              <a:t>Differentiated Activity and Mini Plenary — Continued</a:t>
            </a:r>
            <a:endParaRPr lang="en-US" sz="31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82152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Why can a cloud form even though water vapour is invisible?</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54921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connection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A cold bathroom mirror collects droplets because warm water vapour cools and condenses on the glass. Meteorologists use the same change of state when explaining cloud formation and rainfall.</a:t>
            </a:r>
            <a:endParaRPr lang="en-US" sz="1600" dirty="0"/>
          </a:p>
        </p:txBody>
      </p:sp>
      <p:sp>
        <p:nvSpPr>
          <p:cNvPr id="15" name="Text 12"/>
          <p:cNvSpPr/>
          <p:nvPr/>
        </p:nvSpPr>
        <p:spPr>
          <a:xfrm>
            <a:off x="713232" y="4068064"/>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a:t>
            </a:r>
            <a:endParaRPr lang="en-US" sz="1600" dirty="0"/>
          </a:p>
        </p:txBody>
      </p:sp>
      <p:sp>
        <p:nvSpPr>
          <p:cNvPr id="16" name="Text 13"/>
          <p:cNvSpPr/>
          <p:nvPr/>
        </p:nvSpPr>
        <p:spPr>
          <a:xfrm>
            <a:off x="713232" y="450697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 Geography, compare rainfall and water availability in two climates, then explain the pattern using evaporation and condensation.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27691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Water-particle challenge</a:t>
            </a:r>
            <a:endParaRPr lang="en-US" sz="2200" dirty="0"/>
          </a:p>
        </p:txBody>
      </p:sp>
      <p:sp>
        <p:nvSpPr>
          <p:cNvPr id="14" name="Shape 11"/>
          <p:cNvSpPr/>
          <p:nvPr/>
        </p:nvSpPr>
        <p:spPr>
          <a:xfrm>
            <a:off x="877824" y="2225675"/>
            <a:ext cx="10515600" cy="0"/>
          </a:xfrm>
          <a:prstGeom prst="line">
            <a:avLst/>
          </a:prstGeom>
          <a:noFill/>
          <a:ln w="12700">
            <a:solidFill>
              <a:srgbClr val="CFF6ED"/>
            </a:solidFill>
            <a:prstDash val="solid"/>
          </a:ln>
        </p:spPr>
      </p:sp>
      <p:sp>
        <p:nvSpPr>
          <p:cNvPr id="15" name="Shape 12"/>
          <p:cNvSpPr/>
          <p:nvPr/>
        </p:nvSpPr>
        <p:spPr>
          <a:xfrm>
            <a:off x="877824" y="2409952"/>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40995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91664"/>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18" name="Shape 15"/>
          <p:cNvSpPr/>
          <p:nvPr/>
        </p:nvSpPr>
        <p:spPr>
          <a:xfrm>
            <a:off x="877824" y="2953131"/>
            <a:ext cx="10515600" cy="0"/>
          </a:xfrm>
          <a:prstGeom prst="line">
            <a:avLst/>
          </a:prstGeom>
          <a:noFill/>
          <a:ln w="12700">
            <a:solidFill>
              <a:srgbClr val="CFF6ED"/>
            </a:solidFill>
            <a:prstDash val="solid"/>
          </a:ln>
        </p:spPr>
      </p:sp>
      <p:sp>
        <p:nvSpPr>
          <p:cNvPr id="19" name="Shape 16"/>
          <p:cNvSpPr/>
          <p:nvPr/>
        </p:nvSpPr>
        <p:spPr>
          <a:xfrm>
            <a:off x="877824" y="3137408"/>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13740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3119120"/>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Draw one particle’s route: ocean → atmosphere → cloud → river.</a:t>
            </a:r>
            <a:endParaRPr lang="en-US" sz="2200" dirty="0"/>
          </a:p>
        </p:txBody>
      </p:sp>
      <p:sp>
        <p:nvSpPr>
          <p:cNvPr id="22" name="Shape 19"/>
          <p:cNvSpPr/>
          <p:nvPr/>
        </p:nvSpPr>
        <p:spPr>
          <a:xfrm>
            <a:off x="877824" y="3680587"/>
            <a:ext cx="10515600" cy="0"/>
          </a:xfrm>
          <a:prstGeom prst="line">
            <a:avLst/>
          </a:prstGeom>
          <a:noFill/>
          <a:ln w="12700">
            <a:solidFill>
              <a:srgbClr val="CFF6ED"/>
            </a:solidFill>
            <a:prstDash val="solid"/>
          </a:ln>
        </p:spPr>
      </p:sp>
      <p:sp>
        <p:nvSpPr>
          <p:cNvPr id="23" name="Shape 20"/>
          <p:cNvSpPr/>
          <p:nvPr/>
        </p:nvSpPr>
        <p:spPr>
          <a:xfrm>
            <a:off x="877824" y="3864864"/>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86486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84657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26" name="Shape 23"/>
          <p:cNvSpPr/>
          <p:nvPr/>
        </p:nvSpPr>
        <p:spPr>
          <a:xfrm>
            <a:off x="877824" y="4408043"/>
            <a:ext cx="10515600" cy="0"/>
          </a:xfrm>
          <a:prstGeom prst="line">
            <a:avLst/>
          </a:prstGeom>
          <a:noFill/>
          <a:ln w="12700">
            <a:solidFill>
              <a:srgbClr val="CFF6ED"/>
            </a:solidFill>
            <a:prstDash val="solid"/>
          </a:ln>
        </p:spPr>
      </p:sp>
      <p:sp>
        <p:nvSpPr>
          <p:cNvPr id="27" name="Shape 24"/>
          <p:cNvSpPr/>
          <p:nvPr/>
        </p:nvSpPr>
        <p:spPr>
          <a:xfrm>
            <a:off x="877824" y="4592320"/>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59232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574032"/>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Label each change and state whether the particle gains or loses energy.</a:t>
            </a:r>
            <a:endParaRPr lang="en-US" sz="2200" dirty="0"/>
          </a:p>
        </p:txBody>
      </p:sp>
      <p:sp>
        <p:nvSpPr>
          <p:cNvPr id="30" name="Shape 27"/>
          <p:cNvSpPr/>
          <p:nvPr/>
        </p:nvSpPr>
        <p:spPr>
          <a:xfrm>
            <a:off x="877824" y="5455285"/>
            <a:ext cx="10515600" cy="0"/>
          </a:xfrm>
          <a:prstGeom prst="line">
            <a:avLst/>
          </a:prstGeom>
          <a:noFill/>
          <a:ln w="12700">
            <a:solidFill>
              <a:srgbClr val="CFF6ED"/>
            </a:solidFill>
            <a:prstDash val="solid"/>
          </a:ln>
        </p:spPr>
      </p:sp>
      <p:sp>
        <p:nvSpPr>
          <p:cNvPr id="31" name="Shape 28"/>
          <p:cNvSpPr/>
          <p:nvPr/>
        </p:nvSpPr>
        <p:spPr>
          <a:xfrm>
            <a:off x="877824" y="5639562"/>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63956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621274"/>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3.</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00460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Swap diagrams; check every arrow against the objective.</a:t>
            </a:r>
            <a:endParaRPr lang="en-US" sz="2800" dirty="0"/>
          </a:p>
        </p:txBody>
      </p:sp>
      <p:sp>
        <p:nvSpPr>
          <p:cNvPr id="14" name="Shape 11"/>
          <p:cNvSpPr/>
          <p:nvPr/>
        </p:nvSpPr>
        <p:spPr>
          <a:xfrm>
            <a:off x="877824" y="2838027"/>
            <a:ext cx="10515600" cy="0"/>
          </a:xfrm>
          <a:prstGeom prst="line">
            <a:avLst/>
          </a:prstGeom>
          <a:noFill/>
          <a:ln w="12700">
            <a:solidFill>
              <a:srgbClr val="CFF6ED"/>
            </a:solidFill>
            <a:prstDash val="solid"/>
          </a:ln>
        </p:spPr>
      </p:sp>
      <p:sp>
        <p:nvSpPr>
          <p:cNvPr id="15" name="Shape 12"/>
          <p:cNvSpPr/>
          <p:nvPr/>
        </p:nvSpPr>
        <p:spPr>
          <a:xfrm>
            <a:off x="877824" y="311979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311979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310150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4.</a:t>
            </a:r>
            <a:endParaRPr lang="en-US" sz="2800" dirty="0"/>
          </a:p>
        </p:txBody>
      </p:sp>
      <p:sp>
        <p:nvSpPr>
          <p:cNvPr id="18" name="Shape 15"/>
          <p:cNvSpPr/>
          <p:nvPr/>
        </p:nvSpPr>
        <p:spPr>
          <a:xfrm>
            <a:off x="877824" y="3840480"/>
            <a:ext cx="10515600" cy="0"/>
          </a:xfrm>
          <a:prstGeom prst="line">
            <a:avLst/>
          </a:prstGeom>
          <a:noFill/>
          <a:ln w="12700">
            <a:solidFill>
              <a:srgbClr val="CFF6ED"/>
            </a:solidFill>
            <a:prstDash val="solid"/>
          </a:ln>
        </p:spPr>
      </p:sp>
      <p:sp>
        <p:nvSpPr>
          <p:cNvPr id="19" name="Shape 16"/>
          <p:cNvSpPr/>
          <p:nvPr/>
        </p:nvSpPr>
        <p:spPr>
          <a:xfrm>
            <a:off x="877824" y="4122251"/>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4122251"/>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4103963"/>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Improve one explanation using particle movement.</a:t>
            </a:r>
            <a:endParaRPr lang="en-US" sz="2800" dirty="0"/>
          </a:p>
        </p:txBody>
      </p:sp>
      <p:sp>
        <p:nvSpPr>
          <p:cNvPr id="22" name="Shape 19"/>
          <p:cNvSpPr/>
          <p:nvPr/>
        </p:nvSpPr>
        <p:spPr>
          <a:xfrm>
            <a:off x="877824" y="4842933"/>
            <a:ext cx="10515600" cy="0"/>
          </a:xfrm>
          <a:prstGeom prst="line">
            <a:avLst/>
          </a:prstGeom>
          <a:noFill/>
          <a:ln w="12700">
            <a:solidFill>
              <a:srgbClr val="CFF6ED"/>
            </a:solidFill>
            <a:prstDash val="solid"/>
          </a:ln>
        </p:spPr>
      </p:sp>
      <p:sp>
        <p:nvSpPr>
          <p:cNvPr id="23" name="Shape 20"/>
          <p:cNvSpPr/>
          <p:nvPr/>
        </p:nvSpPr>
        <p:spPr>
          <a:xfrm>
            <a:off x="877824" y="5124704"/>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51247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5106416"/>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Final check: why is this a cycle rather than a one-way path?</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73229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08610" cy="308610"/>
          </a:xfrm>
          <a:prstGeom prst="ellipse">
            <a:avLst/>
          </a:prstGeom>
          <a:solidFill>
            <a:srgbClr val="087866"/>
          </a:solidFill>
          <a:ln w="12700">
            <a:solidFill>
              <a:srgbClr val="087866"/>
            </a:solidFill>
            <a:prstDash val="solid"/>
          </a:ln>
        </p:spPr>
      </p:sp>
      <p:sp>
        <p:nvSpPr>
          <p:cNvPr id="12" name="Text 9"/>
          <p:cNvSpPr/>
          <p:nvPr/>
        </p:nvSpPr>
        <p:spPr>
          <a:xfrm>
            <a:off x="7498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0"/>
          <p:cNvSpPr/>
          <p:nvPr/>
        </p:nvSpPr>
        <p:spPr>
          <a:xfrm>
            <a:off x="1204722" y="1572768"/>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Mini water-cycle investigation</a:t>
            </a:r>
            <a:endParaRPr lang="en-US" sz="1800" dirty="0"/>
          </a:p>
        </p:txBody>
      </p:sp>
      <p:sp>
        <p:nvSpPr>
          <p:cNvPr id="14" name="Shape 11"/>
          <p:cNvSpPr/>
          <p:nvPr/>
        </p:nvSpPr>
        <p:spPr>
          <a:xfrm>
            <a:off x="749808" y="2105692"/>
            <a:ext cx="308610" cy="308610"/>
          </a:xfrm>
          <a:prstGeom prst="ellipse">
            <a:avLst/>
          </a:prstGeom>
          <a:solidFill>
            <a:srgbClr val="087866"/>
          </a:solidFill>
          <a:ln w="12700">
            <a:solidFill>
              <a:srgbClr val="087866"/>
            </a:solidFill>
            <a:prstDash val="solid"/>
          </a:ln>
        </p:spPr>
      </p:sp>
      <p:sp>
        <p:nvSpPr>
          <p:cNvPr id="15" name="Text 12"/>
          <p:cNvSpPr/>
          <p:nvPr/>
        </p:nvSpPr>
        <p:spPr>
          <a:xfrm>
            <a:off x="749808" y="2105692"/>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p:nvPr/>
        </p:nvSpPr>
        <p:spPr>
          <a:xfrm>
            <a:off x="1204722" y="2087404"/>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1.</a:t>
            </a:r>
            <a:endParaRPr lang="en-US" sz="1800" dirty="0"/>
          </a:p>
        </p:txBody>
      </p:sp>
      <p:sp>
        <p:nvSpPr>
          <p:cNvPr id="17" name="Shape 14"/>
          <p:cNvSpPr/>
          <p:nvPr/>
        </p:nvSpPr>
        <p:spPr>
          <a:xfrm>
            <a:off x="749808" y="2620328"/>
            <a:ext cx="308610" cy="308610"/>
          </a:xfrm>
          <a:prstGeom prst="ellipse">
            <a:avLst/>
          </a:prstGeom>
          <a:solidFill>
            <a:srgbClr val="087866"/>
          </a:solidFill>
          <a:ln w="12700">
            <a:solidFill>
              <a:srgbClr val="087866"/>
            </a:solidFill>
            <a:prstDash val="solid"/>
          </a:ln>
        </p:spPr>
      </p:sp>
      <p:sp>
        <p:nvSpPr>
          <p:cNvPr id="18" name="Text 15"/>
          <p:cNvSpPr/>
          <p:nvPr/>
        </p:nvSpPr>
        <p:spPr>
          <a:xfrm>
            <a:off x="749808" y="2620328"/>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p:nvPr/>
        </p:nvSpPr>
        <p:spPr>
          <a:xfrm>
            <a:off x="1204722" y="2602040"/>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Cover warm water in a clear container with film; place ice above one side.</a:t>
            </a:r>
            <a:endParaRPr lang="en-US" sz="1800" dirty="0"/>
          </a:p>
        </p:txBody>
      </p:sp>
      <p:sp>
        <p:nvSpPr>
          <p:cNvPr id="20" name="Shape 17"/>
          <p:cNvSpPr/>
          <p:nvPr/>
        </p:nvSpPr>
        <p:spPr>
          <a:xfrm>
            <a:off x="749808" y="3134963"/>
            <a:ext cx="308610" cy="308610"/>
          </a:xfrm>
          <a:prstGeom prst="ellipse">
            <a:avLst/>
          </a:prstGeom>
          <a:solidFill>
            <a:srgbClr val="087866"/>
          </a:solidFill>
          <a:ln w="12700">
            <a:solidFill>
              <a:srgbClr val="087866"/>
            </a:solidFill>
            <a:prstDash val="solid"/>
          </a:ln>
        </p:spPr>
      </p:sp>
      <p:sp>
        <p:nvSpPr>
          <p:cNvPr id="21" name="Text 18"/>
          <p:cNvSpPr/>
          <p:nvPr/>
        </p:nvSpPr>
        <p:spPr>
          <a:xfrm>
            <a:off x="749808" y="3134963"/>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19"/>
          <p:cNvSpPr/>
          <p:nvPr/>
        </p:nvSpPr>
        <p:spPr>
          <a:xfrm>
            <a:off x="1204722" y="3116675"/>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2.</a:t>
            </a:r>
            <a:endParaRPr lang="en-US" sz="1800" dirty="0"/>
          </a:p>
        </p:txBody>
      </p:sp>
      <p:sp>
        <p:nvSpPr>
          <p:cNvPr id="23" name="Shape 20"/>
          <p:cNvSpPr/>
          <p:nvPr/>
        </p:nvSpPr>
        <p:spPr>
          <a:xfrm>
            <a:off x="749808" y="3649599"/>
            <a:ext cx="308610" cy="308610"/>
          </a:xfrm>
          <a:prstGeom prst="ellipse">
            <a:avLst/>
          </a:prstGeom>
          <a:solidFill>
            <a:srgbClr val="087866"/>
          </a:solidFill>
          <a:ln w="12700">
            <a:solidFill>
              <a:srgbClr val="087866"/>
            </a:solidFill>
            <a:prstDash val="solid"/>
          </a:ln>
        </p:spPr>
      </p:sp>
      <p:sp>
        <p:nvSpPr>
          <p:cNvPr id="24" name="Text 21"/>
          <p:cNvSpPr/>
          <p:nvPr/>
        </p:nvSpPr>
        <p:spPr>
          <a:xfrm>
            <a:off x="749808" y="3649599"/>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p:nvPr/>
        </p:nvSpPr>
        <p:spPr>
          <a:xfrm>
            <a:off x="1204722" y="3631311"/>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Predict where droplets will appear.</a:t>
            </a:r>
            <a:endParaRPr lang="en-US" sz="1800" dirty="0"/>
          </a:p>
        </p:txBody>
      </p:sp>
      <p:sp>
        <p:nvSpPr>
          <p:cNvPr id="26" name="Shape 23"/>
          <p:cNvSpPr/>
          <p:nvPr/>
        </p:nvSpPr>
        <p:spPr>
          <a:xfrm>
            <a:off x="749808" y="4164235"/>
            <a:ext cx="308610" cy="308610"/>
          </a:xfrm>
          <a:prstGeom prst="ellipse">
            <a:avLst/>
          </a:prstGeom>
          <a:solidFill>
            <a:srgbClr val="087866"/>
          </a:solidFill>
          <a:ln w="12700">
            <a:solidFill>
              <a:srgbClr val="087866"/>
            </a:solidFill>
            <a:prstDash val="solid"/>
          </a:ln>
        </p:spPr>
      </p:sp>
      <p:sp>
        <p:nvSpPr>
          <p:cNvPr id="27" name="Text 24"/>
          <p:cNvSpPr/>
          <p:nvPr/>
        </p:nvSpPr>
        <p:spPr>
          <a:xfrm>
            <a:off x="749808" y="4164235"/>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5"/>
          <p:cNvSpPr/>
          <p:nvPr/>
        </p:nvSpPr>
        <p:spPr>
          <a:xfrm>
            <a:off x="1204722" y="4145947"/>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3.</a:t>
            </a:r>
            <a:endParaRPr lang="en-US" sz="1800" dirty="0"/>
          </a:p>
        </p:txBody>
      </p:sp>
      <p:sp>
        <p:nvSpPr>
          <p:cNvPr id="29" name="Shape 26"/>
          <p:cNvSpPr/>
          <p:nvPr/>
        </p:nvSpPr>
        <p:spPr>
          <a:xfrm>
            <a:off x="749808" y="4678871"/>
            <a:ext cx="308610" cy="308610"/>
          </a:xfrm>
          <a:prstGeom prst="ellipse">
            <a:avLst/>
          </a:prstGeom>
          <a:solidFill>
            <a:srgbClr val="087866"/>
          </a:solidFill>
          <a:ln w="12700">
            <a:solidFill>
              <a:srgbClr val="087866"/>
            </a:solidFill>
            <a:prstDash val="solid"/>
          </a:ln>
        </p:spPr>
      </p:sp>
      <p:sp>
        <p:nvSpPr>
          <p:cNvPr id="30" name="Text 27"/>
          <p:cNvSpPr/>
          <p:nvPr/>
        </p:nvSpPr>
        <p:spPr>
          <a:xfrm>
            <a:off x="749808" y="4678871"/>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8"/>
          <p:cNvSpPr/>
          <p:nvPr/>
        </p:nvSpPr>
        <p:spPr>
          <a:xfrm>
            <a:off x="1204722" y="4660583"/>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Record observations every two minutes for ten minutes.</a:t>
            </a:r>
            <a:endParaRPr lang="en-US" sz="1800" dirty="0"/>
          </a:p>
        </p:txBody>
      </p:sp>
      <p:sp>
        <p:nvSpPr>
          <p:cNvPr id="32" name="Shape 29"/>
          <p:cNvSpPr/>
          <p:nvPr/>
        </p:nvSpPr>
        <p:spPr>
          <a:xfrm>
            <a:off x="749808" y="5193506"/>
            <a:ext cx="308610" cy="308610"/>
          </a:xfrm>
          <a:prstGeom prst="ellipse">
            <a:avLst/>
          </a:prstGeom>
          <a:solidFill>
            <a:srgbClr val="087866"/>
          </a:solidFill>
          <a:ln w="12700">
            <a:solidFill>
              <a:srgbClr val="087866"/>
            </a:solidFill>
            <a:prstDash val="solid"/>
          </a:ln>
        </p:spPr>
      </p:sp>
      <p:sp>
        <p:nvSpPr>
          <p:cNvPr id="33" name="Text 30"/>
          <p:cNvSpPr/>
          <p:nvPr/>
        </p:nvSpPr>
        <p:spPr>
          <a:xfrm>
            <a:off x="749808" y="519350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4" name="Text 31"/>
          <p:cNvSpPr/>
          <p:nvPr/>
        </p:nvSpPr>
        <p:spPr>
          <a:xfrm>
            <a:off x="1204722" y="5175218"/>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4.</a:t>
            </a:r>
            <a:endParaRPr lang="en-US" sz="1800" dirty="0"/>
          </a:p>
        </p:txBody>
      </p:sp>
      <p:sp>
        <p:nvSpPr>
          <p:cNvPr id="35" name="Shape 32"/>
          <p:cNvSpPr/>
          <p:nvPr/>
        </p:nvSpPr>
        <p:spPr>
          <a:xfrm>
            <a:off x="749808" y="5708142"/>
            <a:ext cx="308610" cy="308610"/>
          </a:xfrm>
          <a:prstGeom prst="ellipse">
            <a:avLst/>
          </a:prstGeom>
          <a:solidFill>
            <a:srgbClr val="087866"/>
          </a:solidFill>
          <a:ln w="12700">
            <a:solidFill>
              <a:srgbClr val="087866"/>
            </a:solidFill>
            <a:prstDash val="solid"/>
          </a:ln>
        </p:spPr>
      </p:sp>
      <p:sp>
        <p:nvSpPr>
          <p:cNvPr id="36" name="Text 33"/>
          <p:cNvSpPr/>
          <p:nvPr/>
        </p:nvSpPr>
        <p:spPr>
          <a:xfrm>
            <a:off x="749808" y="5708142"/>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7" name="Text 34"/>
          <p:cNvSpPr/>
          <p:nvPr/>
        </p:nvSpPr>
        <p:spPr>
          <a:xfrm>
            <a:off x="1204722" y="5689854"/>
            <a:ext cx="10243566" cy="326898"/>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Submit a labelled diagram and 120-word particle explanation next lesson.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45998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identify one limitation and improve the method.</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18767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1. What change of state turns liquid water into water vapour?</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877824"/>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2. Explain why droplets form on the outside of a cold bottle using particle movement.</a:t>
            </a:r>
            <a:endParaRPr lang="en-US" sz="1800" dirty="0"/>
          </a:p>
        </p:txBody>
      </p:sp>
      <p:sp>
        <p:nvSpPr>
          <p:cNvPr id="17" name="Shape 14"/>
          <p:cNvSpPr/>
          <p:nvPr/>
        </p:nvSpPr>
        <p:spPr>
          <a:xfrm>
            <a:off x="5779008" y="2670048"/>
            <a:ext cx="308610" cy="308610"/>
          </a:xfrm>
          <a:prstGeom prst="ellipse">
            <a:avLst/>
          </a:prstGeom>
          <a:solidFill>
            <a:srgbClr val="087866"/>
          </a:solidFill>
          <a:ln w="12700">
            <a:solidFill>
              <a:srgbClr val="087866"/>
            </a:solidFill>
            <a:prstDash val="solid"/>
          </a:ln>
        </p:spPr>
      </p:sp>
      <p:sp>
        <p:nvSpPr>
          <p:cNvPr id="18" name="Text 15"/>
          <p:cNvSpPr/>
          <p:nvPr/>
        </p:nvSpPr>
        <p:spPr>
          <a:xfrm>
            <a:off x="5779008" y="2670048"/>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6"/>
          <p:cNvSpPr/>
          <p:nvPr/>
        </p:nvSpPr>
        <p:spPr>
          <a:xfrm>
            <a:off x="6233922" y="2651760"/>
            <a:ext cx="5177790" cy="877824"/>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3. Predict one effect of stronger solar heating on the water cycle and justify your answer.</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91536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1723987"/>
            <a:ext cx="294208" cy="294208"/>
          </a:xfrm>
          <a:prstGeom prst="rect">
            <a:avLst/>
          </a:prstGeom>
          <a:solidFill>
            <a:srgbClr val="FFFFFF">
              <a:alpha val="0"/>
            </a:srgbClr>
          </a:solidFill>
          <a:ln w="12700">
            <a:solidFill>
              <a:srgbClr val="087866"/>
            </a:solidFill>
            <a:prstDash val="solid"/>
          </a:ln>
        </p:spPr>
      </p:sp>
      <p:sp>
        <p:nvSpPr>
          <p:cNvPr id="12" name="Text 9"/>
          <p:cNvSpPr/>
          <p:nvPr/>
        </p:nvSpPr>
        <p:spPr>
          <a:xfrm>
            <a:off x="1437894" y="166420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I can label evaporation, condensation, precipitation and collection on an unfamiliar diagram.</a:t>
            </a:r>
            <a:endParaRPr lang="en-US" sz="2200" dirty="0"/>
          </a:p>
        </p:txBody>
      </p:sp>
      <p:sp>
        <p:nvSpPr>
          <p:cNvPr id="13" name="Shape 10"/>
          <p:cNvSpPr/>
          <p:nvPr/>
        </p:nvSpPr>
        <p:spPr>
          <a:xfrm>
            <a:off x="914400" y="2516473"/>
            <a:ext cx="10515600" cy="0"/>
          </a:xfrm>
          <a:prstGeom prst="line">
            <a:avLst/>
          </a:prstGeom>
          <a:noFill/>
          <a:ln w="12700">
            <a:solidFill>
              <a:srgbClr val="CFF6ED"/>
            </a:solidFill>
            <a:prstDash val="solid"/>
          </a:ln>
        </p:spPr>
      </p:sp>
      <p:sp>
        <p:nvSpPr>
          <p:cNvPr id="14" name="Shape 11"/>
          <p:cNvSpPr/>
          <p:nvPr/>
        </p:nvSpPr>
        <p:spPr>
          <a:xfrm>
            <a:off x="941832" y="2713253"/>
            <a:ext cx="294208" cy="294208"/>
          </a:xfrm>
          <a:prstGeom prst="rect">
            <a:avLst/>
          </a:prstGeom>
          <a:solidFill>
            <a:srgbClr val="FFFFFF">
              <a:alpha val="0"/>
            </a:srgbClr>
          </a:solidFill>
          <a:ln w="12700">
            <a:solidFill>
              <a:srgbClr val="087866"/>
            </a:solidFill>
            <a:prstDash val="solid"/>
          </a:ln>
        </p:spPr>
      </p:sp>
      <p:sp>
        <p:nvSpPr>
          <p:cNvPr id="15" name="Text 12"/>
          <p:cNvSpPr/>
          <p:nvPr/>
        </p:nvSpPr>
        <p:spPr>
          <a:xfrm>
            <a:off x="1437894" y="2653475"/>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I can explain evaporation and condensation using energy and particles.</a:t>
            </a:r>
            <a:endParaRPr lang="en-US" sz="2200" dirty="0"/>
          </a:p>
        </p:txBody>
      </p:sp>
      <p:sp>
        <p:nvSpPr>
          <p:cNvPr id="16" name="Shape 13"/>
          <p:cNvSpPr/>
          <p:nvPr/>
        </p:nvSpPr>
        <p:spPr>
          <a:xfrm>
            <a:off x="914400" y="3505740"/>
            <a:ext cx="10515600" cy="0"/>
          </a:xfrm>
          <a:prstGeom prst="line">
            <a:avLst/>
          </a:prstGeom>
          <a:noFill/>
          <a:ln w="12700">
            <a:solidFill>
              <a:srgbClr val="CFF6ED"/>
            </a:solidFill>
            <a:prstDash val="solid"/>
          </a:ln>
        </p:spPr>
      </p:sp>
      <p:sp>
        <p:nvSpPr>
          <p:cNvPr id="17" name="Shape 14"/>
          <p:cNvSpPr/>
          <p:nvPr/>
        </p:nvSpPr>
        <p:spPr>
          <a:xfrm>
            <a:off x="941832" y="3702520"/>
            <a:ext cx="294208" cy="294208"/>
          </a:xfrm>
          <a:prstGeom prst="rect">
            <a:avLst/>
          </a:prstGeom>
          <a:solidFill>
            <a:srgbClr val="FFFFFF">
              <a:alpha val="0"/>
            </a:srgbClr>
          </a:solidFill>
          <a:ln w="12700">
            <a:solidFill>
              <a:srgbClr val="087866"/>
            </a:solidFill>
            <a:prstDash val="solid"/>
          </a:ln>
        </p:spPr>
      </p:sp>
      <p:sp>
        <p:nvSpPr>
          <p:cNvPr id="18" name="Text 15"/>
          <p:cNvSpPr/>
          <p:nvPr/>
        </p:nvSpPr>
        <p:spPr>
          <a:xfrm>
            <a:off x="1437894" y="3642741"/>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I can trace water through four stages without creating or losing water.</a:t>
            </a:r>
            <a:endParaRPr lang="en-US" sz="2200" dirty="0"/>
          </a:p>
        </p:txBody>
      </p:sp>
      <p:sp>
        <p:nvSpPr>
          <p:cNvPr id="19" name="Shape 16"/>
          <p:cNvSpPr/>
          <p:nvPr/>
        </p:nvSpPr>
        <p:spPr>
          <a:xfrm>
            <a:off x="914400" y="4495006"/>
            <a:ext cx="10515600" cy="0"/>
          </a:xfrm>
          <a:prstGeom prst="line">
            <a:avLst/>
          </a:prstGeom>
          <a:noFill/>
          <a:ln w="12700">
            <a:solidFill>
              <a:srgbClr val="CFF6ED"/>
            </a:solidFill>
            <a:prstDash val="solid"/>
          </a:ln>
        </p:spPr>
      </p:sp>
      <p:sp>
        <p:nvSpPr>
          <p:cNvPr id="20" name="Shape 17"/>
          <p:cNvSpPr/>
          <p:nvPr/>
        </p:nvSpPr>
        <p:spPr>
          <a:xfrm>
            <a:off x="941832" y="4691786"/>
            <a:ext cx="294208" cy="294208"/>
          </a:xfrm>
          <a:prstGeom prst="rect">
            <a:avLst/>
          </a:prstGeom>
          <a:solidFill>
            <a:srgbClr val="FFFFFF">
              <a:alpha val="0"/>
            </a:srgbClr>
          </a:solidFill>
          <a:ln w="12700">
            <a:solidFill>
              <a:srgbClr val="087866"/>
            </a:solidFill>
            <a:prstDash val="solid"/>
          </a:ln>
        </p:spPr>
      </p:sp>
      <p:sp>
        <p:nvSpPr>
          <p:cNvPr id="21" name="Text 18"/>
          <p:cNvSpPr/>
          <p:nvPr/>
        </p:nvSpPr>
        <p:spPr>
          <a:xfrm>
            <a:off x="1437894" y="46320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I can use evidence to predict how temperature affects evaporation.</a:t>
            </a:r>
            <a:endParaRPr lang="en-US" sz="2200" dirty="0"/>
          </a:p>
        </p:txBody>
      </p:sp>
      <p:sp>
        <p:nvSpPr>
          <p:cNvPr id="22" name="Shape 19"/>
          <p:cNvSpPr/>
          <p:nvPr/>
        </p:nvSpPr>
        <p:spPr>
          <a:xfrm>
            <a:off x="914400" y="5164487"/>
            <a:ext cx="10515600" cy="0"/>
          </a:xfrm>
          <a:prstGeom prst="line">
            <a:avLst/>
          </a:prstGeom>
          <a:noFill/>
          <a:ln w="12700">
            <a:solidFill>
              <a:srgbClr val="CFF6ED"/>
            </a:solidFill>
            <a:prstDash val="solid"/>
          </a:ln>
        </p:spPr>
      </p:sp>
      <p:sp>
        <p:nvSpPr>
          <p:cNvPr id="23" name="Shape 20"/>
          <p:cNvSpPr/>
          <p:nvPr/>
        </p:nvSpPr>
        <p:spPr>
          <a:xfrm>
            <a:off x="941832" y="5361267"/>
            <a:ext cx="294208" cy="294208"/>
          </a:xfrm>
          <a:prstGeom prst="rect">
            <a:avLst/>
          </a:prstGeom>
          <a:solidFill>
            <a:srgbClr val="FFFFFF">
              <a:alpha val="0"/>
            </a:srgbClr>
          </a:solidFill>
          <a:ln w="12700">
            <a:solidFill>
              <a:srgbClr val="087866"/>
            </a:solidFill>
            <a:prstDash val="solid"/>
          </a:ln>
        </p:spPr>
      </p:sp>
      <p:sp>
        <p:nvSpPr>
          <p:cNvPr id="24" name="Text 21"/>
          <p:cNvSpPr/>
          <p:nvPr/>
        </p:nvSpPr>
        <p:spPr>
          <a:xfrm>
            <a:off x="1437894"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Self-check: cite evidence for one criterion and select one to improve.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16 / 16</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Key takeaway</a:t>
            </a:r>
            <a:endParaRPr lang="en-US" sz="2800" dirty="0"/>
          </a:p>
        </p:txBody>
      </p:sp>
      <p:sp>
        <p:nvSpPr>
          <p:cNvPr id="14" name="Shape 11"/>
          <p:cNvSpPr/>
          <p:nvPr/>
        </p:nvSpPr>
        <p:spPr>
          <a:xfrm>
            <a:off x="877824" y="2426208"/>
            <a:ext cx="10515600" cy="0"/>
          </a:xfrm>
          <a:prstGeom prst="line">
            <a:avLst/>
          </a:prstGeom>
          <a:noFill/>
          <a:ln w="12700">
            <a:solidFill>
              <a:srgbClr val="CFF6ED"/>
            </a:solidFill>
            <a:prstDash val="solid"/>
          </a:ln>
        </p:spPr>
      </p:sp>
      <p:sp>
        <p:nvSpPr>
          <p:cNvPr id="15" name="Shape 12"/>
          <p:cNvSpPr/>
          <p:nvPr/>
        </p:nvSpPr>
        <p:spPr>
          <a:xfrm>
            <a:off x="877824" y="2731008"/>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73100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712720"/>
            <a:ext cx="9912096" cy="1820672"/>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Water continually moves between stores because energy drives evaporation, cooling causes condensation, gravity produces precipitation, and water collects before cycling again.</a:t>
            </a:r>
            <a:endParaRPr lang="en-US" sz="2800" dirty="0"/>
          </a:p>
        </p:txBody>
      </p:sp>
      <p:sp>
        <p:nvSpPr>
          <p:cNvPr id="18" name="Shape 15"/>
          <p:cNvSpPr/>
          <p:nvPr/>
        </p:nvSpPr>
        <p:spPr>
          <a:xfrm>
            <a:off x="877824" y="4819904"/>
            <a:ext cx="10515600" cy="0"/>
          </a:xfrm>
          <a:prstGeom prst="line">
            <a:avLst/>
          </a:prstGeom>
          <a:noFill/>
          <a:ln w="12700">
            <a:solidFill>
              <a:srgbClr val="CFF6ED"/>
            </a:solidFill>
            <a:prstDash val="solid"/>
          </a:ln>
        </p:spPr>
      </p:sp>
      <p:sp>
        <p:nvSpPr>
          <p:cNvPr id="19" name="Shape 16"/>
          <p:cNvSpPr/>
          <p:nvPr/>
        </p:nvSpPr>
        <p:spPr>
          <a:xfrm>
            <a:off x="877824" y="5124704"/>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51247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5106416"/>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Before you leave, state one piece of evidence that shows you met today’s objective.</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2026-10-21T09:47:12Z</dcterms:created>
  <dcterms:modified xsi:type="dcterms:W3CDTF">2026-10-21T09:47:12Z</dcterms:modified>
</cp:coreProperties>
</file>