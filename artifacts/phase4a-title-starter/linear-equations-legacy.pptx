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Welcome the class; keep this slide limited to subject, grade, and date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5–10 minutes
Teacher focus: Incomplete starter content for "Linear Equations". Regenerate this lesson to create a topic-specific student question and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 minutes
Teacher focus: Incomplete SDG connection for "Linear Equations". Regenerate this lesson to identify and explain a relevant Sustainable Development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Display the teacher's form objectives verbatim — no AI edits or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 minutes
Teacher focus: Incomplete learning outcomes for "Linear Equations". Regenerate this lesson to create measurable, objective-aligned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25–35 minutes
Teacher focus: Incomplete core teaching for "Linear Equations". Regenerate this lesson before presenting or downloading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10–12 minutes
Teacher focus: Differentiated Tasks: "Linear Equations" Higher Achievers — a challenging task extending beyond the objective. Middle Achievers — a standard task matching the objective. Lower Achievers — a scaffolded task with sentence starters or guided prompts. Mini Plenary: one quick question to check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4–6 minutes
Teacher focus: Slide 8 — one link only (cross-curricular). No UAE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8–10 minutes
Teacher focus: Think-Pair-Share Activity — "Linear Equations" Students review and consolidate their learning. 1. Think (2 min): Write down the 3 most important things you learned about "Linear Equations" today. 2. Pair (2 min): Compare your key points with a partner — what did you both include? What was different? 3. Share (2 min): 2-3 pairs share their most important insight with the class. Teacher: Ask students to connect their insights back to today's learning objectives about "Linear Equations".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set expectations only
Teacher focus: Research Task: "Linear Equations" 1. Choose one aspect of "Linear Equations" that interested you most from today's lesson. 2. Research it further using textbooks, reliable websites, or other sources. 3. Write a one-page summary of your findings in your own words. 4. Include one diagram, image, or real-world example that helps explain your chosen aspect. 5. Be ready to share your most interesting discovery at the start of the next lesson. Challenge: How does "Linear Equations" connect to daily life or a career that interests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exit ticket for "Linear Equations". Regenerate this lesson to create two or three assessment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3–4 minutes
Teacher focus: Incomplete success criteria for "Linear Equations". Regenerate this lesson to create measurable criteria and self-evaluation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timing: 1 minute
Teacher focus: Close with a concise learning takeaway and one reflective next-step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08760"/>
            <a:ext cx="6400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Equations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3675888"/>
            <a:ext cx="3474720" cy="0"/>
          </a:xfrm>
          <a:prstGeom prst="line">
            <a:avLst/>
          </a:prstGeom>
          <a:noFill/>
          <a:ln w="12700">
            <a:solidFill>
              <a:srgbClr val="0878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8862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 ·  Year 8  ·  Linear Equations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1609344"/>
            <a:ext cx="4114800" cy="4251960"/>
          </a:xfrm>
          <a:prstGeom prst="roundRect">
            <a:avLst>
              <a:gd name="adj" fmla="val 2667"/>
            </a:avLst>
          </a:prstGeom>
          <a:solidFill>
            <a:srgbClr val="F2FEFB"/>
          </a:solidFill>
          <a:ln w="12700">
            <a:solidFill>
              <a:srgbClr val="CFF6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846E">
                <a:alpha val="20000"/>
              </a:srgbClr>
            </a:outerShdw>
          </a:effectLst>
        </p:spPr>
      </p:sp>
      <p:pic>
        <p:nvPicPr>
          <p:cNvPr id="6" name="Image 0" descr="Lesson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423987"/>
            <a:ext cx="3931920" cy="2622674"/>
          </a:xfrm>
          <a:prstGeom prst="rect">
            <a:avLst/>
          </a:prstGeom>
          <a:effectLst>
            <a:outerShdw sx="100000" sy="100000" kx="0" ky="0" algn="bl" rotWithShape="0" blurRad="60960" dist="25400" dir="5400000">
              <a:srgbClr val="00846E">
                <a:alpha val="14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10" name="Image 1" descr="Laya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6510528"/>
            <a:ext cx="895620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Activity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79123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59105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5910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73302" y="1572768"/>
            <a:ext cx="62887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prompt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" y="244373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44373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73302" y="2425446"/>
            <a:ext cx="6288786" cy="1430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equations on the board. Which operation should be undone first in 3x + 5 = 20? Record your choice and reason, then compare it with a partner.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818120" y="1572768"/>
            <a:ext cx="0" cy="4443984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65008" y="1572768"/>
            <a:ext cx="3383280" cy="4443984"/>
          </a:xfrm>
          <a:prstGeom prst="roundRect">
            <a:avLst>
              <a:gd name="adj" fmla="val 3243"/>
            </a:avLst>
          </a:prstGeom>
          <a:solidFill>
            <a:srgbClr val="F2FEFB"/>
          </a:solidFill>
          <a:ln w="12700">
            <a:solidFill>
              <a:srgbClr val="CFF6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846E">
                <a:alpha val="20000"/>
              </a:srgbClr>
            </a:outerShdw>
          </a:effectLst>
        </p:spPr>
      </p:sp>
      <p:pic>
        <p:nvPicPr>
          <p:cNvPr id="19" name="Image 1" descr="Activity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2727393"/>
            <a:ext cx="3200400" cy="2134735"/>
          </a:xfrm>
          <a:prstGeom prst="rect">
            <a:avLst/>
          </a:prstGeom>
          <a:effectLst>
            <a:outerShdw sx="100000" sy="100000" kx="0" ky="0" algn="bl" rotWithShape="0" blurRad="60960" dist="25400" dir="5400000">
              <a:srgbClr val="00846E">
                <a:alpha val="14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Chapter, Topic and SDG Goal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268685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Chapter: Subject foundations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Linear Equations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" y="3858768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4 - Quality Education: learning to reason with evidence supports informed decisions and further study.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3582479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3417824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447809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708796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641473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identify the key knowledge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356991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675774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608451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explain a relationship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323969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642752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575429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apply the method to an unfamiliar example.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Phase Core Teaching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5373718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equation stays balanced when the same operation is applied to both sides. For 3x + 5 = 20, subtract 5 from both sides, then divide both sides by 3. Substitution confirms that x = 5 because 3(5) + 5 = 20.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Activity and Mini 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626933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159105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159105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73302" y="1572768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Achievers task: Evaluate an unfamiliar Linear Equations example and justify your conclusion.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49808" y="276352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" y="276352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73302" y="2745232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Achievers task: Apply the taught method and show evidence for each step.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749808" y="393598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93598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73302" y="3917696"/>
            <a:ext cx="10174986" cy="71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Achievers task: Complete the scaffolded example using the supplied prompts.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49808" y="5108448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5108448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73302" y="5090160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Plenary: Explain the most important idea to a partner.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 and Cross Curricular Connection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716495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536192"/>
            <a:ext cx="10716768" cy="1627632"/>
          </a:xfrm>
          <a:prstGeom prst="rect">
            <a:avLst/>
          </a:prstGeom>
          <a:solidFill>
            <a:srgbClr val="ECFDF8"/>
          </a:solidFill>
          <a:ln w="12700">
            <a:solidFill>
              <a:srgbClr val="ECFD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536192"/>
            <a:ext cx="54864" cy="1627632"/>
          </a:xfrm>
          <a:prstGeom prst="rect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682496"/>
            <a:ext cx="102047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Cross-curricular connection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3419856"/>
            <a:ext cx="10716768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precise written reasoning to explain Linear Equations. Identify the evidence, connect it to your conclusion, and check that another reader can follow the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060577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157276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77824" y="2352040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35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481328" y="2333752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claim about Linear Equations.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77824" y="322072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7824" y="365048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7824" y="3650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481328" y="363220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evidence from today's example.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877824" y="451916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" y="494893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7824" y="4948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481328" y="493064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responses and identify one missing reasoning step.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Task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895619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1335024"/>
            <a:ext cx="10680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investigation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9808" y="1865376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186537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73302" y="1847088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unfamiliar Linear Equations example.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49808" y="2718054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2718054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73302" y="2699766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method and record every step.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49808" y="3570732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570732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73302" y="3552444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result in 120 words.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808" y="4423410"/>
            <a:ext cx="377190" cy="37719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23410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273302" y="4405122"/>
            <a:ext cx="10174986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completed response to the next lesson.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985181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518169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450846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x + 7 = 19.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316636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48514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41782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4x - 3 = 17 and show each inverse operation.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413334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45212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384802"/>
            <a:ext cx="9923526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x = 6 solve 2x + 5 = 19? Prove your answer by substitution.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and Self Evaluation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0747436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2225307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6474" y="2157984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the key information in Linear Equations.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914400" y="2873502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1832" y="3192285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06474" y="3124962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method using evidence.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914400" y="3840480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832" y="4159263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06474" y="4091940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apply the method to an unfamiliar example.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914400" y="480745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1832" y="5126241"/>
            <a:ext cx="347701" cy="3477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06474" y="5058918"/>
            <a:ext cx="992352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justify and check my conclusion.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94811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Takeaway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21792" y="1207008"/>
            <a:ext cx="10948111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DFB"/>
          </a:solidFill>
          <a:ln w="12700">
            <a:solidFill>
              <a:srgbClr val="F0FD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91695" cy="0"/>
          </a:xfrm>
          <a:prstGeom prst="line">
            <a:avLst/>
          </a:prstGeom>
          <a:noFill/>
          <a:ln w="12700">
            <a:solidFill>
              <a:srgbClr val="A7F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5624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200" dirty="0"/>
          </a:p>
        </p:txBody>
      </p:sp>
      <p:pic>
        <p:nvPicPr>
          <p:cNvPr id="7" name="Image 0" descr="Laya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528816"/>
            <a:ext cx="1051560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25735" y="655624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CCFAF3"/>
          </a:solidFill>
          <a:ln w="12700">
            <a:solidFill>
              <a:srgbClr val="CCF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6510528"/>
            <a:ext cx="11643055" cy="73152"/>
          </a:xfrm>
          <a:prstGeom prst="roundRect">
            <a:avLst>
              <a:gd name="adj" fmla="val 50000"/>
            </a:avLst>
          </a:prstGeom>
          <a:solidFill>
            <a:srgbClr val="0A8F7A"/>
          </a:solidFill>
          <a:ln w="12700">
            <a:solidFill>
              <a:srgbClr val="0A8F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887728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1887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481328" y="1869440"/>
            <a:ext cx="9912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77824" y="2756408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3186176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3186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481328" y="3167888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one-step and two-step linear equations and verify each solution by substitution.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7824" y="4489704"/>
            <a:ext cx="10515600" cy="0"/>
          </a:xfrm>
          <a:prstGeom prst="line">
            <a:avLst/>
          </a:prstGeom>
          <a:noFill/>
          <a:ln w="12700">
            <a:solidFill>
              <a:srgbClr val="CFF6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" y="4919472"/>
            <a:ext cx="457200" cy="457200"/>
          </a:xfrm>
          <a:prstGeom prst="ellipse">
            <a:avLst/>
          </a:prstGeom>
          <a:solidFill>
            <a:srgbClr val="087866"/>
          </a:solidFill>
          <a:ln w="12700">
            <a:solidFill>
              <a:srgbClr val="0878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481328" y="4901184"/>
            <a:ext cx="9912096" cy="910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leave, cite one piece of evidence that demonstrates your progress.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Layah.ai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— Linear Equations</dc:title>
  <dc:subject>Mathematics — Linear Equations</dc:subject>
  <dc:creator>Layah.ai</dc:creator>
  <cp:lastModifiedBy>Layah.ai</cp:lastModifiedBy>
  <cp:revision>1</cp:revision>
  <dcterms:created xsi:type="dcterms:W3CDTF">2026-10-21T10:40:55Z</dcterms:created>
  <dcterms:modified xsi:type="dcterms:W3CDTF">2026-10-21T10:40:55Z</dcterms:modified>
</cp:coreProperties>
</file>