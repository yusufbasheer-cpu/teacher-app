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Incomplete starter content for "The Industrial Revolution". Regenerate this lesson to create a topic-specific student question and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Incomplete SDG connection for "The Industrial Revolution". Regenerate this lesson to identify and explain a relevant Sustainable Development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Incomplete learning outcomes for "The Industrial Revolution". Regenerate this lesson to create measurable, objective-aligned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Incomplete core teaching for "The Industrial Revolution". Regenerate this lesson before presenting or downloading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Industrial Revolution"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Industrial Revolution" Students review and consolidate their learning. 1. Think (2 min): Write down the 3 most important things you learned about "The Industrial Revolution" today. 2. Pair (2 min): Compare your key points with a partner — what did you both include? What was different? 3. Share (2 min): 2-3 pairs share their most important insight with the class. Teacher: Ask students to connect their insights back to today's learning objectives about "The Industrial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Industrial Revolution" 1. Choose one aspect of "The Industrial Revolution"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Industrial Revolution"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Incomplete exit ticket for "The Industrial Revolution". Regenerate this lesson to create two or three assessment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Incomplete success criteria for "The Industrial Revolution". Regenerate this lesson to create measurable criteria and self-evaluation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903720" cy="6858000"/>
          </a:xfrm>
          <a:prstGeom prst="rect">
            <a:avLst/>
          </a:prstGeom>
          <a:solidFill>
            <a:srgbClr val="102A43"/>
          </a:solidFill>
          <a:ln w="12700">
            <a:solidFill>
              <a:srgbClr val="333333">
                <a:alpha val="0"/>
              </a:srgbClr>
            </a:solidFill>
            <a:prstDash val="solid"/>
          </a:ln>
        </p:spPr>
      </p:sp>
      <p:sp>
        <p:nvSpPr>
          <p:cNvPr id="3" name="Shape 1"/>
          <p:cNvSpPr/>
          <p:nvPr/>
        </p:nvSpPr>
        <p:spPr>
          <a:xfrm>
            <a:off x="6729984" y="0"/>
            <a:ext cx="182880" cy="6858000"/>
          </a:xfrm>
          <a:prstGeom prst="rect">
            <a:avLst/>
          </a:prstGeom>
          <a:solidFill>
            <a:srgbClr val="0F8B8D"/>
          </a:solidFill>
          <a:ln w="12700">
            <a:solidFill>
              <a:srgbClr val="333333">
                <a:alpha val="0"/>
              </a:srgbClr>
            </a:solidFill>
            <a:prstDash val="solid"/>
          </a:ln>
        </p:spPr>
      </p:sp>
      <p:sp>
        <p:nvSpPr>
          <p:cNvPr id="4" name="Shape 2"/>
          <p:cNvSpPr/>
          <p:nvPr/>
        </p:nvSpPr>
        <p:spPr>
          <a:xfrm>
            <a:off x="6876288" y="1225296"/>
            <a:ext cx="4992624" cy="3968496"/>
          </a:xfrm>
          <a:prstGeom prst="roundRect">
            <a:avLst>
              <a:gd name="adj" fmla="val 2765"/>
            </a:avLst>
          </a:prstGeom>
          <a:solidFill>
            <a:srgbClr val="F2FEFB"/>
          </a:solidFill>
          <a:ln w="12700">
            <a:solidFill>
              <a:srgbClr val="CFF6ED"/>
            </a:solidFill>
            <a:prstDash val="solid"/>
          </a:ln>
          <a:effectLst>
            <a:outerShdw sx="100000" sy="100000" kx="0" ky="0" algn="bl" rotWithShape="0" blurRad="101600" dist="38100" dir="5400000">
              <a:srgbClr val="00846E">
                <a:alpha val="20000"/>
              </a:srgbClr>
            </a:outerShdw>
          </a:effectLst>
        </p:spPr>
      </p:sp>
      <p:pic>
        <p:nvPicPr>
          <p:cNvPr id="5" name="Image 0" descr="The Industrial Revolution lesson image">    </p:cNvPr>
          <p:cNvPicPr>
            <a:picLocks noChangeAspect="1"/>
          </p:cNvPicPr>
          <p:nvPr/>
        </p:nvPicPr>
        <p:blipFill>
          <a:blip r:embed="rId1"/>
          <a:stretch>
            <a:fillRect/>
          </a:stretch>
        </p:blipFill>
        <p:spPr>
          <a:xfrm>
            <a:off x="6967728" y="1605443"/>
            <a:ext cx="4809744" cy="3208202"/>
          </a:xfrm>
          <a:prstGeom prst="rect">
            <a:avLst/>
          </a:prstGeom>
          <a:effectLst>
            <a:outerShdw sx="100000" sy="100000" kx="0" ky="0" algn="bl" rotWithShape="0" blurRad="60960" dist="25400" dir="5400000">
              <a:srgbClr val="00846E">
                <a:alpha val="14000"/>
              </a:srgbClr>
            </a:outerShdw>
          </a:effectLst>
        </p:spPr>
      </p:pic>
      <p:sp>
        <p:nvSpPr>
          <p:cNvPr id="6" name="Text 3"/>
          <p:cNvSpPr/>
          <p:nvPr/>
        </p:nvSpPr>
        <p:spPr>
          <a:xfrm>
            <a:off x="731520" y="713232"/>
            <a:ext cx="5394960" cy="347472"/>
          </a:xfrm>
          <a:prstGeom prst="rect">
            <a:avLst/>
          </a:prstGeom>
          <a:noFill/>
          <a:ln/>
        </p:spPr>
        <p:txBody>
          <a:bodyPr wrap="square" lIns="0" tIns="0" rIns="0" bIns="0" rtlCol="0" anchor="ctr">
            <a:normAutofit/>
          </a:bodyPr>
          <a:lstStyle/>
          <a:p>
            <a:pPr indent="0" marL="0">
              <a:buNone/>
            </a:pPr>
            <a:r>
              <a:rPr lang="en-US" sz="1300" b="1" spc="180" kern="0" dirty="0">
                <a:solidFill>
                  <a:srgbClr val="BEE9E8"/>
                </a:solidFill>
                <a:latin typeface="Poppins" pitchFamily="34" charset="0"/>
                <a:ea typeface="Poppins" pitchFamily="34" charset="-122"/>
                <a:cs typeface="Poppins" pitchFamily="34" charset="-120"/>
              </a:rPr>
              <a:t>HISTORY  /  YEAR 8</a:t>
            </a:r>
            <a:endParaRPr lang="en-US" sz="1300" dirty="0"/>
          </a:p>
        </p:txBody>
      </p:sp>
      <p:sp>
        <p:nvSpPr>
          <p:cNvPr id="7" name="Text 4"/>
          <p:cNvSpPr/>
          <p:nvPr/>
        </p:nvSpPr>
        <p:spPr>
          <a:xfrm>
            <a:off x="713232" y="1325880"/>
            <a:ext cx="5440680" cy="2926080"/>
          </a:xfrm>
          <a:prstGeom prst="rect">
            <a:avLst/>
          </a:prstGeom>
          <a:noFill/>
          <a:ln/>
        </p:spPr>
        <p:txBody>
          <a:bodyPr wrap="square" lIns="0" tIns="0" rIns="0" bIns="0" rtlCol="0" anchor="ctr">
            <a:normAutofit/>
          </a:bodyPr>
          <a:lstStyle/>
          <a:p>
            <a:pPr indent="0" marL="0">
              <a:buNone/>
            </a:pPr>
            <a:r>
              <a:rPr lang="en-US" sz="3900" b="1" dirty="0">
                <a:solidFill>
                  <a:srgbClr val="F7F5EF"/>
                </a:solidFill>
                <a:latin typeface="Poppins" pitchFamily="34" charset="0"/>
                <a:ea typeface="Poppins" pitchFamily="34" charset="-122"/>
                <a:cs typeface="Poppins" pitchFamily="34" charset="-120"/>
              </a:rPr>
              <a:t>The Industrial Revolution</a:t>
            </a:r>
            <a:endParaRPr lang="en-US" sz="3900" dirty="0"/>
          </a:p>
        </p:txBody>
      </p:sp>
      <p:sp>
        <p:nvSpPr>
          <p:cNvPr id="8" name="Shape 5"/>
          <p:cNvSpPr/>
          <p:nvPr/>
        </p:nvSpPr>
        <p:spPr>
          <a:xfrm>
            <a:off x="731520" y="4599432"/>
            <a:ext cx="2148840" cy="0"/>
          </a:xfrm>
          <a:prstGeom prst="line">
            <a:avLst/>
          </a:prstGeom>
          <a:noFill/>
          <a:ln w="12700">
            <a:solidFill>
              <a:srgbClr val="0F8B8D"/>
            </a:solidFill>
            <a:prstDash val="solid"/>
          </a:ln>
        </p:spPr>
      </p:sp>
      <p:sp>
        <p:nvSpPr>
          <p:cNvPr id="9" name="Text 6"/>
          <p:cNvSpPr/>
          <p:nvPr/>
        </p:nvSpPr>
        <p:spPr>
          <a:xfrm>
            <a:off x="731520" y="4828032"/>
            <a:ext cx="3474720" cy="365760"/>
          </a:xfrm>
          <a:prstGeom prst="rect">
            <a:avLst/>
          </a:prstGeom>
          <a:noFill/>
          <a:ln/>
        </p:spPr>
        <p:txBody>
          <a:bodyPr wrap="square" lIns="0" tIns="0" rIns="0" bIns="0" rtlCol="0" anchor="ctr">
            <a:normAutofit/>
          </a:bodyPr>
          <a:lstStyle/>
          <a:p>
            <a:pPr indent="0" marL="0">
              <a:buNone/>
            </a:pPr>
            <a:r>
              <a:rPr lang="en-US" sz="1200" b="1" spc="180" kern="0" dirty="0">
                <a:solidFill>
                  <a:srgbClr val="FFFFFF">
                    <a:alpha val="88000"/>
                  </a:srgbClr>
                </a:solidFill>
                <a:latin typeface="Poppins" pitchFamily="34" charset="0"/>
                <a:ea typeface="Poppins" pitchFamily="34" charset="-122"/>
                <a:cs typeface="Poppins" pitchFamily="34" charset="-120"/>
              </a:rPr>
              <a:t>LESSON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BEE9E8"/>
          </a:solidFill>
          <a:ln w="12700">
            <a:solidFill>
              <a:srgbClr val="333333">
                <a:alpha val="0"/>
              </a:srgbClr>
            </a:solidFill>
            <a:prstDash val="solid"/>
          </a:ln>
        </p:spPr>
      </p:sp>
      <p:sp>
        <p:nvSpPr>
          <p:cNvPr id="3" name="Text 1"/>
          <p:cNvSpPr/>
          <p:nvPr/>
        </p:nvSpPr>
        <p:spPr>
          <a:xfrm>
            <a:off x="713232" y="475488"/>
            <a:ext cx="3200400" cy="329184"/>
          </a:xfrm>
          <a:prstGeom prst="rect">
            <a:avLst/>
          </a:prstGeom>
          <a:noFill/>
          <a:ln/>
        </p:spPr>
        <p:txBody>
          <a:bodyPr wrap="square" lIns="0" tIns="0" rIns="0" bIns="0" rtlCol="0" anchor="ctr">
            <a:normAutofit/>
          </a:bodyPr>
          <a:lstStyle/>
          <a:p>
            <a:pPr indent="0" marL="0">
              <a:buNone/>
            </a:pPr>
            <a:r>
              <a:rPr lang="en-US" sz="1300" b="1" spc="190" kern="0" dirty="0">
                <a:solidFill>
                  <a:srgbClr val="BEE9E8"/>
                </a:solidFill>
                <a:latin typeface="Poppins" pitchFamily="34" charset="0"/>
                <a:ea typeface="Poppins" pitchFamily="34" charset="-122"/>
                <a:cs typeface="Poppins" pitchFamily="34" charset="-120"/>
              </a:rPr>
              <a:t>STARTER ACTIVITY</a:t>
            </a:r>
            <a:endParaRPr lang="en-US" sz="1300" dirty="0"/>
          </a:p>
        </p:txBody>
      </p:sp>
      <p:sp>
        <p:nvSpPr>
          <p:cNvPr id="4" name="Text 2"/>
          <p:cNvSpPr/>
          <p:nvPr/>
        </p:nvSpPr>
        <p:spPr>
          <a:xfrm>
            <a:off x="713232" y="950976"/>
            <a:ext cx="5212080" cy="384048"/>
          </a:xfrm>
          <a:prstGeom prst="rect">
            <a:avLst/>
          </a:prstGeom>
          <a:noFill/>
          <a:ln/>
        </p:spPr>
        <p:txBody>
          <a:bodyPr wrap="square" lIns="0" tIns="0" rIns="0" bIns="0" rtlCol="0" anchor="ctr">
            <a:normAutofit/>
          </a:bodyPr>
          <a:lstStyle/>
          <a:p>
            <a:pPr indent="0" marL="0">
              <a:buNone/>
            </a:pPr>
            <a:r>
              <a:rPr lang="en-US" sz="1300" b="1" spc="120" kern="0" dirty="0">
                <a:solidFill>
                  <a:srgbClr val="0F8B8D"/>
                </a:solidFill>
                <a:latin typeface="Poppins" pitchFamily="34" charset="0"/>
                <a:ea typeface="Poppins" pitchFamily="34" charset="-122"/>
                <a:cs typeface="Poppins" pitchFamily="34" charset="-120"/>
              </a:rPr>
              <a:t>OBSERVE  /  THINK  /  EXPLAIN</a:t>
            </a:r>
            <a:endParaRPr lang="en-US" sz="1300" dirty="0"/>
          </a:p>
        </p:txBody>
      </p:sp>
      <p:sp>
        <p:nvSpPr>
          <p:cNvPr id="5" name="Shape 3"/>
          <p:cNvSpPr/>
          <p:nvPr/>
        </p:nvSpPr>
        <p:spPr>
          <a:xfrm>
            <a:off x="6812280" y="1335024"/>
            <a:ext cx="4736592" cy="3822192"/>
          </a:xfrm>
          <a:prstGeom prst="roundRect">
            <a:avLst>
              <a:gd name="adj" fmla="val 2871"/>
            </a:avLst>
          </a:prstGeom>
          <a:solidFill>
            <a:srgbClr val="F2FEFB"/>
          </a:solidFill>
          <a:ln w="12700">
            <a:solidFill>
              <a:srgbClr val="CFF6ED"/>
            </a:solidFill>
            <a:prstDash val="solid"/>
          </a:ln>
          <a:effectLst>
            <a:outerShdw sx="100000" sy="100000" kx="0" ky="0" algn="bl" rotWithShape="0" blurRad="101600" dist="38100" dir="5400000">
              <a:srgbClr val="00846E">
                <a:alpha val="20000"/>
              </a:srgbClr>
            </a:outerShdw>
          </a:effectLst>
        </p:spPr>
      </p:sp>
      <p:pic>
        <p:nvPicPr>
          <p:cNvPr id="6" name="Image 0" descr="Starter activity prompt image">    </p:cNvPr>
          <p:cNvPicPr>
            <a:picLocks noChangeAspect="1"/>
          </p:cNvPicPr>
          <p:nvPr/>
        </p:nvPicPr>
        <p:blipFill>
          <a:blip r:embed="rId1"/>
          <a:stretch>
            <a:fillRect/>
          </a:stretch>
        </p:blipFill>
        <p:spPr>
          <a:xfrm>
            <a:off x="6903720" y="1727409"/>
            <a:ext cx="4553712" cy="3037423"/>
          </a:xfrm>
          <a:prstGeom prst="rect">
            <a:avLst/>
          </a:prstGeom>
          <a:effectLst>
            <a:outerShdw sx="100000" sy="100000" kx="0" ky="0" algn="bl" rotWithShape="0" blurRad="60960" dist="25400" dir="5400000">
              <a:srgbClr val="00846E">
                <a:alpha val="14000"/>
              </a:srgbClr>
            </a:outerShdw>
          </a:effectLst>
        </p:spPr>
      </p:pic>
      <p:sp>
        <p:nvSpPr>
          <p:cNvPr id="7" name="Text 4"/>
          <p:cNvSpPr/>
          <p:nvPr/>
        </p:nvSpPr>
        <p:spPr>
          <a:xfrm>
            <a:off x="713232" y="1572768"/>
            <a:ext cx="5413248" cy="4160520"/>
          </a:xfrm>
          <a:prstGeom prst="rect">
            <a:avLst/>
          </a:prstGeom>
          <a:noFill/>
          <a:ln/>
        </p:spPr>
        <p:txBody>
          <a:bodyPr wrap="square" lIns="0" tIns="0" rIns="0" bIns="0" rtlCol="0" anchor="t">
            <a:normAutofit/>
          </a:bodyPr>
          <a:lstStyle/>
          <a:p>
            <a:pPr indent="0" marL="0">
              <a:lnSpc>
                <a:spcPct val="108000"/>
              </a:lnSpc>
              <a:spcAft>
                <a:spcPts val="900"/>
              </a:spcAft>
              <a:buNone/>
            </a:pPr>
            <a:r>
              <a:rPr lang="en-US" sz="2300" dirty="0">
                <a:solidFill>
                  <a:srgbClr val="F7F5EF"/>
                </a:solidFill>
                <a:latin typeface="Arial" pitchFamily="34" charset="0"/>
                <a:ea typeface="Arial" pitchFamily="34" charset="-122"/>
                <a:cs typeface="Arial" pitchFamily="34" charset="-120"/>
              </a:rPr>
              <a:t>Picture prompt</a:t>
            </a:r>
            <a:endParaRPr lang="en-US" sz="2300" dirty="0"/>
          </a:p>
          <a:p>
            <a:pPr indent="0" marL="0">
              <a:lnSpc>
                <a:spcPct val="108000"/>
              </a:lnSpc>
              <a:spcAft>
                <a:spcPts val="900"/>
              </a:spcAft>
              <a:buNone/>
            </a:pPr>
            <a:endParaRPr lang="en-US" sz="2300" dirty="0"/>
          </a:p>
          <a:p>
            <a:pPr indent="0" marL="0">
              <a:lnSpc>
                <a:spcPct val="108000"/>
              </a:lnSpc>
              <a:spcAft>
                <a:spcPts val="900"/>
              </a:spcAft>
              <a:buNone/>
            </a:pPr>
            <a:r>
              <a:rPr lang="en-US" sz="2300" dirty="0">
                <a:solidFill>
                  <a:srgbClr val="F7F5EF"/>
                </a:solidFill>
                <a:latin typeface="Arial" pitchFamily="34" charset="0"/>
                <a:ea typeface="Arial" pitchFamily="34" charset="-122"/>
                <a:cs typeface="Arial" pitchFamily="34" charset="-120"/>
              </a:rPr>
              <a:t>Observe the machinery. What does it suggest about where and how goods were produced? Record two details as evidence, then discuss which change may have affected workers most.</a:t>
            </a:r>
            <a:endParaRPr lang="en-US" sz="2300" dirty="0"/>
          </a:p>
        </p:txBody>
      </p:sp>
      <p:sp>
        <p:nvSpPr>
          <p:cNvPr id="8" name="Shape 5"/>
          <p:cNvSpPr/>
          <p:nvPr/>
        </p:nvSpPr>
        <p:spPr>
          <a:xfrm>
            <a:off x="731520" y="6053328"/>
            <a:ext cx="5349240" cy="0"/>
          </a:xfrm>
          <a:prstGeom prst="line">
            <a:avLst/>
          </a:prstGeom>
          <a:noFill/>
          <a:ln w="12700">
            <a:solidFill>
              <a:srgbClr val="0F8B8D"/>
            </a:solidFill>
            <a:prstDash val="solid"/>
          </a:ln>
        </p:spPr>
      </p:sp>
      <p:sp>
        <p:nvSpPr>
          <p:cNvPr id="9" name="Shape 6"/>
          <p:cNvSpPr/>
          <p:nvPr/>
        </p:nvSpPr>
        <p:spPr>
          <a:xfrm>
            <a:off x="0" y="6492240"/>
            <a:ext cx="12191695" cy="365760"/>
          </a:xfrm>
          <a:prstGeom prst="rect">
            <a:avLst/>
          </a:prstGeom>
          <a:solidFill>
            <a:srgbClr val="F0FDFB"/>
          </a:solidFill>
          <a:ln w="12700">
            <a:solidFill>
              <a:srgbClr val="F0FDFB"/>
            </a:solidFill>
            <a:prstDash val="solid"/>
          </a:ln>
        </p:spPr>
      </p:sp>
      <p:sp>
        <p:nvSpPr>
          <p:cNvPr id="10" name="Shape 7"/>
          <p:cNvSpPr/>
          <p:nvPr/>
        </p:nvSpPr>
        <p:spPr>
          <a:xfrm>
            <a:off x="0" y="6492240"/>
            <a:ext cx="12191695" cy="0"/>
          </a:xfrm>
          <a:prstGeom prst="line">
            <a:avLst/>
          </a:prstGeom>
          <a:noFill/>
          <a:ln w="12700">
            <a:solidFill>
              <a:srgbClr val="A7F3E8"/>
            </a:solidFill>
            <a:prstDash val="solid"/>
          </a:ln>
        </p:spPr>
      </p:sp>
      <p:sp>
        <p:nvSpPr>
          <p:cNvPr id="11" name="Text 8"/>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12" name="Image 1" descr="Layah">    </p:cNvPr>
          <p:cNvPicPr>
            <a:picLocks noChangeAspect="1"/>
          </p:cNvPicPr>
          <p:nvPr/>
        </p:nvPicPr>
        <p:blipFill>
          <a:blip r:embed="rId2"/>
          <a:stretch>
            <a:fillRect/>
          </a:stretch>
        </p:blipFill>
        <p:spPr>
          <a:xfrm>
            <a:off x="5394960" y="6528816"/>
            <a:ext cx="1051560" cy="292608"/>
          </a:xfrm>
          <a:prstGeom prst="rect">
            <a:avLst/>
          </a:prstGeom>
        </p:spPr>
      </p:pic>
      <p:sp>
        <p:nvSpPr>
          <p:cNvPr id="13" name="Text 9"/>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13</a:t>
            </a:r>
            <a:endParaRPr lang="en-US" sz="1200" dirty="0"/>
          </a:p>
        </p:txBody>
      </p:sp>
      <p:sp>
        <p:nvSpPr>
          <p:cNvPr id="14" name="Shape 10"/>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5" name="Shape 11"/>
          <p:cNvSpPr/>
          <p:nvPr/>
        </p:nvSpPr>
        <p:spPr>
          <a:xfrm>
            <a:off x="274320" y="6510528"/>
            <a:ext cx="1791239"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68685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Subject foundations</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Industrial Revolution</a:t>
            </a:r>
            <a:endParaRPr lang="en-US" sz="1600" dirty="0"/>
          </a:p>
        </p:txBody>
      </p:sp>
      <p:sp>
        <p:nvSpPr>
          <p:cNvPr id="15" name="Text 12"/>
          <p:cNvSpPr/>
          <p:nvPr/>
        </p:nvSpPr>
        <p:spPr>
          <a:xfrm>
            <a:off x="713232" y="3858768"/>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4 - Quality Education: learning to reason with evidence supports informed decisions and further study.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Objectives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4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58247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485147"/>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417824"/>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two causes of industrialisation and evaluate how factory work changed urban life.</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47809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51816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450846"/>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identify the key knowledge in The Industrial Revolution.</a:t>
            </a:r>
            <a:endParaRPr lang="en-US" sz="2600" dirty="0"/>
          </a:p>
        </p:txBody>
      </p:sp>
      <p:sp>
        <p:nvSpPr>
          <p:cNvPr id="13" name="Shape 10"/>
          <p:cNvSpPr/>
          <p:nvPr/>
        </p:nvSpPr>
        <p:spPr>
          <a:xfrm>
            <a:off x="914400" y="3547618"/>
            <a:ext cx="10515600" cy="0"/>
          </a:xfrm>
          <a:prstGeom prst="line">
            <a:avLst/>
          </a:prstGeom>
          <a:noFill/>
          <a:ln w="12700">
            <a:solidFill>
              <a:srgbClr val="CFF6ED"/>
            </a:solidFill>
            <a:prstDash val="solid"/>
          </a:ln>
        </p:spPr>
      </p:sp>
      <p:sp>
        <p:nvSpPr>
          <p:cNvPr id="14" name="Shape 11"/>
          <p:cNvSpPr/>
          <p:nvPr/>
        </p:nvSpPr>
        <p:spPr>
          <a:xfrm>
            <a:off x="941832" y="3866401"/>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799078"/>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explain a relationship using evidence.</a:t>
            </a:r>
            <a:endParaRPr lang="en-US" sz="2600" dirty="0"/>
          </a:p>
        </p:txBody>
      </p:sp>
      <p:sp>
        <p:nvSpPr>
          <p:cNvPr id="16" name="Shape 13"/>
          <p:cNvSpPr/>
          <p:nvPr/>
        </p:nvSpPr>
        <p:spPr>
          <a:xfrm>
            <a:off x="914400" y="4514596"/>
            <a:ext cx="10515600" cy="0"/>
          </a:xfrm>
          <a:prstGeom prst="line">
            <a:avLst/>
          </a:prstGeom>
          <a:noFill/>
          <a:ln w="12700">
            <a:solidFill>
              <a:srgbClr val="CFF6ED"/>
            </a:solidFill>
            <a:prstDash val="solid"/>
          </a:ln>
        </p:spPr>
      </p:sp>
      <p:sp>
        <p:nvSpPr>
          <p:cNvPr id="17" name="Shape 14"/>
          <p:cNvSpPr/>
          <p:nvPr/>
        </p:nvSpPr>
        <p:spPr>
          <a:xfrm>
            <a:off x="941832" y="4833379"/>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766056"/>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apply the method to an unfamiliar example.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3737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Coal supplied concentrated energy and inventions increased textile production.</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Factories brought workers and machines into one workplace, while canals and railways moved materials and goods.</a:t>
            </a:r>
            <a:endParaRPr lang="en-US" sz="1600" dirty="0"/>
          </a:p>
        </p:txBody>
      </p:sp>
      <p:sp>
        <p:nvSpPr>
          <p:cNvPr id="15" name="Text 12"/>
          <p:cNvSpPr/>
          <p:nvPr/>
        </p:nvSpPr>
        <p:spPr>
          <a:xfrm>
            <a:off x="713232" y="4068064"/>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Rapid migration expanded towns faster than housing and sanitation.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693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Higher Achievers task: Evaluate an unfamiliar The Industrial Revolution example and justify your conclusion.</a:t>
            </a:r>
            <a:endParaRPr lang="en-US" sz="2200" dirty="0"/>
          </a:p>
        </p:txBody>
      </p:sp>
      <p:sp>
        <p:nvSpPr>
          <p:cNvPr id="14" name="Shape 11"/>
          <p:cNvSpPr/>
          <p:nvPr/>
        </p:nvSpPr>
        <p:spPr>
          <a:xfrm>
            <a:off x="749808" y="2763520"/>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763520"/>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745232"/>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Middle Achievers task: Apply the taught method and show evidence for each step.</a:t>
            </a:r>
            <a:endParaRPr lang="en-US" sz="2200" dirty="0"/>
          </a:p>
        </p:txBody>
      </p:sp>
      <p:sp>
        <p:nvSpPr>
          <p:cNvPr id="17" name="Shape 14"/>
          <p:cNvSpPr/>
          <p:nvPr/>
        </p:nvSpPr>
        <p:spPr>
          <a:xfrm>
            <a:off x="749808" y="3935984"/>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93598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91769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Lower Achievers task: Complete the scaffolded example using the supplied prompts.</a:t>
            </a:r>
            <a:endParaRPr lang="en-US" sz="2200" dirty="0"/>
          </a:p>
        </p:txBody>
      </p:sp>
      <p:sp>
        <p:nvSpPr>
          <p:cNvPr id="20" name="Shape 17"/>
          <p:cNvSpPr/>
          <p:nvPr/>
        </p:nvSpPr>
        <p:spPr>
          <a:xfrm>
            <a:off x="749808" y="5108448"/>
            <a:ext cx="377190" cy="377190"/>
          </a:xfrm>
          <a:prstGeom prst="ellipse">
            <a:avLst/>
          </a:prstGeom>
          <a:solidFill>
            <a:srgbClr val="087866"/>
          </a:solidFill>
          <a:ln w="12700">
            <a:solidFill>
              <a:srgbClr val="087866"/>
            </a:solidFill>
            <a:prstDash val="solid"/>
          </a:ln>
        </p:spPr>
      </p:sp>
      <p:sp>
        <p:nvSpPr>
          <p:cNvPr id="21" name="Text 18"/>
          <p:cNvSpPr/>
          <p:nvPr/>
        </p:nvSpPr>
        <p:spPr>
          <a:xfrm>
            <a:off x="749808" y="510844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19"/>
          <p:cNvSpPr/>
          <p:nvPr/>
        </p:nvSpPr>
        <p:spPr>
          <a:xfrm>
            <a:off x="1273302" y="5090160"/>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Mini Plenary: Explain the most important idea to a partner.</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16495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Cross-curricular connection</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Use precise written reasoning to explain The Industrial Revolution. Identify the evidence, connect it to your conclusion, and check that another reader can follow the reasoning.</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060577"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877824" y="1572768"/>
            <a:ext cx="10515600" cy="384048"/>
          </a:xfrm>
          <a:prstGeom prst="rect">
            <a:avLst/>
          </a:prstGeom>
          <a:noFill/>
          <a:ln/>
        </p:spPr>
        <p:txBody>
          <a:bodyPr wrap="square" lIns="0" tIns="0" rIns="0" bIns="0" rtlCol="0" anchor="t"/>
          <a:lstStyle/>
          <a:p>
            <a:pPr algn="l" indent="0" marL="0">
              <a:lnSpc>
                <a:spcPct val="116000"/>
              </a:lnSpc>
              <a:buNone/>
            </a:pPr>
            <a:r>
              <a:rPr lang="en-US" sz="1800" b="1" dirty="0">
                <a:solidFill>
                  <a:srgbClr val="111827"/>
                </a:solidFill>
                <a:latin typeface="Calibri" pitchFamily="34" charset="0"/>
                <a:ea typeface="Calibri" pitchFamily="34" charset="-122"/>
                <a:cs typeface="Calibri" pitchFamily="34" charset="-120"/>
              </a:rPr>
              <a:t>Evidence check</a:t>
            </a:r>
            <a:endParaRPr lang="en-US" sz="1800" dirty="0"/>
          </a:p>
        </p:txBody>
      </p:sp>
      <p:sp>
        <p:nvSpPr>
          <p:cNvPr id="12" name="Shape 9"/>
          <p:cNvSpPr/>
          <p:nvPr/>
        </p:nvSpPr>
        <p:spPr>
          <a:xfrm>
            <a:off x="877824" y="2352040"/>
            <a:ext cx="457200" cy="457200"/>
          </a:xfrm>
          <a:prstGeom prst="ellipse">
            <a:avLst/>
          </a:prstGeom>
          <a:solidFill>
            <a:srgbClr val="087866"/>
          </a:solidFill>
          <a:ln w="12700">
            <a:solidFill>
              <a:srgbClr val="087866"/>
            </a:solidFill>
            <a:prstDash val="solid"/>
          </a:ln>
        </p:spPr>
      </p:sp>
      <p:sp>
        <p:nvSpPr>
          <p:cNvPr id="13" name="Text 10"/>
          <p:cNvSpPr/>
          <p:nvPr/>
        </p:nvSpPr>
        <p:spPr>
          <a:xfrm>
            <a:off x="877824" y="23520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4" name="Text 11"/>
          <p:cNvSpPr/>
          <p:nvPr/>
        </p:nvSpPr>
        <p:spPr>
          <a:xfrm>
            <a:off x="1481328" y="2333752"/>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Write one claim about The Industrial Revolution.</a:t>
            </a:r>
            <a:endParaRPr lang="en-US" sz="2800" dirty="0"/>
          </a:p>
        </p:txBody>
      </p:sp>
      <p:sp>
        <p:nvSpPr>
          <p:cNvPr id="15" name="Shape 12"/>
          <p:cNvSpPr/>
          <p:nvPr/>
        </p:nvSpPr>
        <p:spPr>
          <a:xfrm>
            <a:off x="877824" y="3220720"/>
            <a:ext cx="10515600" cy="0"/>
          </a:xfrm>
          <a:prstGeom prst="line">
            <a:avLst/>
          </a:prstGeom>
          <a:noFill/>
          <a:ln w="12700">
            <a:solidFill>
              <a:srgbClr val="CFF6ED"/>
            </a:solidFill>
            <a:prstDash val="solid"/>
          </a:ln>
        </p:spPr>
      </p:sp>
      <p:sp>
        <p:nvSpPr>
          <p:cNvPr id="16" name="Shape 13"/>
          <p:cNvSpPr/>
          <p:nvPr/>
        </p:nvSpPr>
        <p:spPr>
          <a:xfrm>
            <a:off x="877824" y="3650488"/>
            <a:ext cx="457200" cy="457200"/>
          </a:xfrm>
          <a:prstGeom prst="ellipse">
            <a:avLst/>
          </a:prstGeom>
          <a:solidFill>
            <a:srgbClr val="087866"/>
          </a:solidFill>
          <a:ln w="12700">
            <a:solidFill>
              <a:srgbClr val="087866"/>
            </a:solidFill>
            <a:prstDash val="solid"/>
          </a:ln>
        </p:spPr>
      </p:sp>
      <p:sp>
        <p:nvSpPr>
          <p:cNvPr id="17" name="Text 14"/>
          <p:cNvSpPr/>
          <p:nvPr/>
        </p:nvSpPr>
        <p:spPr>
          <a:xfrm>
            <a:off x="877824" y="365048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8" name="Text 15"/>
          <p:cNvSpPr/>
          <p:nvPr/>
        </p:nvSpPr>
        <p:spPr>
          <a:xfrm>
            <a:off x="1481328" y="3632200"/>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Add evidence from today's example.</a:t>
            </a:r>
            <a:endParaRPr lang="en-US" sz="2800" dirty="0"/>
          </a:p>
        </p:txBody>
      </p:sp>
      <p:sp>
        <p:nvSpPr>
          <p:cNvPr id="19" name="Shape 16"/>
          <p:cNvSpPr/>
          <p:nvPr/>
        </p:nvSpPr>
        <p:spPr>
          <a:xfrm>
            <a:off x="877824" y="4519168"/>
            <a:ext cx="10515600" cy="0"/>
          </a:xfrm>
          <a:prstGeom prst="line">
            <a:avLst/>
          </a:prstGeom>
          <a:noFill/>
          <a:ln w="12700">
            <a:solidFill>
              <a:srgbClr val="CFF6ED"/>
            </a:solidFill>
            <a:prstDash val="solid"/>
          </a:ln>
        </p:spPr>
      </p:sp>
      <p:sp>
        <p:nvSpPr>
          <p:cNvPr id="20" name="Shape 17"/>
          <p:cNvSpPr/>
          <p:nvPr/>
        </p:nvSpPr>
        <p:spPr>
          <a:xfrm>
            <a:off x="877824" y="4948936"/>
            <a:ext cx="457200" cy="457200"/>
          </a:xfrm>
          <a:prstGeom prst="ellipse">
            <a:avLst/>
          </a:prstGeom>
          <a:solidFill>
            <a:srgbClr val="087866"/>
          </a:solidFill>
          <a:ln w="12700">
            <a:solidFill>
              <a:srgbClr val="087866"/>
            </a:solidFill>
            <a:prstDash val="solid"/>
          </a:ln>
        </p:spPr>
      </p:sp>
      <p:sp>
        <p:nvSpPr>
          <p:cNvPr id="21" name="Text 18"/>
          <p:cNvSpPr/>
          <p:nvPr/>
        </p:nvSpPr>
        <p:spPr>
          <a:xfrm>
            <a:off x="877824" y="49489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2" name="Text 19"/>
          <p:cNvSpPr/>
          <p:nvPr/>
        </p:nvSpPr>
        <p:spPr>
          <a:xfrm>
            <a:off x="1481328" y="4930648"/>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Exchange responses and identify one missing reasoning step.</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95619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Independent investigation</a:t>
            </a:r>
            <a:endParaRPr lang="en-US" sz="1500" dirty="0"/>
          </a:p>
        </p:txBody>
      </p:sp>
      <p:sp>
        <p:nvSpPr>
          <p:cNvPr id="12" name="Shape 9"/>
          <p:cNvSpPr/>
          <p:nvPr/>
        </p:nvSpPr>
        <p:spPr>
          <a:xfrm>
            <a:off x="749808" y="1865376"/>
            <a:ext cx="377190" cy="377190"/>
          </a:xfrm>
          <a:prstGeom prst="ellipse">
            <a:avLst/>
          </a:prstGeom>
          <a:solidFill>
            <a:srgbClr val="087866"/>
          </a:solidFill>
          <a:ln w="12700">
            <a:solidFill>
              <a:srgbClr val="087866"/>
            </a:solidFill>
            <a:prstDash val="solid"/>
          </a:ln>
        </p:spPr>
      </p:sp>
      <p:sp>
        <p:nvSpPr>
          <p:cNvPr id="13" name="Text 10"/>
          <p:cNvSpPr/>
          <p:nvPr/>
        </p:nvSpPr>
        <p:spPr>
          <a:xfrm>
            <a:off x="749808" y="18653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1"/>
          <p:cNvSpPr/>
          <p:nvPr/>
        </p:nvSpPr>
        <p:spPr>
          <a:xfrm>
            <a:off x="1273302" y="184708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Choose one unfamiliar The Industrial Revolution example.</a:t>
            </a:r>
            <a:endParaRPr lang="en-US" sz="2200" dirty="0"/>
          </a:p>
        </p:txBody>
      </p:sp>
      <p:sp>
        <p:nvSpPr>
          <p:cNvPr id="15" name="Shape 12"/>
          <p:cNvSpPr/>
          <p:nvPr/>
        </p:nvSpPr>
        <p:spPr>
          <a:xfrm>
            <a:off x="749808" y="2718054"/>
            <a:ext cx="377190" cy="377190"/>
          </a:xfrm>
          <a:prstGeom prst="ellipse">
            <a:avLst/>
          </a:prstGeom>
          <a:solidFill>
            <a:srgbClr val="087866"/>
          </a:solidFill>
          <a:ln w="12700">
            <a:solidFill>
              <a:srgbClr val="087866"/>
            </a:solidFill>
            <a:prstDash val="solid"/>
          </a:ln>
        </p:spPr>
      </p:sp>
      <p:sp>
        <p:nvSpPr>
          <p:cNvPr id="16" name="Text 13"/>
          <p:cNvSpPr/>
          <p:nvPr/>
        </p:nvSpPr>
        <p:spPr>
          <a:xfrm>
            <a:off x="749808" y="271805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273302" y="269976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Apply today's method and record every step.</a:t>
            </a:r>
            <a:endParaRPr lang="en-US" sz="2200" dirty="0"/>
          </a:p>
        </p:txBody>
      </p:sp>
      <p:sp>
        <p:nvSpPr>
          <p:cNvPr id="18" name="Shape 15"/>
          <p:cNvSpPr/>
          <p:nvPr/>
        </p:nvSpPr>
        <p:spPr>
          <a:xfrm>
            <a:off x="749808" y="3570732"/>
            <a:ext cx="377190" cy="377190"/>
          </a:xfrm>
          <a:prstGeom prst="ellipse">
            <a:avLst/>
          </a:prstGeom>
          <a:solidFill>
            <a:srgbClr val="087866"/>
          </a:solidFill>
          <a:ln w="12700">
            <a:solidFill>
              <a:srgbClr val="087866"/>
            </a:solidFill>
            <a:prstDash val="solid"/>
          </a:ln>
        </p:spPr>
      </p:sp>
      <p:sp>
        <p:nvSpPr>
          <p:cNvPr id="19" name="Text 16"/>
          <p:cNvSpPr/>
          <p:nvPr/>
        </p:nvSpPr>
        <p:spPr>
          <a:xfrm>
            <a:off x="749808" y="357073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p:nvPr/>
        </p:nvSpPr>
        <p:spPr>
          <a:xfrm>
            <a:off x="1273302" y="3552444"/>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Explain the result in 120 words.</a:t>
            </a:r>
            <a:endParaRPr lang="en-US" sz="2200" dirty="0"/>
          </a:p>
        </p:txBody>
      </p:sp>
      <p:sp>
        <p:nvSpPr>
          <p:cNvPr id="21" name="Shape 18"/>
          <p:cNvSpPr/>
          <p:nvPr/>
        </p:nvSpPr>
        <p:spPr>
          <a:xfrm>
            <a:off x="749808" y="4423410"/>
            <a:ext cx="377190" cy="377190"/>
          </a:xfrm>
          <a:prstGeom prst="ellipse">
            <a:avLst/>
          </a:prstGeom>
          <a:solidFill>
            <a:srgbClr val="087866"/>
          </a:solidFill>
          <a:ln w="12700">
            <a:solidFill>
              <a:srgbClr val="087866"/>
            </a:solidFill>
            <a:prstDash val="solid"/>
          </a:ln>
        </p:spPr>
      </p:sp>
      <p:sp>
        <p:nvSpPr>
          <p:cNvPr id="22" name="Text 19"/>
          <p:cNvSpPr/>
          <p:nvPr/>
        </p:nvSpPr>
        <p:spPr>
          <a:xfrm>
            <a:off x="749808" y="4423410"/>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p:nvPr/>
        </p:nvSpPr>
        <p:spPr>
          <a:xfrm>
            <a:off x="1273302" y="4405122"/>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Bring the completed response to the next lesson.</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851816"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327542"/>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260219"/>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Identify one energy source that supported industrialisation.</a:t>
            </a:r>
            <a:endParaRPr lang="en-US" sz="2600" dirty="0"/>
          </a:p>
        </p:txBody>
      </p:sp>
      <p:sp>
        <p:nvSpPr>
          <p:cNvPr id="13" name="Shape 10"/>
          <p:cNvSpPr/>
          <p:nvPr/>
        </p:nvSpPr>
        <p:spPr>
          <a:xfrm>
            <a:off x="914400" y="3356991"/>
            <a:ext cx="10515600" cy="0"/>
          </a:xfrm>
          <a:prstGeom prst="line">
            <a:avLst/>
          </a:prstGeom>
          <a:noFill/>
          <a:ln w="12700">
            <a:solidFill>
              <a:srgbClr val="CFF6ED"/>
            </a:solidFill>
            <a:prstDash val="solid"/>
          </a:ln>
        </p:spPr>
      </p:sp>
      <p:sp>
        <p:nvSpPr>
          <p:cNvPr id="14" name="Shape 11"/>
          <p:cNvSpPr/>
          <p:nvPr/>
        </p:nvSpPr>
        <p:spPr>
          <a:xfrm>
            <a:off x="941832" y="3675774"/>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608451"/>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how factories changed where people worked.</a:t>
            </a:r>
            <a:endParaRPr lang="en-US" sz="2600" dirty="0"/>
          </a:p>
        </p:txBody>
      </p:sp>
      <p:sp>
        <p:nvSpPr>
          <p:cNvPr id="16" name="Shape 13"/>
          <p:cNvSpPr/>
          <p:nvPr/>
        </p:nvSpPr>
        <p:spPr>
          <a:xfrm>
            <a:off x="914400" y="4323969"/>
            <a:ext cx="10515600" cy="0"/>
          </a:xfrm>
          <a:prstGeom prst="line">
            <a:avLst/>
          </a:prstGeom>
          <a:noFill/>
          <a:ln w="12700">
            <a:solidFill>
              <a:srgbClr val="CFF6ED"/>
            </a:solidFill>
            <a:prstDash val="solid"/>
          </a:ln>
        </p:spPr>
      </p:sp>
      <p:sp>
        <p:nvSpPr>
          <p:cNvPr id="17" name="Shape 14"/>
          <p:cNvSpPr/>
          <p:nvPr/>
        </p:nvSpPr>
        <p:spPr>
          <a:xfrm>
            <a:off x="941832" y="4642752"/>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575429"/>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Which factor best explains rapid urban growth? Support your judgement with evidence.</a:t>
            </a:r>
            <a:endParaRPr lang="en-US" sz="2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747436"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034680"/>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1967357"/>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identify the key information in The Industrial Revolution.</a:t>
            </a:r>
            <a:endParaRPr lang="en-US" sz="2600" dirty="0"/>
          </a:p>
        </p:txBody>
      </p:sp>
      <p:sp>
        <p:nvSpPr>
          <p:cNvPr id="13" name="Shape 10"/>
          <p:cNvSpPr/>
          <p:nvPr/>
        </p:nvSpPr>
        <p:spPr>
          <a:xfrm>
            <a:off x="914400" y="3064129"/>
            <a:ext cx="10515600" cy="0"/>
          </a:xfrm>
          <a:prstGeom prst="line">
            <a:avLst/>
          </a:prstGeom>
          <a:noFill/>
          <a:ln w="12700">
            <a:solidFill>
              <a:srgbClr val="CFF6ED"/>
            </a:solidFill>
            <a:prstDash val="solid"/>
          </a:ln>
        </p:spPr>
      </p:sp>
      <p:sp>
        <p:nvSpPr>
          <p:cNvPr id="14" name="Shape 11"/>
          <p:cNvSpPr/>
          <p:nvPr/>
        </p:nvSpPr>
        <p:spPr>
          <a:xfrm>
            <a:off x="941832" y="3382912"/>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315589"/>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explain the method using evidence.</a:t>
            </a:r>
            <a:endParaRPr lang="en-US" sz="2600" dirty="0"/>
          </a:p>
        </p:txBody>
      </p:sp>
      <p:sp>
        <p:nvSpPr>
          <p:cNvPr id="16" name="Shape 13"/>
          <p:cNvSpPr/>
          <p:nvPr/>
        </p:nvSpPr>
        <p:spPr>
          <a:xfrm>
            <a:off x="914400" y="4031107"/>
            <a:ext cx="10515600" cy="0"/>
          </a:xfrm>
          <a:prstGeom prst="line">
            <a:avLst/>
          </a:prstGeom>
          <a:noFill/>
          <a:ln w="12700">
            <a:solidFill>
              <a:srgbClr val="CFF6ED"/>
            </a:solidFill>
            <a:prstDash val="solid"/>
          </a:ln>
        </p:spPr>
      </p:sp>
      <p:sp>
        <p:nvSpPr>
          <p:cNvPr id="17" name="Shape 14"/>
          <p:cNvSpPr/>
          <p:nvPr/>
        </p:nvSpPr>
        <p:spPr>
          <a:xfrm>
            <a:off x="941832" y="4349890"/>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282567"/>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apply the method to an unfamiliar example.</a:t>
            </a:r>
            <a:endParaRPr lang="en-US" sz="2600" dirty="0"/>
          </a:p>
        </p:txBody>
      </p:sp>
      <p:sp>
        <p:nvSpPr>
          <p:cNvPr id="19" name="Shape 16"/>
          <p:cNvSpPr/>
          <p:nvPr/>
        </p:nvSpPr>
        <p:spPr>
          <a:xfrm>
            <a:off x="914400" y="4998085"/>
            <a:ext cx="10515600" cy="0"/>
          </a:xfrm>
          <a:prstGeom prst="line">
            <a:avLst/>
          </a:prstGeom>
          <a:noFill/>
          <a:ln w="12700">
            <a:solidFill>
              <a:srgbClr val="CFF6ED"/>
            </a:solidFill>
            <a:prstDash val="solid"/>
          </a:ln>
        </p:spPr>
      </p:sp>
      <p:sp>
        <p:nvSpPr>
          <p:cNvPr id="20" name="Shape 17"/>
          <p:cNvSpPr/>
          <p:nvPr/>
        </p:nvSpPr>
        <p:spPr>
          <a:xfrm>
            <a:off x="941832" y="5316868"/>
            <a:ext cx="347701" cy="347701"/>
          </a:xfrm>
          <a:prstGeom prst="rect">
            <a:avLst/>
          </a:prstGeom>
          <a:solidFill>
            <a:srgbClr val="FFFFFF">
              <a:alpha val="0"/>
            </a:srgbClr>
          </a:solidFill>
          <a:ln w="12700">
            <a:solidFill>
              <a:srgbClr val="087866"/>
            </a:solidFill>
            <a:prstDash val="solid"/>
          </a:ln>
        </p:spPr>
      </p:sp>
      <p:sp>
        <p:nvSpPr>
          <p:cNvPr id="21" name="Text 18"/>
          <p:cNvSpPr/>
          <p:nvPr/>
        </p:nvSpPr>
        <p:spPr>
          <a:xfrm>
            <a:off x="1506474" y="524954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justify and check my conclusion.</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887728"/>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88772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869440"/>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Key takeaway</a:t>
            </a:r>
            <a:endParaRPr lang="en-US" sz="2800" dirty="0"/>
          </a:p>
        </p:txBody>
      </p:sp>
      <p:sp>
        <p:nvSpPr>
          <p:cNvPr id="14" name="Shape 11"/>
          <p:cNvSpPr/>
          <p:nvPr/>
        </p:nvSpPr>
        <p:spPr>
          <a:xfrm>
            <a:off x="877824" y="2756408"/>
            <a:ext cx="10515600" cy="0"/>
          </a:xfrm>
          <a:prstGeom prst="line">
            <a:avLst/>
          </a:prstGeom>
          <a:noFill/>
          <a:ln w="12700">
            <a:solidFill>
              <a:srgbClr val="CFF6ED"/>
            </a:solidFill>
            <a:prstDash val="solid"/>
          </a:ln>
        </p:spPr>
      </p:sp>
      <p:sp>
        <p:nvSpPr>
          <p:cNvPr id="15" name="Shape 12"/>
          <p:cNvSpPr/>
          <p:nvPr/>
        </p:nvSpPr>
        <p:spPr>
          <a:xfrm>
            <a:off x="877824" y="3186176"/>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318617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3167888"/>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Explain two causes of industrialisation and evaluate how factory work changed urban life.</a:t>
            </a:r>
            <a:endParaRPr lang="en-US" sz="2800" dirty="0"/>
          </a:p>
        </p:txBody>
      </p:sp>
      <p:sp>
        <p:nvSpPr>
          <p:cNvPr id="18" name="Shape 15"/>
          <p:cNvSpPr/>
          <p:nvPr/>
        </p:nvSpPr>
        <p:spPr>
          <a:xfrm>
            <a:off x="877824" y="4489704"/>
            <a:ext cx="10515600" cy="0"/>
          </a:xfrm>
          <a:prstGeom prst="line">
            <a:avLst/>
          </a:prstGeom>
          <a:noFill/>
          <a:ln w="12700">
            <a:solidFill>
              <a:srgbClr val="CFF6ED"/>
            </a:solidFill>
            <a:prstDash val="solid"/>
          </a:ln>
        </p:spPr>
      </p:sp>
      <p:sp>
        <p:nvSpPr>
          <p:cNvPr id="19" name="Shape 16"/>
          <p:cNvSpPr/>
          <p:nvPr/>
        </p:nvSpPr>
        <p:spPr>
          <a:xfrm>
            <a:off x="877824" y="4919472"/>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491947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4901184"/>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Before you leave, cite one piece of evidence that demonstrates your progress.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Industrial Revolution</dc:title>
  <dc:subject>History — The Industrial Revolution</dc:subject>
  <dc:creator>Layah.ai</dc:creator>
  <cp:lastModifiedBy>Layah.ai</cp:lastModifiedBy>
  <cp:revision>1</cp:revision>
  <dcterms:created xsi:type="dcterms:W3CDTF">2026-10-21T10:40:57Z</dcterms:created>
  <dcterms:modified xsi:type="dcterms:W3CDTF">2026-10-21T10:40:57Z</dcterms:modified>
</cp:coreProperties>
</file>