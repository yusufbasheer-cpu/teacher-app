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Incomplete starter content for "The Water Cycle". Regenerate this lesson to create a topic-specific student question and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Incomplete SDG connection for "The Water Cycle". Regenerate this lesson to identify and explain a relevant Sustainable Development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Incomplete learning outcomes for "The Water Cycle". Regenerate this lesson to create measurable, objective-aligned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Incomplete core teaching for "The Water Cycle". Regenerate this lesson before presenting or downloading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exit ticket for "The Water Cycle". Regenerate this lesson to create two or three assessment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success criteria for "The Water Cycle". Regenerate this lesson to create measurable criteria and self-evaluation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Shape 3"/>
          <p:cNvSpPr/>
          <p:nvPr/>
        </p:nvSpPr>
        <p:spPr>
          <a:xfrm>
            <a:off x="7406640" y="1609344"/>
            <a:ext cx="4114800" cy="4251960"/>
          </a:xfrm>
          <a:prstGeom prst="roundRect">
            <a:avLst>
              <a:gd name="adj" fmla="val 2667"/>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6" name="Image 0" descr="Lesson illustration">    </p:cNvPr>
          <p:cNvPicPr>
            <a:picLocks noChangeAspect="1"/>
          </p:cNvPicPr>
          <p:nvPr/>
        </p:nvPicPr>
        <p:blipFill>
          <a:blip r:embed="rId1"/>
          <a:stretch>
            <a:fillRect/>
          </a:stretch>
        </p:blipFill>
        <p:spPr>
          <a:xfrm>
            <a:off x="7498080" y="2543199"/>
            <a:ext cx="3931920" cy="2384249"/>
          </a:xfrm>
          <a:prstGeom prst="rect">
            <a:avLst/>
          </a:prstGeom>
          <a:effectLst>
            <a:outerShdw sx="100000" sy="100000" kx="0" ky="0" algn="bl" rotWithShape="0" blurRad="60960" dist="25400" dir="5400000">
              <a:srgbClr val="00846E">
                <a:alpha val="14000"/>
              </a:srgbClr>
            </a:outerShdw>
          </a:effectLst>
        </p:spPr>
      </p:pic>
      <p:sp>
        <p:nvSpPr>
          <p:cNvPr id="7" name="Shape 4"/>
          <p:cNvSpPr/>
          <p:nvPr/>
        </p:nvSpPr>
        <p:spPr>
          <a:xfrm>
            <a:off x="0" y="6492240"/>
            <a:ext cx="12191695" cy="365760"/>
          </a:xfrm>
          <a:prstGeom prst="rect">
            <a:avLst/>
          </a:prstGeom>
          <a:solidFill>
            <a:srgbClr val="F0FDFB"/>
          </a:solidFill>
          <a:ln w="12700">
            <a:solidFill>
              <a:srgbClr val="F0FDFB"/>
            </a:solidFill>
            <a:prstDash val="solid"/>
          </a:ln>
        </p:spPr>
      </p:sp>
      <p:sp>
        <p:nvSpPr>
          <p:cNvPr id="8" name="Shape 5"/>
          <p:cNvSpPr/>
          <p:nvPr/>
        </p:nvSpPr>
        <p:spPr>
          <a:xfrm>
            <a:off x="0" y="6492240"/>
            <a:ext cx="12191695" cy="0"/>
          </a:xfrm>
          <a:prstGeom prst="line">
            <a:avLst/>
          </a:prstGeom>
          <a:noFill/>
          <a:ln w="12700">
            <a:solidFill>
              <a:srgbClr val="A7F3E8"/>
            </a:solidFill>
            <a:prstDash val="solid"/>
          </a:ln>
        </p:spPr>
      </p:sp>
      <p:sp>
        <p:nvSpPr>
          <p:cNvPr id="9"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10" name="Image 1" descr="Layah">    </p:cNvPr>
          <p:cNvPicPr>
            <a:picLocks noChangeAspect="1"/>
          </p:cNvPicPr>
          <p:nvPr/>
        </p:nvPicPr>
        <p:blipFill>
          <a:blip r:embed="rId2"/>
          <a:stretch>
            <a:fillRect/>
          </a:stretch>
        </p:blipFill>
        <p:spPr>
          <a:xfrm>
            <a:off x="5394960" y="6528816"/>
            <a:ext cx="1051560" cy="292608"/>
          </a:xfrm>
          <a:prstGeom prst="rect">
            <a:avLst/>
          </a:prstGeom>
        </p:spPr>
      </p:pic>
      <p:sp>
        <p:nvSpPr>
          <p:cNvPr id="11"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13</a:t>
            </a:r>
            <a:endParaRPr lang="en-US" sz="1200" dirty="0"/>
          </a:p>
        </p:txBody>
      </p:sp>
      <p:sp>
        <p:nvSpPr>
          <p:cNvPr id="12"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3" name="Shape 9"/>
          <p:cNvSpPr/>
          <p:nvPr/>
        </p:nvSpPr>
        <p:spPr>
          <a:xfrm>
            <a:off x="274320" y="6510528"/>
            <a:ext cx="895620"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79123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62887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Picture prompt</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6288786" cy="1788160"/>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Observe the water, clouds and sunlight. Where might the water move next? Write one prediction using evaporation or condensation, then compare it with a partner and improve your explanation.</a:t>
            </a:r>
            <a:endParaRPr lang="en-US" sz="2200" dirty="0"/>
          </a:p>
        </p:txBody>
      </p:sp>
      <p:sp>
        <p:nvSpPr>
          <p:cNvPr id="17" name="Shape 14"/>
          <p:cNvSpPr/>
          <p:nvPr/>
        </p:nvSpPr>
        <p:spPr>
          <a:xfrm>
            <a:off x="7818120" y="1572768"/>
            <a:ext cx="0" cy="4443984"/>
          </a:xfrm>
          <a:prstGeom prst="line">
            <a:avLst/>
          </a:prstGeom>
          <a:noFill/>
          <a:ln w="12700">
            <a:solidFill>
              <a:srgbClr val="CFF6ED"/>
            </a:solidFill>
            <a:prstDash val="solid"/>
          </a:ln>
        </p:spPr>
      </p:sp>
      <p:sp>
        <p:nvSpPr>
          <p:cNvPr id="18" name="Shape 15"/>
          <p:cNvSpPr/>
          <p:nvPr/>
        </p:nvSpPr>
        <p:spPr>
          <a:xfrm>
            <a:off x="8065008" y="1572768"/>
            <a:ext cx="3383280" cy="4443984"/>
          </a:xfrm>
          <a:prstGeom prst="roundRect">
            <a:avLst>
              <a:gd name="adj" fmla="val 3243"/>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19" name="Image 1" descr="Activity illustration">    </p:cNvPr>
          <p:cNvPicPr>
            <a:picLocks noChangeAspect="1"/>
          </p:cNvPicPr>
          <p:nvPr/>
        </p:nvPicPr>
        <p:blipFill>
          <a:blip r:embed="rId2"/>
          <a:stretch>
            <a:fillRect/>
          </a:stretch>
        </p:blipFill>
        <p:spPr>
          <a:xfrm>
            <a:off x="8156448" y="2727393"/>
            <a:ext cx="3200400" cy="2134735"/>
          </a:xfrm>
          <a:prstGeom prst="rect">
            <a:avLst/>
          </a:prstGeom>
          <a:effectLst>
            <a:outerShdw sx="100000" sy="100000" kx="0" ky="0" algn="bl" rotWithShape="0" blurRad="60960" dist="25400" dir="5400000">
              <a:srgbClr val="00846E">
                <a:alpha val="14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68685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Subject foundations</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4 - Quality Education: learning to reason with evidence supports informed decisions and further study.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58247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47809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708796"/>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641473"/>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identify the key knowledge in The Water Cycle.</a:t>
            </a:r>
            <a:endParaRPr lang="en-US" sz="2600" dirty="0"/>
          </a:p>
        </p:txBody>
      </p:sp>
      <p:sp>
        <p:nvSpPr>
          <p:cNvPr id="13" name="Shape 10"/>
          <p:cNvSpPr/>
          <p:nvPr/>
        </p:nvSpPr>
        <p:spPr>
          <a:xfrm>
            <a:off x="914400" y="3356991"/>
            <a:ext cx="10515600" cy="0"/>
          </a:xfrm>
          <a:prstGeom prst="line">
            <a:avLst/>
          </a:prstGeom>
          <a:noFill/>
          <a:ln w="12700">
            <a:solidFill>
              <a:srgbClr val="CFF6ED"/>
            </a:solidFill>
            <a:prstDash val="solid"/>
          </a:ln>
        </p:spPr>
      </p:sp>
      <p:sp>
        <p:nvSpPr>
          <p:cNvPr id="14" name="Shape 11"/>
          <p:cNvSpPr/>
          <p:nvPr/>
        </p:nvSpPr>
        <p:spPr>
          <a:xfrm>
            <a:off x="941832" y="3675774"/>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608451"/>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explain a relationship using evidence.</a:t>
            </a:r>
            <a:endParaRPr lang="en-US" sz="2600" dirty="0"/>
          </a:p>
        </p:txBody>
      </p:sp>
      <p:sp>
        <p:nvSpPr>
          <p:cNvPr id="16" name="Shape 13"/>
          <p:cNvSpPr/>
          <p:nvPr/>
        </p:nvSpPr>
        <p:spPr>
          <a:xfrm>
            <a:off x="914400" y="4323969"/>
            <a:ext cx="10515600" cy="0"/>
          </a:xfrm>
          <a:prstGeom prst="line">
            <a:avLst/>
          </a:prstGeom>
          <a:noFill/>
          <a:ln w="12700">
            <a:solidFill>
              <a:srgbClr val="CFF6ED"/>
            </a:solidFill>
            <a:prstDash val="solid"/>
          </a:ln>
        </p:spPr>
      </p:sp>
      <p:sp>
        <p:nvSpPr>
          <p:cNvPr id="17" name="Shape 14"/>
          <p:cNvSpPr/>
          <p:nvPr/>
        </p:nvSpPr>
        <p:spPr>
          <a:xfrm>
            <a:off x="941832" y="4642752"/>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575429"/>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apply the method to an unfamiliar example.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3737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Evaporation happens when energy gives surface-water particles enough energy to escape as water vapour.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Condensation happens when water vapour cools, loses energy and forms liquid droplets.</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Droplets grow and fall as precipitation; water then collects before the cycle repeats.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693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Higher Achievers task: Evaluate an unfamiliar The Water Cycle example and justify your conclusion.</a:t>
            </a:r>
            <a:endParaRPr lang="en-US" sz="2200" dirty="0"/>
          </a:p>
        </p:txBody>
      </p:sp>
      <p:sp>
        <p:nvSpPr>
          <p:cNvPr id="14" name="Shape 11"/>
          <p:cNvSpPr/>
          <p:nvPr/>
        </p:nvSpPr>
        <p:spPr>
          <a:xfrm>
            <a:off x="749808" y="2763520"/>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76352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745232"/>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Middle Achievers task: Apply the taught method and show evidence for each step.</a:t>
            </a:r>
            <a:endParaRPr lang="en-US" sz="2200" dirty="0"/>
          </a:p>
        </p:txBody>
      </p:sp>
      <p:sp>
        <p:nvSpPr>
          <p:cNvPr id="17" name="Shape 14"/>
          <p:cNvSpPr/>
          <p:nvPr/>
        </p:nvSpPr>
        <p:spPr>
          <a:xfrm>
            <a:off x="749808" y="3935984"/>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93598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91769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Lower Achievers task: Complete the scaffolded example using the supplied prompts.</a:t>
            </a:r>
            <a:endParaRPr lang="en-US" sz="2200" dirty="0"/>
          </a:p>
        </p:txBody>
      </p:sp>
      <p:sp>
        <p:nvSpPr>
          <p:cNvPr id="20" name="Shape 17"/>
          <p:cNvSpPr/>
          <p:nvPr/>
        </p:nvSpPr>
        <p:spPr>
          <a:xfrm>
            <a:off x="749808" y="5108448"/>
            <a:ext cx="377190" cy="377190"/>
          </a:xfrm>
          <a:prstGeom prst="ellipse">
            <a:avLst/>
          </a:prstGeom>
          <a:solidFill>
            <a:srgbClr val="087866"/>
          </a:solidFill>
          <a:ln w="12700">
            <a:solidFill>
              <a:srgbClr val="087866"/>
            </a:solidFill>
            <a:prstDash val="solid"/>
          </a:ln>
        </p:spPr>
      </p:sp>
      <p:sp>
        <p:nvSpPr>
          <p:cNvPr id="21" name="Text 18"/>
          <p:cNvSpPr/>
          <p:nvPr/>
        </p:nvSpPr>
        <p:spPr>
          <a:xfrm>
            <a:off x="749808" y="510844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19"/>
          <p:cNvSpPr/>
          <p:nvPr/>
        </p:nvSpPr>
        <p:spPr>
          <a:xfrm>
            <a:off x="1273302" y="5090160"/>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Mini Plenary: Explain the most important idea to a partner.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16495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Cross-curricular connection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Use precise written reasoning to explain The Water Cycle. Identify the evidence, connect it to your conclusion, and check that another reader can follow the reasoning.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060577"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877824" y="1572768"/>
            <a:ext cx="10515600" cy="384048"/>
          </a:xfrm>
          <a:prstGeom prst="rect">
            <a:avLst/>
          </a:prstGeom>
          <a:noFill/>
          <a:ln/>
        </p:spPr>
        <p:txBody>
          <a:bodyPr wrap="square" lIns="0" tIns="0" rIns="0" bIns="0" rtlCol="0" anchor="t"/>
          <a:lstStyle/>
          <a:p>
            <a:pPr algn="l" indent="0" marL="0">
              <a:lnSpc>
                <a:spcPct val="116000"/>
              </a:lnSpc>
              <a:buNone/>
            </a:pPr>
            <a:r>
              <a:rPr lang="en-US" sz="1800" b="1" dirty="0">
                <a:solidFill>
                  <a:srgbClr val="111827"/>
                </a:solidFill>
                <a:latin typeface="Calibri" pitchFamily="34" charset="0"/>
                <a:ea typeface="Calibri" pitchFamily="34" charset="-122"/>
                <a:cs typeface="Calibri" pitchFamily="34" charset="-120"/>
              </a:rPr>
              <a:t>Evidence check</a:t>
            </a:r>
            <a:endParaRPr lang="en-US" sz="1800" dirty="0"/>
          </a:p>
        </p:txBody>
      </p:sp>
      <p:sp>
        <p:nvSpPr>
          <p:cNvPr id="12" name="Shape 9"/>
          <p:cNvSpPr/>
          <p:nvPr/>
        </p:nvSpPr>
        <p:spPr>
          <a:xfrm>
            <a:off x="877824" y="2352040"/>
            <a:ext cx="457200" cy="457200"/>
          </a:xfrm>
          <a:prstGeom prst="ellipse">
            <a:avLst/>
          </a:prstGeom>
          <a:solidFill>
            <a:srgbClr val="087866"/>
          </a:solidFill>
          <a:ln w="12700">
            <a:solidFill>
              <a:srgbClr val="087866"/>
            </a:solidFill>
            <a:prstDash val="solid"/>
          </a:ln>
        </p:spPr>
      </p:sp>
      <p:sp>
        <p:nvSpPr>
          <p:cNvPr id="13" name="Text 10"/>
          <p:cNvSpPr/>
          <p:nvPr/>
        </p:nvSpPr>
        <p:spPr>
          <a:xfrm>
            <a:off x="877824" y="23520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4" name="Text 11"/>
          <p:cNvSpPr/>
          <p:nvPr/>
        </p:nvSpPr>
        <p:spPr>
          <a:xfrm>
            <a:off x="1481328" y="2333752"/>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Write one claim about The Water Cycle.</a:t>
            </a:r>
            <a:endParaRPr lang="en-US" sz="2800" dirty="0"/>
          </a:p>
        </p:txBody>
      </p:sp>
      <p:sp>
        <p:nvSpPr>
          <p:cNvPr id="15" name="Shape 12"/>
          <p:cNvSpPr/>
          <p:nvPr/>
        </p:nvSpPr>
        <p:spPr>
          <a:xfrm>
            <a:off x="877824" y="3220720"/>
            <a:ext cx="10515600" cy="0"/>
          </a:xfrm>
          <a:prstGeom prst="line">
            <a:avLst/>
          </a:prstGeom>
          <a:noFill/>
          <a:ln w="12700">
            <a:solidFill>
              <a:srgbClr val="CFF6ED"/>
            </a:solidFill>
            <a:prstDash val="solid"/>
          </a:ln>
        </p:spPr>
      </p:sp>
      <p:sp>
        <p:nvSpPr>
          <p:cNvPr id="16" name="Shape 13"/>
          <p:cNvSpPr/>
          <p:nvPr/>
        </p:nvSpPr>
        <p:spPr>
          <a:xfrm>
            <a:off x="877824" y="3650488"/>
            <a:ext cx="457200" cy="457200"/>
          </a:xfrm>
          <a:prstGeom prst="ellipse">
            <a:avLst/>
          </a:prstGeom>
          <a:solidFill>
            <a:srgbClr val="087866"/>
          </a:solidFill>
          <a:ln w="12700">
            <a:solidFill>
              <a:srgbClr val="087866"/>
            </a:solidFill>
            <a:prstDash val="solid"/>
          </a:ln>
        </p:spPr>
      </p:sp>
      <p:sp>
        <p:nvSpPr>
          <p:cNvPr id="17" name="Text 14"/>
          <p:cNvSpPr/>
          <p:nvPr/>
        </p:nvSpPr>
        <p:spPr>
          <a:xfrm>
            <a:off x="877824" y="36504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8" name="Text 15"/>
          <p:cNvSpPr/>
          <p:nvPr/>
        </p:nvSpPr>
        <p:spPr>
          <a:xfrm>
            <a:off x="1481328" y="363220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Add evidence from today's example.</a:t>
            </a:r>
            <a:endParaRPr lang="en-US" sz="2800" dirty="0"/>
          </a:p>
        </p:txBody>
      </p:sp>
      <p:sp>
        <p:nvSpPr>
          <p:cNvPr id="19" name="Shape 16"/>
          <p:cNvSpPr/>
          <p:nvPr/>
        </p:nvSpPr>
        <p:spPr>
          <a:xfrm>
            <a:off x="877824" y="4519168"/>
            <a:ext cx="10515600" cy="0"/>
          </a:xfrm>
          <a:prstGeom prst="line">
            <a:avLst/>
          </a:prstGeom>
          <a:noFill/>
          <a:ln w="12700">
            <a:solidFill>
              <a:srgbClr val="CFF6ED"/>
            </a:solidFill>
            <a:prstDash val="solid"/>
          </a:ln>
        </p:spPr>
      </p:sp>
      <p:sp>
        <p:nvSpPr>
          <p:cNvPr id="20" name="Shape 17"/>
          <p:cNvSpPr/>
          <p:nvPr/>
        </p:nvSpPr>
        <p:spPr>
          <a:xfrm>
            <a:off x="877824" y="4948936"/>
            <a:ext cx="457200" cy="457200"/>
          </a:xfrm>
          <a:prstGeom prst="ellipse">
            <a:avLst/>
          </a:prstGeom>
          <a:solidFill>
            <a:srgbClr val="087866"/>
          </a:solidFill>
          <a:ln w="12700">
            <a:solidFill>
              <a:srgbClr val="087866"/>
            </a:solidFill>
            <a:prstDash val="solid"/>
          </a:ln>
        </p:spPr>
      </p:sp>
      <p:sp>
        <p:nvSpPr>
          <p:cNvPr id="21" name="Text 18"/>
          <p:cNvSpPr/>
          <p:nvPr/>
        </p:nvSpPr>
        <p:spPr>
          <a:xfrm>
            <a:off x="877824" y="49489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2" name="Text 19"/>
          <p:cNvSpPr/>
          <p:nvPr/>
        </p:nvSpPr>
        <p:spPr>
          <a:xfrm>
            <a:off x="1481328" y="493064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Exchange responses and identify one missing reasoning step.</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95619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Independent investigation</a:t>
            </a:r>
            <a:endParaRPr lang="en-US" sz="1500" dirty="0"/>
          </a:p>
        </p:txBody>
      </p:sp>
      <p:sp>
        <p:nvSpPr>
          <p:cNvPr id="12" name="Shape 9"/>
          <p:cNvSpPr/>
          <p:nvPr/>
        </p:nvSpPr>
        <p:spPr>
          <a:xfrm>
            <a:off x="749808" y="1865376"/>
            <a:ext cx="377190" cy="377190"/>
          </a:xfrm>
          <a:prstGeom prst="ellipse">
            <a:avLst/>
          </a:prstGeom>
          <a:solidFill>
            <a:srgbClr val="087866"/>
          </a:solidFill>
          <a:ln w="12700">
            <a:solidFill>
              <a:srgbClr val="087866"/>
            </a:solidFill>
            <a:prstDash val="solid"/>
          </a:ln>
        </p:spPr>
      </p:sp>
      <p:sp>
        <p:nvSpPr>
          <p:cNvPr id="13" name="Text 10"/>
          <p:cNvSpPr/>
          <p:nvPr/>
        </p:nvSpPr>
        <p:spPr>
          <a:xfrm>
            <a:off x="749808" y="18653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273302" y="184708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Choose one unfamiliar The Water Cycle example.</a:t>
            </a:r>
            <a:endParaRPr lang="en-US" sz="2200" dirty="0"/>
          </a:p>
        </p:txBody>
      </p:sp>
      <p:sp>
        <p:nvSpPr>
          <p:cNvPr id="15" name="Shape 12"/>
          <p:cNvSpPr/>
          <p:nvPr/>
        </p:nvSpPr>
        <p:spPr>
          <a:xfrm>
            <a:off x="749808" y="2718054"/>
            <a:ext cx="377190" cy="377190"/>
          </a:xfrm>
          <a:prstGeom prst="ellipse">
            <a:avLst/>
          </a:prstGeom>
          <a:solidFill>
            <a:srgbClr val="087866"/>
          </a:solidFill>
          <a:ln w="12700">
            <a:solidFill>
              <a:srgbClr val="087866"/>
            </a:solidFill>
            <a:prstDash val="solid"/>
          </a:ln>
        </p:spPr>
      </p:sp>
      <p:sp>
        <p:nvSpPr>
          <p:cNvPr id="16" name="Text 13"/>
          <p:cNvSpPr/>
          <p:nvPr/>
        </p:nvSpPr>
        <p:spPr>
          <a:xfrm>
            <a:off x="749808" y="271805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273302" y="269976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Apply today's method and record every step.</a:t>
            </a:r>
            <a:endParaRPr lang="en-US" sz="2200" dirty="0"/>
          </a:p>
        </p:txBody>
      </p:sp>
      <p:sp>
        <p:nvSpPr>
          <p:cNvPr id="18" name="Shape 15"/>
          <p:cNvSpPr/>
          <p:nvPr/>
        </p:nvSpPr>
        <p:spPr>
          <a:xfrm>
            <a:off x="749808" y="3570732"/>
            <a:ext cx="377190" cy="377190"/>
          </a:xfrm>
          <a:prstGeom prst="ellipse">
            <a:avLst/>
          </a:prstGeom>
          <a:solidFill>
            <a:srgbClr val="087866"/>
          </a:solidFill>
          <a:ln w="12700">
            <a:solidFill>
              <a:srgbClr val="087866"/>
            </a:solidFill>
            <a:prstDash val="solid"/>
          </a:ln>
        </p:spPr>
      </p:sp>
      <p:sp>
        <p:nvSpPr>
          <p:cNvPr id="19" name="Text 16"/>
          <p:cNvSpPr/>
          <p:nvPr/>
        </p:nvSpPr>
        <p:spPr>
          <a:xfrm>
            <a:off x="749808" y="357073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1273302" y="3552444"/>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Explain the result in 120 words.</a:t>
            </a:r>
            <a:endParaRPr lang="en-US" sz="2200" dirty="0"/>
          </a:p>
        </p:txBody>
      </p:sp>
      <p:sp>
        <p:nvSpPr>
          <p:cNvPr id="21" name="Shape 18"/>
          <p:cNvSpPr/>
          <p:nvPr/>
        </p:nvSpPr>
        <p:spPr>
          <a:xfrm>
            <a:off x="749808" y="4423410"/>
            <a:ext cx="377190" cy="377190"/>
          </a:xfrm>
          <a:prstGeom prst="ellipse">
            <a:avLst/>
          </a:prstGeom>
          <a:solidFill>
            <a:srgbClr val="087866"/>
          </a:solidFill>
          <a:ln w="12700">
            <a:solidFill>
              <a:srgbClr val="087866"/>
            </a:solidFill>
            <a:prstDash val="solid"/>
          </a:ln>
        </p:spPr>
      </p:sp>
      <p:sp>
        <p:nvSpPr>
          <p:cNvPr id="22" name="Text 19"/>
          <p:cNvSpPr/>
          <p:nvPr/>
        </p:nvSpPr>
        <p:spPr>
          <a:xfrm>
            <a:off x="749808" y="442341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273302" y="4405122"/>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Bring the completed response to the next lesson.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85181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136915"/>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069592"/>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What change of state turns liquid water into water vapour?</a:t>
            </a:r>
            <a:endParaRPr lang="en-US" sz="2600" dirty="0"/>
          </a:p>
        </p:txBody>
      </p:sp>
      <p:sp>
        <p:nvSpPr>
          <p:cNvPr id="13" name="Shape 10"/>
          <p:cNvSpPr/>
          <p:nvPr/>
        </p:nvSpPr>
        <p:spPr>
          <a:xfrm>
            <a:off x="914400" y="3166364"/>
            <a:ext cx="10515600" cy="0"/>
          </a:xfrm>
          <a:prstGeom prst="line">
            <a:avLst/>
          </a:prstGeom>
          <a:noFill/>
          <a:ln w="12700">
            <a:solidFill>
              <a:srgbClr val="CFF6ED"/>
            </a:solidFill>
            <a:prstDash val="solid"/>
          </a:ln>
        </p:spPr>
      </p:sp>
      <p:sp>
        <p:nvSpPr>
          <p:cNvPr id="14" name="Shape 11"/>
          <p:cNvSpPr/>
          <p:nvPr/>
        </p:nvSpPr>
        <p:spPr>
          <a:xfrm>
            <a:off x="941832" y="3485147"/>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417824"/>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why droplets form on a cold surface using particle movement.</a:t>
            </a:r>
            <a:endParaRPr lang="en-US" sz="2600" dirty="0"/>
          </a:p>
        </p:txBody>
      </p:sp>
      <p:sp>
        <p:nvSpPr>
          <p:cNvPr id="16" name="Shape 13"/>
          <p:cNvSpPr/>
          <p:nvPr/>
        </p:nvSpPr>
        <p:spPr>
          <a:xfrm>
            <a:off x="914400" y="4514596"/>
            <a:ext cx="10515600" cy="0"/>
          </a:xfrm>
          <a:prstGeom prst="line">
            <a:avLst/>
          </a:prstGeom>
          <a:noFill/>
          <a:ln w="12700">
            <a:solidFill>
              <a:srgbClr val="CFF6ED"/>
            </a:solidFill>
            <a:prstDash val="solid"/>
          </a:ln>
        </p:spPr>
      </p:sp>
      <p:sp>
        <p:nvSpPr>
          <p:cNvPr id="17" name="Shape 14"/>
          <p:cNvSpPr/>
          <p:nvPr/>
        </p:nvSpPr>
        <p:spPr>
          <a:xfrm>
            <a:off x="941832" y="4833379"/>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766056"/>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Predict how stronger solar heating may affect evaporation and justify your answer.</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74743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225307"/>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157984"/>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identify the key information in The Water Cycle.</a:t>
            </a:r>
            <a:endParaRPr lang="en-US" sz="2600" dirty="0"/>
          </a:p>
        </p:txBody>
      </p:sp>
      <p:sp>
        <p:nvSpPr>
          <p:cNvPr id="13" name="Shape 10"/>
          <p:cNvSpPr/>
          <p:nvPr/>
        </p:nvSpPr>
        <p:spPr>
          <a:xfrm>
            <a:off x="914400" y="2873502"/>
            <a:ext cx="10515600" cy="0"/>
          </a:xfrm>
          <a:prstGeom prst="line">
            <a:avLst/>
          </a:prstGeom>
          <a:noFill/>
          <a:ln w="12700">
            <a:solidFill>
              <a:srgbClr val="CFF6ED"/>
            </a:solidFill>
            <a:prstDash val="solid"/>
          </a:ln>
        </p:spPr>
      </p:sp>
      <p:sp>
        <p:nvSpPr>
          <p:cNvPr id="14" name="Shape 11"/>
          <p:cNvSpPr/>
          <p:nvPr/>
        </p:nvSpPr>
        <p:spPr>
          <a:xfrm>
            <a:off x="941832" y="3192285"/>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124962"/>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explain the method using evidence.</a:t>
            </a:r>
            <a:endParaRPr lang="en-US" sz="2600" dirty="0"/>
          </a:p>
        </p:txBody>
      </p:sp>
      <p:sp>
        <p:nvSpPr>
          <p:cNvPr id="16" name="Shape 13"/>
          <p:cNvSpPr/>
          <p:nvPr/>
        </p:nvSpPr>
        <p:spPr>
          <a:xfrm>
            <a:off x="914400" y="3840480"/>
            <a:ext cx="10515600" cy="0"/>
          </a:xfrm>
          <a:prstGeom prst="line">
            <a:avLst/>
          </a:prstGeom>
          <a:noFill/>
          <a:ln w="12700">
            <a:solidFill>
              <a:srgbClr val="CFF6ED"/>
            </a:solidFill>
            <a:prstDash val="solid"/>
          </a:ln>
        </p:spPr>
      </p:sp>
      <p:sp>
        <p:nvSpPr>
          <p:cNvPr id="17" name="Shape 14"/>
          <p:cNvSpPr/>
          <p:nvPr/>
        </p:nvSpPr>
        <p:spPr>
          <a:xfrm>
            <a:off x="941832" y="4159263"/>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091940"/>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apply the method to an unfamiliar example.</a:t>
            </a:r>
            <a:endParaRPr lang="en-US" sz="2600" dirty="0"/>
          </a:p>
        </p:txBody>
      </p:sp>
      <p:sp>
        <p:nvSpPr>
          <p:cNvPr id="19" name="Shape 16"/>
          <p:cNvSpPr/>
          <p:nvPr/>
        </p:nvSpPr>
        <p:spPr>
          <a:xfrm>
            <a:off x="914400" y="4807458"/>
            <a:ext cx="10515600" cy="0"/>
          </a:xfrm>
          <a:prstGeom prst="line">
            <a:avLst/>
          </a:prstGeom>
          <a:noFill/>
          <a:ln w="12700">
            <a:solidFill>
              <a:srgbClr val="CFF6ED"/>
            </a:solidFill>
            <a:prstDash val="solid"/>
          </a:ln>
        </p:spPr>
      </p:sp>
      <p:sp>
        <p:nvSpPr>
          <p:cNvPr id="20" name="Shape 17"/>
          <p:cNvSpPr/>
          <p:nvPr/>
        </p:nvSpPr>
        <p:spPr>
          <a:xfrm>
            <a:off x="941832" y="5126241"/>
            <a:ext cx="347701" cy="347701"/>
          </a:xfrm>
          <a:prstGeom prst="rect">
            <a:avLst/>
          </a:prstGeom>
          <a:solidFill>
            <a:srgbClr val="FFFFFF">
              <a:alpha val="0"/>
            </a:srgbClr>
          </a:solidFill>
          <a:ln w="12700">
            <a:solidFill>
              <a:srgbClr val="087866"/>
            </a:solidFill>
            <a:prstDash val="solid"/>
          </a:ln>
        </p:spPr>
      </p:sp>
      <p:sp>
        <p:nvSpPr>
          <p:cNvPr id="21" name="Text 18"/>
          <p:cNvSpPr/>
          <p:nvPr/>
        </p:nvSpPr>
        <p:spPr>
          <a:xfrm>
            <a:off x="1506474" y="5058918"/>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justify and check my conclusion.</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Key takeaway</a:t>
            </a:r>
            <a:endParaRPr lang="en-US" sz="2800" dirty="0"/>
          </a:p>
        </p:txBody>
      </p:sp>
      <p:sp>
        <p:nvSpPr>
          <p:cNvPr id="14" name="Shape 11"/>
          <p:cNvSpPr/>
          <p:nvPr/>
        </p:nvSpPr>
        <p:spPr>
          <a:xfrm>
            <a:off x="877824" y="2540000"/>
            <a:ext cx="10515600" cy="0"/>
          </a:xfrm>
          <a:prstGeom prst="line">
            <a:avLst/>
          </a:prstGeom>
          <a:noFill/>
          <a:ln w="12700">
            <a:solidFill>
              <a:srgbClr val="CFF6ED"/>
            </a:solidFill>
            <a:prstDash val="solid"/>
          </a:ln>
        </p:spPr>
      </p:sp>
      <p:sp>
        <p:nvSpPr>
          <p:cNvPr id="15" name="Shape 12"/>
          <p:cNvSpPr/>
          <p:nvPr/>
        </p:nvSpPr>
        <p:spPr>
          <a:xfrm>
            <a:off x="877824" y="2958592"/>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95859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940304"/>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800" dirty="0"/>
          </a:p>
        </p:txBody>
      </p:sp>
      <p:sp>
        <p:nvSpPr>
          <p:cNvPr id="18" name="Shape 15"/>
          <p:cNvSpPr/>
          <p:nvPr/>
        </p:nvSpPr>
        <p:spPr>
          <a:xfrm>
            <a:off x="877824" y="4706112"/>
            <a:ext cx="10515600" cy="0"/>
          </a:xfrm>
          <a:prstGeom prst="line">
            <a:avLst/>
          </a:prstGeom>
          <a:noFill/>
          <a:ln w="12700">
            <a:solidFill>
              <a:srgbClr val="CFF6ED"/>
            </a:solidFill>
            <a:prstDash val="solid"/>
          </a:ln>
        </p:spPr>
      </p:sp>
      <p:sp>
        <p:nvSpPr>
          <p:cNvPr id="19" name="Shape 16"/>
          <p:cNvSpPr/>
          <p:nvPr/>
        </p:nvSpPr>
        <p:spPr>
          <a:xfrm>
            <a:off x="877824" y="5124704"/>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51247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5106416"/>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Before you leave, cite one piece of evidence that demonstrates your progress.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2026-10-21T10:40:53Z</dcterms:created>
  <dcterms:modified xsi:type="dcterms:W3CDTF">2026-10-21T10:40:53Z</dcterms:modified>
</cp:coreProperties>
</file>